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 id="2147483726" r:id="rId7"/>
    <p:sldMasterId id="2147483739" r:id="rId8"/>
  </p:sldMasterIdLst>
  <p:notesMasterIdLst>
    <p:notesMasterId r:id="rId35"/>
  </p:notesMasterIdLst>
  <p:sldIdLst>
    <p:sldId id="257"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8" r:id="rId23"/>
    <p:sldId id="278" r:id="rId24"/>
    <p:sldId id="279" r:id="rId25"/>
    <p:sldId id="280" r:id="rId26"/>
    <p:sldId id="281" r:id="rId27"/>
    <p:sldId id="282" r:id="rId28"/>
    <p:sldId id="283" r:id="rId29"/>
    <p:sldId id="284" r:id="rId30"/>
    <p:sldId id="285" r:id="rId31"/>
    <p:sldId id="286" r:id="rId32"/>
    <p:sldId id="287" r:id="rId33"/>
    <p:sldId id="264" r:id="rId34"/>
  </p:sldIdLst>
  <p:sldSz cx="12192000" cy="6858000"/>
  <p:notesSz cx="7559675" cy="10691813"/>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p:restoredTop sz="96271"/>
  </p:normalViewPr>
  <p:slideViewPr>
    <p:cSldViewPr snapToGrid="0">
      <p:cViewPr varScale="1">
        <p:scale>
          <a:sx n="154" d="100"/>
          <a:sy n="154" d="100"/>
        </p:scale>
        <p:origin x="496" y="200"/>
      </p:cViewPr>
      <p:guideLst/>
    </p:cSldViewPr>
  </p:slideViewPr>
  <p:outlineViewPr>
    <p:cViewPr>
      <p:scale>
        <a:sx n="33" d="100"/>
        <a:sy n="33" d="100"/>
      </p:scale>
      <p:origin x="0" y="0"/>
    </p:cViewPr>
  </p:outlineViewPr>
  <p:notesTextViewPr>
    <p:cViewPr>
      <p:scale>
        <a:sx n="140" d="100"/>
        <a:sy n="14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ableStyles" Target="tableStyles.xml"/><Relationship Id="rId21" Type="http://schemas.openxmlformats.org/officeDocument/2006/relationships/slide" Target="slides/slide13.xml"/><Relationship Id="rId34" Type="http://schemas.openxmlformats.org/officeDocument/2006/relationships/slide" Target="slides/slide26.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notesMaster" Target="notesMasters/notesMaster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8245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Bài </a:t>
            </a:r>
            <a:r>
              <a:rPr dirty="0" err="1"/>
              <a:t>của</a:t>
            </a:r>
            <a:r>
              <a:rPr dirty="0"/>
              <a:t> </a:t>
            </a:r>
            <a:r>
              <a:rPr dirty="0" err="1"/>
              <a:t>em</a:t>
            </a:r>
            <a:r>
              <a:rPr dirty="0"/>
              <a:t> </a:t>
            </a:r>
            <a:r>
              <a:rPr dirty="0" err="1"/>
              <a:t>gồm</a:t>
            </a:r>
            <a:r>
              <a:rPr dirty="0"/>
              <a:t> </a:t>
            </a:r>
            <a:r>
              <a:rPr dirty="0" err="1"/>
              <a:t>sáu</a:t>
            </a:r>
            <a:r>
              <a:rPr dirty="0"/>
              <a:t> </a:t>
            </a:r>
            <a:r>
              <a:rPr dirty="0" err="1"/>
              <a:t>phần</a:t>
            </a:r>
            <a:r>
              <a:rPr dirty="0"/>
              <a:t>. </a:t>
            </a:r>
            <a:r>
              <a:rPr dirty="0" err="1"/>
              <a:t>Đầu</a:t>
            </a:r>
            <a:r>
              <a:rPr dirty="0"/>
              <a:t> </a:t>
            </a:r>
            <a:r>
              <a:rPr dirty="0" err="1"/>
              <a:t>tiên</a:t>
            </a:r>
            <a:r>
              <a:rPr dirty="0"/>
              <a:t> </a:t>
            </a:r>
            <a:r>
              <a:rPr dirty="0" err="1"/>
              <a:t>là</a:t>
            </a:r>
            <a:r>
              <a:rPr dirty="0"/>
              <a:t> </a:t>
            </a:r>
            <a:r>
              <a:rPr dirty="0" err="1"/>
              <a:t>vấn</a:t>
            </a:r>
            <a:r>
              <a:rPr dirty="0"/>
              <a:t> </a:t>
            </a:r>
            <a:r>
              <a:rPr dirty="0" err="1"/>
              <a:t>đề</a:t>
            </a:r>
            <a:r>
              <a:rPr dirty="0"/>
              <a:t> </a:t>
            </a:r>
            <a:r>
              <a:rPr dirty="0" err="1"/>
              <a:t>và</a:t>
            </a:r>
            <a:r>
              <a:rPr dirty="0"/>
              <a:t> </a:t>
            </a:r>
            <a:r>
              <a:rPr dirty="0" err="1"/>
              <a:t>lý</a:t>
            </a:r>
            <a:r>
              <a:rPr dirty="0"/>
              <a:t> do </a:t>
            </a:r>
            <a:r>
              <a:rPr dirty="0" err="1"/>
              <a:t>em</a:t>
            </a:r>
            <a:r>
              <a:rPr dirty="0"/>
              <a:t> </a:t>
            </a:r>
            <a:r>
              <a:rPr dirty="0" err="1"/>
              <a:t>chọn</a:t>
            </a:r>
            <a:r>
              <a:rPr dirty="0"/>
              <a:t> </a:t>
            </a:r>
            <a:r>
              <a:rPr dirty="0" err="1"/>
              <a:t>đề</a:t>
            </a:r>
            <a:r>
              <a:rPr dirty="0"/>
              <a:t> </a:t>
            </a:r>
            <a:r>
              <a:rPr dirty="0" err="1"/>
              <a:t>tài</a:t>
            </a:r>
            <a:r>
              <a:rPr dirty="0"/>
              <a:t>. </a:t>
            </a:r>
            <a:r>
              <a:rPr dirty="0" err="1"/>
              <a:t>Thứ</a:t>
            </a:r>
            <a:r>
              <a:rPr dirty="0"/>
              <a:t> </a:t>
            </a:r>
            <a:r>
              <a:rPr dirty="0" err="1"/>
              <a:t>hai</a:t>
            </a:r>
            <a:r>
              <a:rPr dirty="0"/>
              <a:t> </a:t>
            </a:r>
            <a:r>
              <a:rPr dirty="0" err="1"/>
              <a:t>là</a:t>
            </a:r>
            <a:r>
              <a:rPr dirty="0"/>
              <a:t> </a:t>
            </a:r>
            <a:r>
              <a:rPr dirty="0" err="1"/>
              <a:t>dữ</a:t>
            </a:r>
            <a:r>
              <a:rPr dirty="0"/>
              <a:t> </a:t>
            </a:r>
            <a:r>
              <a:rPr dirty="0" err="1"/>
              <a:t>liệu</a:t>
            </a:r>
            <a:r>
              <a:rPr dirty="0"/>
              <a:t>. </a:t>
            </a:r>
            <a:r>
              <a:rPr dirty="0" err="1"/>
              <a:t>Thứ</a:t>
            </a:r>
            <a:r>
              <a:rPr dirty="0"/>
              <a:t> </a:t>
            </a:r>
            <a:r>
              <a:rPr dirty="0" err="1"/>
              <a:t>ba</a:t>
            </a:r>
            <a:r>
              <a:rPr dirty="0"/>
              <a:t>, </a:t>
            </a:r>
            <a:r>
              <a:rPr dirty="0" err="1"/>
              <a:t>mô</a:t>
            </a:r>
            <a:r>
              <a:rPr dirty="0"/>
              <a:t> </a:t>
            </a:r>
            <a:r>
              <a:rPr dirty="0" err="1"/>
              <a:t>tả</a:t>
            </a:r>
            <a:r>
              <a:rPr dirty="0"/>
              <a:t> </a:t>
            </a:r>
            <a:r>
              <a:rPr dirty="0" err="1"/>
              <a:t>kiến</a:t>
            </a:r>
            <a:r>
              <a:rPr dirty="0"/>
              <a:t> </a:t>
            </a:r>
            <a:r>
              <a:rPr dirty="0" err="1"/>
              <a:t>trúc</a:t>
            </a:r>
            <a:r>
              <a:rPr dirty="0"/>
              <a:t> </a:t>
            </a:r>
            <a:r>
              <a:rPr dirty="0" err="1"/>
              <a:t>và</a:t>
            </a:r>
            <a:r>
              <a:rPr dirty="0"/>
              <a:t> pipeline. </a:t>
            </a:r>
            <a:r>
              <a:rPr dirty="0" err="1"/>
              <a:t>Thứ</a:t>
            </a:r>
            <a:r>
              <a:rPr dirty="0"/>
              <a:t> </a:t>
            </a:r>
            <a:r>
              <a:rPr dirty="0" err="1"/>
              <a:t>tư</a:t>
            </a:r>
            <a:r>
              <a:rPr dirty="0"/>
              <a:t> </a:t>
            </a:r>
            <a:r>
              <a:rPr dirty="0" err="1"/>
              <a:t>là</a:t>
            </a:r>
            <a:r>
              <a:rPr dirty="0"/>
              <a:t> </a:t>
            </a:r>
            <a:r>
              <a:rPr dirty="0" err="1"/>
              <a:t>phương</a:t>
            </a:r>
            <a:r>
              <a:rPr dirty="0"/>
              <a:t> </a:t>
            </a:r>
            <a:r>
              <a:rPr dirty="0" err="1"/>
              <a:t>pháp</a:t>
            </a:r>
            <a:r>
              <a:rPr dirty="0"/>
              <a:t> </a:t>
            </a:r>
            <a:r>
              <a:rPr dirty="0" err="1"/>
              <a:t>chính</a:t>
            </a:r>
            <a:r>
              <a:rPr dirty="0"/>
              <a:t> </a:t>
            </a:r>
            <a:r>
              <a:rPr dirty="0" err="1"/>
              <a:t>của</a:t>
            </a:r>
            <a:r>
              <a:rPr dirty="0"/>
              <a:t> </a:t>
            </a:r>
            <a:r>
              <a:rPr dirty="0" err="1"/>
              <a:t>em</a:t>
            </a:r>
            <a:r>
              <a:rPr dirty="0"/>
              <a:t>, </a:t>
            </a:r>
            <a:r>
              <a:rPr dirty="0" err="1"/>
              <a:t>gọi</a:t>
            </a:r>
            <a:r>
              <a:rPr dirty="0"/>
              <a:t> </a:t>
            </a:r>
            <a:r>
              <a:rPr dirty="0" err="1"/>
              <a:t>là</a:t>
            </a:r>
            <a:r>
              <a:rPr dirty="0"/>
              <a:t> adaptive feature fusion, </a:t>
            </a:r>
            <a:r>
              <a:rPr dirty="0" err="1"/>
              <a:t>cùng</a:t>
            </a:r>
            <a:r>
              <a:rPr dirty="0"/>
              <a:t> </a:t>
            </a:r>
            <a:r>
              <a:rPr dirty="0" err="1"/>
              <a:t>với</a:t>
            </a:r>
            <a:r>
              <a:rPr dirty="0"/>
              <a:t> </a:t>
            </a:r>
            <a:r>
              <a:rPr dirty="0" err="1"/>
              <a:t>kết</a:t>
            </a:r>
            <a:r>
              <a:rPr dirty="0"/>
              <a:t> </a:t>
            </a:r>
            <a:r>
              <a:rPr dirty="0" err="1"/>
              <a:t>quả</a:t>
            </a:r>
            <a:r>
              <a:rPr dirty="0"/>
              <a:t>. </a:t>
            </a:r>
            <a:r>
              <a:rPr dirty="0" err="1"/>
              <a:t>Thứ</a:t>
            </a:r>
            <a:r>
              <a:rPr dirty="0"/>
              <a:t> </a:t>
            </a:r>
            <a:r>
              <a:rPr dirty="0" err="1"/>
              <a:t>năm</a:t>
            </a:r>
            <a:r>
              <a:rPr dirty="0"/>
              <a:t> </a:t>
            </a:r>
            <a:r>
              <a:rPr dirty="0" err="1"/>
              <a:t>là</a:t>
            </a:r>
            <a:r>
              <a:rPr dirty="0"/>
              <a:t> </a:t>
            </a:r>
            <a:r>
              <a:rPr dirty="0" err="1"/>
              <a:t>các</a:t>
            </a:r>
            <a:r>
              <a:rPr dirty="0"/>
              <a:t> </a:t>
            </a:r>
            <a:r>
              <a:rPr dirty="0" err="1"/>
              <a:t>bước</a:t>
            </a:r>
            <a:r>
              <a:rPr dirty="0"/>
              <a:t> </a:t>
            </a:r>
            <a:r>
              <a:rPr dirty="0" err="1"/>
              <a:t>kiểm</a:t>
            </a:r>
            <a:r>
              <a:rPr dirty="0"/>
              <a:t> </a:t>
            </a:r>
            <a:r>
              <a:rPr dirty="0" err="1"/>
              <a:t>chứng</a:t>
            </a:r>
            <a:r>
              <a:rPr dirty="0"/>
              <a:t> </a:t>
            </a:r>
            <a:r>
              <a:rPr dirty="0" err="1"/>
              <a:t>thêm</a:t>
            </a:r>
            <a:r>
              <a:rPr dirty="0"/>
              <a:t> </a:t>
            </a:r>
            <a:r>
              <a:rPr dirty="0" err="1"/>
              <a:t>và</a:t>
            </a:r>
            <a:r>
              <a:rPr dirty="0"/>
              <a:t> so </a:t>
            </a:r>
            <a:r>
              <a:rPr dirty="0" err="1"/>
              <a:t>sánh</a:t>
            </a:r>
            <a:r>
              <a:rPr dirty="0"/>
              <a:t> </a:t>
            </a:r>
            <a:r>
              <a:rPr dirty="0" err="1"/>
              <a:t>với</a:t>
            </a:r>
            <a:r>
              <a:rPr dirty="0"/>
              <a:t> </a:t>
            </a:r>
            <a:r>
              <a:rPr dirty="0" err="1"/>
              <a:t>bài</a:t>
            </a:r>
            <a:r>
              <a:rPr dirty="0"/>
              <a:t> </a:t>
            </a:r>
            <a:r>
              <a:rPr dirty="0" err="1"/>
              <a:t>báo</a:t>
            </a:r>
            <a:r>
              <a:rPr dirty="0"/>
              <a:t> </a:t>
            </a:r>
            <a:r>
              <a:rPr dirty="0" err="1"/>
              <a:t>gốc</a:t>
            </a:r>
            <a:r>
              <a:rPr dirty="0"/>
              <a:t>. </a:t>
            </a:r>
            <a:r>
              <a:rPr dirty="0" err="1"/>
              <a:t>Và</a:t>
            </a:r>
            <a:r>
              <a:rPr dirty="0"/>
              <a:t> </a:t>
            </a:r>
            <a:r>
              <a:rPr dirty="0" err="1"/>
              <a:t>cuối</a:t>
            </a:r>
            <a:r>
              <a:rPr dirty="0"/>
              <a:t> </a:t>
            </a:r>
            <a:r>
              <a:rPr dirty="0" err="1"/>
              <a:t>cùng</a:t>
            </a:r>
            <a:r>
              <a:rPr dirty="0"/>
              <a:t> </a:t>
            </a:r>
            <a:r>
              <a:rPr dirty="0" err="1"/>
              <a:t>là</a:t>
            </a:r>
            <a:r>
              <a:rPr dirty="0"/>
              <a:t> </a:t>
            </a:r>
            <a:r>
              <a:rPr dirty="0" err="1"/>
              <a:t>kết</a:t>
            </a:r>
            <a:r>
              <a:rPr dirty="0"/>
              <a:t> </a:t>
            </a:r>
            <a:r>
              <a:rPr dirty="0" err="1"/>
              <a:t>luận</a:t>
            </a:r>
            <a:r>
              <a:rPr dirty="0"/>
              <a:t> </a:t>
            </a:r>
            <a:r>
              <a:rPr dirty="0" err="1"/>
              <a:t>cùng</a:t>
            </a:r>
            <a:r>
              <a:rPr dirty="0"/>
              <a:t> </a:t>
            </a:r>
            <a:r>
              <a:rPr dirty="0" err="1"/>
              <a:t>hướng</a:t>
            </a:r>
            <a:r>
              <a:rPr dirty="0"/>
              <a:t> </a:t>
            </a:r>
            <a:r>
              <a:rPr dirty="0" err="1"/>
              <a:t>phát</a:t>
            </a:r>
            <a:r>
              <a:rPr dirty="0"/>
              <a:t> </a:t>
            </a:r>
            <a:r>
              <a:rPr dirty="0" err="1"/>
              <a:t>triển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Kháng</a:t>
            </a:r>
            <a:r>
              <a:rPr dirty="0"/>
              <a:t> </a:t>
            </a:r>
            <a:r>
              <a:rPr dirty="0" err="1"/>
              <a:t>kháng</a:t>
            </a:r>
            <a:r>
              <a:rPr dirty="0"/>
              <a:t> </a:t>
            </a:r>
            <a:r>
              <a:rPr dirty="0" err="1"/>
              <a:t>sinh</a:t>
            </a:r>
            <a:r>
              <a:rPr dirty="0"/>
              <a:t>, </a:t>
            </a:r>
            <a:r>
              <a:rPr dirty="0" err="1"/>
              <a:t>nghĩa</a:t>
            </a:r>
            <a:r>
              <a:rPr dirty="0"/>
              <a:t> </a:t>
            </a:r>
            <a:r>
              <a:rPr dirty="0" err="1"/>
              <a:t>là</a:t>
            </a:r>
            <a:r>
              <a:rPr dirty="0"/>
              <a:t> vi </a:t>
            </a:r>
            <a:r>
              <a:rPr dirty="0" err="1"/>
              <a:t>khuẩn</a:t>
            </a:r>
            <a:r>
              <a:rPr dirty="0"/>
              <a:t> </a:t>
            </a:r>
            <a:r>
              <a:rPr dirty="0" err="1"/>
              <a:t>không</a:t>
            </a:r>
            <a:r>
              <a:rPr dirty="0"/>
              <a:t> </a:t>
            </a:r>
            <a:r>
              <a:rPr dirty="0" err="1"/>
              <a:t>còn</a:t>
            </a:r>
            <a:r>
              <a:rPr dirty="0"/>
              <a:t> </a:t>
            </a:r>
            <a:r>
              <a:rPr dirty="0" err="1"/>
              <a:t>bị</a:t>
            </a:r>
            <a:r>
              <a:rPr dirty="0"/>
              <a:t> </a:t>
            </a:r>
            <a:r>
              <a:rPr dirty="0" err="1"/>
              <a:t>thuốc</a:t>
            </a:r>
            <a:r>
              <a:rPr dirty="0"/>
              <a:t> </a:t>
            </a:r>
            <a:r>
              <a:rPr dirty="0" err="1"/>
              <a:t>tiêu</a:t>
            </a:r>
            <a:r>
              <a:rPr dirty="0"/>
              <a:t> </a:t>
            </a:r>
            <a:r>
              <a:rPr dirty="0" err="1"/>
              <a:t>diệt</a:t>
            </a:r>
            <a:r>
              <a:rPr dirty="0"/>
              <a:t> </a:t>
            </a:r>
            <a:r>
              <a:rPr dirty="0" err="1"/>
              <a:t>nữa</a:t>
            </a:r>
            <a:r>
              <a:rPr dirty="0"/>
              <a:t>. </a:t>
            </a:r>
            <a:endParaRPr lang="vi-VN" dirty="0"/>
          </a:p>
          <a:p>
            <a:r>
              <a:rPr dirty="0"/>
              <a:t>Vi </a:t>
            </a:r>
            <a:r>
              <a:rPr dirty="0" err="1"/>
              <a:t>khuẩn</a:t>
            </a:r>
            <a:r>
              <a:rPr dirty="0"/>
              <a:t> Salmonella </a:t>
            </a:r>
            <a:r>
              <a:rPr dirty="0" err="1"/>
              <a:t>gây</a:t>
            </a:r>
            <a:r>
              <a:rPr dirty="0"/>
              <a:t> </a:t>
            </a:r>
            <a:r>
              <a:rPr dirty="0" err="1"/>
              <a:t>ngộ</a:t>
            </a:r>
            <a:r>
              <a:rPr dirty="0"/>
              <a:t> </a:t>
            </a:r>
            <a:r>
              <a:rPr dirty="0" err="1"/>
              <a:t>độc</a:t>
            </a:r>
            <a:r>
              <a:rPr dirty="0"/>
              <a:t> </a:t>
            </a:r>
            <a:r>
              <a:rPr dirty="0" err="1"/>
              <a:t>thực</a:t>
            </a:r>
            <a:r>
              <a:rPr dirty="0"/>
              <a:t> </a:t>
            </a:r>
            <a:r>
              <a:rPr dirty="0" err="1"/>
              <a:t>phẩm</a:t>
            </a:r>
            <a:r>
              <a:rPr dirty="0"/>
              <a:t>, </a:t>
            </a:r>
            <a:r>
              <a:rPr dirty="0" err="1"/>
              <a:t>nó</a:t>
            </a:r>
            <a:r>
              <a:rPr dirty="0"/>
              <a:t> </a:t>
            </a:r>
            <a:r>
              <a:rPr dirty="0" err="1"/>
              <a:t>có</a:t>
            </a:r>
            <a:r>
              <a:rPr dirty="0"/>
              <a:t> </a:t>
            </a:r>
            <a:r>
              <a:rPr lang="en-VN" dirty="0"/>
              <a:t>các </a:t>
            </a:r>
            <a:r>
              <a:rPr dirty="0" err="1"/>
              <a:t>dữ</a:t>
            </a:r>
            <a:r>
              <a:rPr dirty="0"/>
              <a:t> </a:t>
            </a:r>
            <a:r>
              <a:rPr dirty="0" err="1"/>
              <a:t>liệu</a:t>
            </a:r>
            <a:r>
              <a:rPr dirty="0"/>
              <a:t> </a:t>
            </a:r>
            <a:r>
              <a:rPr dirty="0" err="1"/>
              <a:t>công</a:t>
            </a:r>
            <a:r>
              <a:rPr dirty="0"/>
              <a:t> </a:t>
            </a:r>
            <a:r>
              <a:rPr dirty="0" err="1"/>
              <a:t>khai</a:t>
            </a:r>
            <a:r>
              <a:rPr dirty="0"/>
              <a:t>: </a:t>
            </a:r>
            <a:r>
              <a:rPr dirty="0" err="1"/>
              <a:t>vừa</a:t>
            </a:r>
            <a:r>
              <a:rPr dirty="0"/>
              <a:t> </a:t>
            </a:r>
            <a:r>
              <a:rPr dirty="0" err="1"/>
              <a:t>có</a:t>
            </a:r>
            <a:r>
              <a:rPr dirty="0"/>
              <a:t> </a:t>
            </a:r>
            <a:r>
              <a:rPr dirty="0" err="1"/>
              <a:t>hệ</a:t>
            </a:r>
            <a:r>
              <a:rPr dirty="0"/>
              <a:t> gen </a:t>
            </a:r>
            <a:r>
              <a:rPr dirty="0" err="1"/>
              <a:t>đã</a:t>
            </a:r>
            <a:r>
              <a:rPr dirty="0"/>
              <a:t> </a:t>
            </a:r>
            <a:r>
              <a:rPr dirty="0" err="1"/>
              <a:t>giải</a:t>
            </a:r>
            <a:r>
              <a:rPr dirty="0"/>
              <a:t> </a:t>
            </a:r>
            <a:r>
              <a:rPr dirty="0" err="1"/>
              <a:t>trình</a:t>
            </a:r>
            <a:r>
              <a:rPr dirty="0"/>
              <a:t> </a:t>
            </a:r>
            <a:r>
              <a:rPr dirty="0" err="1"/>
              <a:t>tự</a:t>
            </a:r>
            <a:r>
              <a:rPr dirty="0"/>
              <a:t>, </a:t>
            </a:r>
            <a:r>
              <a:rPr dirty="0" err="1"/>
              <a:t>vừa</a:t>
            </a:r>
            <a:r>
              <a:rPr dirty="0"/>
              <a:t> </a:t>
            </a:r>
            <a:r>
              <a:rPr dirty="0" err="1"/>
              <a:t>biết</a:t>
            </a:r>
            <a:r>
              <a:rPr dirty="0"/>
              <a:t> </a:t>
            </a:r>
            <a:r>
              <a:rPr dirty="0" err="1"/>
              <a:t>rõ</a:t>
            </a:r>
            <a:r>
              <a:rPr dirty="0"/>
              <a:t> </a:t>
            </a:r>
            <a:r>
              <a:rPr dirty="0" err="1"/>
              <a:t>nó</a:t>
            </a:r>
            <a:r>
              <a:rPr dirty="0"/>
              <a:t> </a:t>
            </a:r>
            <a:r>
              <a:rPr dirty="0" err="1"/>
              <a:t>kháng</a:t>
            </a:r>
            <a:r>
              <a:rPr dirty="0"/>
              <a:t> hay </a:t>
            </a:r>
            <a:r>
              <a:rPr dirty="0" err="1"/>
              <a:t>nhạy</a:t>
            </a:r>
            <a:r>
              <a:rPr dirty="0"/>
              <a:t> </a:t>
            </a:r>
            <a:r>
              <a:rPr dirty="0" err="1"/>
              <a:t>với</a:t>
            </a:r>
            <a:r>
              <a:rPr dirty="0"/>
              <a:t> </a:t>
            </a:r>
            <a:r>
              <a:rPr dirty="0" err="1"/>
              <a:t>từng</a:t>
            </a:r>
            <a:r>
              <a:rPr dirty="0"/>
              <a:t> </a:t>
            </a:r>
            <a:r>
              <a:rPr dirty="0" err="1"/>
              <a:t>loại</a:t>
            </a:r>
            <a:r>
              <a:rPr dirty="0"/>
              <a:t> </a:t>
            </a:r>
            <a:r>
              <a:rPr dirty="0" err="1"/>
              <a:t>thuốc</a:t>
            </a:r>
            <a:r>
              <a:rPr dirty="0"/>
              <a:t>. </a:t>
            </a:r>
          </a:p>
          <a:p>
            <a:r>
              <a:rPr dirty="0" err="1"/>
              <a:t>Bài</a:t>
            </a:r>
            <a:r>
              <a:rPr dirty="0"/>
              <a:t> </a:t>
            </a:r>
            <a:r>
              <a:rPr dirty="0" err="1"/>
              <a:t>toán</a:t>
            </a:r>
            <a:r>
              <a:rPr dirty="0"/>
              <a:t> </a:t>
            </a:r>
            <a:r>
              <a:rPr dirty="0" err="1"/>
              <a:t>của</a:t>
            </a:r>
            <a:r>
              <a:rPr dirty="0"/>
              <a:t> </a:t>
            </a:r>
            <a:r>
              <a:rPr dirty="0" err="1"/>
              <a:t>em</a:t>
            </a:r>
            <a:r>
              <a:rPr dirty="0"/>
              <a:t> </a:t>
            </a:r>
            <a:r>
              <a:rPr dirty="0" err="1"/>
              <a:t>phát</a:t>
            </a:r>
            <a:r>
              <a:rPr dirty="0"/>
              <a:t> </a:t>
            </a:r>
            <a:r>
              <a:rPr dirty="0" err="1"/>
              <a:t>biểu</a:t>
            </a:r>
            <a:r>
              <a:rPr dirty="0"/>
              <a:t> </a:t>
            </a:r>
            <a:r>
              <a:rPr dirty="0" err="1"/>
              <a:t>đơn</a:t>
            </a:r>
            <a:r>
              <a:rPr dirty="0"/>
              <a:t> </a:t>
            </a:r>
            <a:r>
              <a:rPr dirty="0" err="1"/>
              <a:t>giản</a:t>
            </a:r>
            <a:r>
              <a:rPr dirty="0"/>
              <a:t>: </a:t>
            </a:r>
            <a:r>
              <a:rPr dirty="0" err="1"/>
              <a:t>cho</a:t>
            </a:r>
            <a:r>
              <a:rPr dirty="0"/>
              <a:t> </a:t>
            </a:r>
            <a:r>
              <a:rPr dirty="0" err="1"/>
              <a:t>biết</a:t>
            </a:r>
            <a:r>
              <a:rPr dirty="0"/>
              <a:t> </a:t>
            </a:r>
            <a:r>
              <a:rPr dirty="0" err="1"/>
              <a:t>hệ</a:t>
            </a:r>
            <a:r>
              <a:rPr dirty="0"/>
              <a:t> gen </a:t>
            </a:r>
            <a:r>
              <a:rPr dirty="0" err="1"/>
              <a:t>của</a:t>
            </a:r>
            <a:r>
              <a:rPr dirty="0"/>
              <a:t> </a:t>
            </a:r>
            <a:r>
              <a:rPr dirty="0" err="1"/>
              <a:t>một</a:t>
            </a:r>
            <a:r>
              <a:rPr dirty="0"/>
              <a:t> </a:t>
            </a:r>
            <a:r>
              <a:rPr dirty="0" err="1"/>
              <a:t>chủng</a:t>
            </a:r>
            <a:r>
              <a:rPr dirty="0"/>
              <a:t>, </a:t>
            </a:r>
            <a:r>
              <a:rPr dirty="0" err="1"/>
              <a:t>hãy</a:t>
            </a:r>
            <a:r>
              <a:rPr dirty="0"/>
              <a:t> </a:t>
            </a:r>
            <a:r>
              <a:rPr dirty="0" err="1"/>
              <a:t>dự</a:t>
            </a:r>
            <a:r>
              <a:rPr dirty="0"/>
              <a:t> </a:t>
            </a:r>
            <a:r>
              <a:rPr dirty="0" err="1"/>
              <a:t>đoán</a:t>
            </a:r>
            <a:r>
              <a:rPr dirty="0"/>
              <a:t> </a:t>
            </a:r>
            <a:r>
              <a:rPr dirty="0" err="1"/>
              <a:t>chủng</a:t>
            </a:r>
            <a:r>
              <a:rPr dirty="0"/>
              <a:t> </a:t>
            </a:r>
            <a:r>
              <a:rPr dirty="0" err="1"/>
              <a:t>đó</a:t>
            </a:r>
            <a:r>
              <a:rPr dirty="0"/>
              <a:t> </a:t>
            </a:r>
            <a:r>
              <a:rPr dirty="0" err="1"/>
              <a:t>kháng</a:t>
            </a:r>
            <a:r>
              <a:rPr dirty="0"/>
              <a:t> (R) hay </a:t>
            </a:r>
            <a:r>
              <a:rPr dirty="0" err="1"/>
              <a:t>nhạy</a:t>
            </a:r>
            <a:r>
              <a:rPr dirty="0"/>
              <a:t> (S) </a:t>
            </a:r>
            <a:r>
              <a:rPr dirty="0" err="1"/>
              <a:t>với</a:t>
            </a:r>
            <a:r>
              <a:rPr dirty="0"/>
              <a:t> </a:t>
            </a:r>
            <a:r>
              <a:rPr dirty="0" err="1"/>
              <a:t>một</a:t>
            </a:r>
            <a:r>
              <a:rPr dirty="0"/>
              <a:t> </a:t>
            </a:r>
            <a:r>
              <a:rPr dirty="0" err="1"/>
              <a:t>loại</a:t>
            </a:r>
            <a:r>
              <a:rPr dirty="0"/>
              <a:t> </a:t>
            </a:r>
            <a:r>
              <a:rPr dirty="0" err="1"/>
              <a:t>thuốc</a:t>
            </a:r>
            <a:r>
              <a:rPr dirty="0"/>
              <a:t> </a:t>
            </a:r>
            <a:r>
              <a:rPr dirty="0" err="1"/>
              <a:t>cụ</a:t>
            </a:r>
            <a:r>
              <a:rPr dirty="0"/>
              <a:t> </a:t>
            </a:r>
            <a:r>
              <a:rPr dirty="0" err="1"/>
              <a:t>thể</a:t>
            </a:r>
            <a:r>
              <a:rPr dirty="0"/>
              <a:t>. </a:t>
            </a:r>
            <a:r>
              <a:rPr dirty="0" err="1"/>
              <a:t>Đây</a:t>
            </a:r>
            <a:r>
              <a:rPr dirty="0"/>
              <a:t> </a:t>
            </a:r>
            <a:r>
              <a:rPr dirty="0" err="1"/>
              <a:t>là</a:t>
            </a:r>
            <a:r>
              <a:rPr dirty="0"/>
              <a:t> </a:t>
            </a:r>
            <a:r>
              <a:rPr dirty="0" err="1"/>
              <a:t>bài</a:t>
            </a:r>
            <a:r>
              <a:rPr dirty="0"/>
              <a:t> </a:t>
            </a:r>
            <a:r>
              <a:rPr dirty="0" err="1"/>
              <a:t>toán</a:t>
            </a:r>
            <a:r>
              <a:rPr dirty="0"/>
              <a:t> </a:t>
            </a:r>
            <a:r>
              <a:rPr dirty="0" err="1"/>
              <a:t>phân</a:t>
            </a:r>
            <a:r>
              <a:rPr dirty="0"/>
              <a:t> </a:t>
            </a:r>
            <a:r>
              <a:rPr dirty="0" err="1"/>
              <a:t>loại</a:t>
            </a:r>
            <a:r>
              <a:rPr dirty="0"/>
              <a:t>. </a:t>
            </a:r>
            <a:r>
              <a:rPr dirty="0" err="1"/>
              <a:t>Điểm</a:t>
            </a:r>
            <a:r>
              <a:rPr dirty="0"/>
              <a:t> </a:t>
            </a:r>
            <a:r>
              <a:rPr dirty="0" err="1"/>
              <a:t>em</a:t>
            </a:r>
            <a:r>
              <a:rPr dirty="0"/>
              <a:t> </a:t>
            </a:r>
            <a:r>
              <a:rPr dirty="0" err="1"/>
              <a:t>nhấn</a:t>
            </a:r>
            <a:r>
              <a:rPr dirty="0"/>
              <a:t> </a:t>
            </a:r>
            <a:r>
              <a:rPr dirty="0" err="1"/>
              <a:t>mạnh</a:t>
            </a:r>
            <a:r>
              <a:rPr dirty="0"/>
              <a:t> </a:t>
            </a:r>
            <a:r>
              <a:rPr dirty="0" err="1"/>
              <a:t>là</a:t>
            </a:r>
            <a:r>
              <a:rPr dirty="0"/>
              <a:t>: </a:t>
            </a:r>
            <a:r>
              <a:rPr lang="en-VN" dirty="0"/>
              <a:t>kết quả tốt</a:t>
            </a:r>
            <a:r>
              <a:rPr dirty="0"/>
              <a:t>, </a:t>
            </a:r>
            <a:r>
              <a:rPr dirty="0" err="1"/>
              <a:t>mà</a:t>
            </a:r>
            <a:r>
              <a:rPr dirty="0"/>
              <a:t> </a:t>
            </a:r>
            <a:r>
              <a:rPr dirty="0" err="1"/>
              <a:t>muốn</a:t>
            </a:r>
            <a:r>
              <a:rPr dirty="0"/>
              <a:t> </a:t>
            </a:r>
            <a:r>
              <a:rPr dirty="0" err="1"/>
              <a:t>dự</a:t>
            </a:r>
            <a:r>
              <a:rPr dirty="0"/>
              <a:t> </a:t>
            </a:r>
            <a:r>
              <a:rPr dirty="0" err="1"/>
              <a:t>đoán</a:t>
            </a:r>
            <a:r>
              <a:rPr dirty="0"/>
              <a:t> </a:t>
            </a:r>
            <a:r>
              <a:rPr dirty="0" err="1"/>
              <a:t>đáng</a:t>
            </a:r>
            <a:r>
              <a:rPr dirty="0"/>
              <a:t> </a:t>
            </a:r>
            <a:r>
              <a:rPr lang="en-VN" dirty="0"/>
              <a:t>tin, </a:t>
            </a:r>
            <a:r>
              <a:rPr dirty="0" err="1"/>
              <a:t>trong</a:t>
            </a:r>
            <a:r>
              <a:rPr dirty="0"/>
              <a:t> </a:t>
            </a:r>
            <a:r>
              <a:rPr dirty="0" err="1"/>
              <a:t>bài</a:t>
            </a:r>
            <a:r>
              <a:rPr dirty="0"/>
              <a:t> </a:t>
            </a:r>
            <a:r>
              <a:rPr dirty="0" err="1"/>
              <a:t>toán</a:t>
            </a:r>
            <a:r>
              <a:rPr dirty="0"/>
              <a:t> </a:t>
            </a:r>
            <a:r>
              <a:rPr dirty="0" err="1"/>
              <a:t>này</a:t>
            </a:r>
            <a:r>
              <a:rPr dirty="0"/>
              <a:t> </a:t>
            </a:r>
            <a:r>
              <a:rPr lang="en-VN" dirty="0"/>
              <a:t>accuracy có thể cao </a:t>
            </a:r>
            <a:r>
              <a:rPr dirty="0" err="1"/>
              <a:t>nhưng</a:t>
            </a:r>
            <a:r>
              <a:rPr dirty="0"/>
              <a:t> </a:t>
            </a:r>
            <a:r>
              <a:rPr lang="en-VN" dirty="0"/>
              <a:t>chưa chắc đã là thật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Trước </a:t>
            </a:r>
            <a:r>
              <a:rPr dirty="0" err="1"/>
              <a:t>khi</a:t>
            </a:r>
            <a:r>
              <a:rPr dirty="0"/>
              <a:t> </a:t>
            </a:r>
            <a:r>
              <a:rPr dirty="0" err="1"/>
              <a:t>vào</a:t>
            </a:r>
            <a:r>
              <a:rPr dirty="0"/>
              <a:t> </a:t>
            </a:r>
            <a:r>
              <a:rPr dirty="0" err="1"/>
              <a:t>giải</a:t>
            </a:r>
            <a:r>
              <a:rPr dirty="0"/>
              <a:t> </a:t>
            </a:r>
            <a:r>
              <a:rPr dirty="0" err="1"/>
              <a:t>pháp</a:t>
            </a:r>
            <a:r>
              <a:rPr dirty="0"/>
              <a:t>, </a:t>
            </a:r>
            <a:r>
              <a:rPr dirty="0" err="1"/>
              <a:t>em</a:t>
            </a:r>
            <a:r>
              <a:rPr dirty="0"/>
              <a:t> </a:t>
            </a:r>
            <a:r>
              <a:rPr dirty="0" err="1"/>
              <a:t>xin</a:t>
            </a:r>
            <a:r>
              <a:rPr dirty="0"/>
              <a:t> </a:t>
            </a:r>
            <a:r>
              <a:rPr dirty="0" err="1"/>
              <a:t>nói</a:t>
            </a:r>
            <a:r>
              <a:rPr dirty="0"/>
              <a:t> </a:t>
            </a:r>
            <a:r>
              <a:rPr dirty="0" err="1"/>
              <a:t>ba</a:t>
            </a:r>
            <a:r>
              <a:rPr dirty="0"/>
              <a:t> </a:t>
            </a:r>
            <a:r>
              <a:rPr dirty="0" err="1"/>
              <a:t>thách</a:t>
            </a:r>
            <a:r>
              <a:rPr dirty="0"/>
              <a:t> </a:t>
            </a:r>
            <a:r>
              <a:rPr dirty="0" err="1"/>
              <a:t>thức</a:t>
            </a:r>
            <a:r>
              <a:rPr dirty="0"/>
              <a:t> </a:t>
            </a:r>
            <a:r>
              <a:rPr dirty="0" err="1"/>
              <a:t>chính</a:t>
            </a:r>
            <a:r>
              <a:rPr dirty="0"/>
              <a:t> </a:t>
            </a:r>
            <a:r>
              <a:rPr dirty="0" err="1"/>
              <a:t>của</a:t>
            </a:r>
            <a:r>
              <a:rPr dirty="0"/>
              <a:t> </a:t>
            </a:r>
            <a:r>
              <a:rPr dirty="0" err="1"/>
              <a:t>bài</a:t>
            </a:r>
            <a:r>
              <a:rPr dirty="0"/>
              <a:t> </a:t>
            </a:r>
            <a:r>
              <a:rPr dirty="0" err="1"/>
              <a:t>toán</a:t>
            </a:r>
            <a:r>
              <a:rPr dirty="0"/>
              <a:t>.</a:t>
            </a:r>
          </a:p>
          <a:p>
            <a:r>
              <a:rPr dirty="0"/>
              <a:t>Thứ </a:t>
            </a:r>
            <a:r>
              <a:rPr dirty="0" err="1"/>
              <a:t>nhất</a:t>
            </a:r>
            <a:r>
              <a:rPr dirty="0"/>
              <a:t> </a:t>
            </a:r>
            <a:r>
              <a:rPr dirty="0" err="1"/>
              <a:t>là</a:t>
            </a:r>
            <a:r>
              <a:rPr dirty="0"/>
              <a:t> </a:t>
            </a:r>
            <a:r>
              <a:rPr dirty="0" err="1"/>
              <a:t>dữ</a:t>
            </a:r>
            <a:r>
              <a:rPr dirty="0"/>
              <a:t> </a:t>
            </a:r>
            <a:r>
              <a:rPr dirty="0" err="1"/>
              <a:t>liệu</a:t>
            </a:r>
            <a:r>
              <a:rPr dirty="0"/>
              <a:t> </a:t>
            </a:r>
            <a:r>
              <a:rPr dirty="0" err="1"/>
              <a:t>lệch</a:t>
            </a:r>
            <a:r>
              <a:rPr dirty="0"/>
              <a:t> </a:t>
            </a:r>
            <a:r>
              <a:rPr dirty="0" err="1"/>
              <a:t>lớp</a:t>
            </a:r>
            <a:r>
              <a:rPr dirty="0"/>
              <a:t>: </a:t>
            </a:r>
            <a:r>
              <a:rPr dirty="0" err="1"/>
              <a:t>có</a:t>
            </a:r>
            <a:r>
              <a:rPr dirty="0"/>
              <a:t> </a:t>
            </a:r>
            <a:r>
              <a:rPr dirty="0" err="1"/>
              <a:t>những</a:t>
            </a:r>
            <a:r>
              <a:rPr dirty="0"/>
              <a:t> </a:t>
            </a:r>
            <a:r>
              <a:rPr dirty="0" err="1"/>
              <a:t>thuốc</a:t>
            </a:r>
            <a:r>
              <a:rPr dirty="0"/>
              <a:t> </a:t>
            </a:r>
            <a:r>
              <a:rPr dirty="0" err="1"/>
              <a:t>chỉ</a:t>
            </a:r>
            <a:r>
              <a:rPr dirty="0"/>
              <a:t> </a:t>
            </a:r>
            <a:r>
              <a:rPr dirty="0" err="1"/>
              <a:t>khoảng</a:t>
            </a:r>
            <a:r>
              <a:rPr dirty="0"/>
              <a:t> </a:t>
            </a:r>
            <a:r>
              <a:rPr dirty="0" err="1"/>
              <a:t>sáu</a:t>
            </a:r>
            <a:r>
              <a:rPr dirty="0"/>
              <a:t> </a:t>
            </a:r>
            <a:r>
              <a:rPr dirty="0" err="1"/>
              <a:t>phần</a:t>
            </a:r>
            <a:r>
              <a:rPr dirty="0"/>
              <a:t> </a:t>
            </a:r>
            <a:r>
              <a:rPr dirty="0" err="1"/>
              <a:t>trăm</a:t>
            </a:r>
            <a:r>
              <a:rPr dirty="0"/>
              <a:t> </a:t>
            </a:r>
            <a:r>
              <a:rPr dirty="0" err="1"/>
              <a:t>số</a:t>
            </a:r>
            <a:r>
              <a:rPr dirty="0"/>
              <a:t> </a:t>
            </a:r>
            <a:r>
              <a:rPr dirty="0" err="1"/>
              <a:t>chủng</a:t>
            </a:r>
            <a:r>
              <a:rPr dirty="0"/>
              <a:t> </a:t>
            </a:r>
            <a:r>
              <a:rPr dirty="0" err="1"/>
              <a:t>là</a:t>
            </a:r>
            <a:r>
              <a:rPr dirty="0"/>
              <a:t> </a:t>
            </a:r>
            <a:r>
              <a:rPr dirty="0" err="1"/>
              <a:t>kháng</a:t>
            </a:r>
            <a:r>
              <a:rPr dirty="0"/>
              <a:t>, </a:t>
            </a:r>
            <a:r>
              <a:rPr dirty="0" err="1"/>
              <a:t>còn</a:t>
            </a:r>
            <a:r>
              <a:rPr dirty="0"/>
              <a:t> </a:t>
            </a:r>
            <a:r>
              <a:rPr dirty="0" err="1"/>
              <a:t>lại</a:t>
            </a:r>
            <a:r>
              <a:rPr dirty="0"/>
              <a:t> </a:t>
            </a:r>
            <a:r>
              <a:rPr dirty="0" err="1"/>
              <a:t>đều</a:t>
            </a:r>
            <a:r>
              <a:rPr dirty="0"/>
              <a:t> </a:t>
            </a:r>
            <a:r>
              <a:rPr dirty="0" err="1"/>
              <a:t>nhạy</a:t>
            </a:r>
            <a:r>
              <a:rPr dirty="0"/>
              <a:t>. </a:t>
            </a:r>
            <a:r>
              <a:rPr dirty="0" err="1"/>
              <a:t>Vì</a:t>
            </a:r>
            <a:r>
              <a:rPr dirty="0"/>
              <a:t> </a:t>
            </a:r>
            <a:r>
              <a:rPr dirty="0" err="1"/>
              <a:t>vậy</a:t>
            </a:r>
            <a:r>
              <a:rPr dirty="0"/>
              <a:t> </a:t>
            </a:r>
            <a:r>
              <a:rPr dirty="0" err="1"/>
              <a:t>em</a:t>
            </a:r>
            <a:r>
              <a:rPr dirty="0"/>
              <a:t> </a:t>
            </a:r>
            <a:r>
              <a:rPr dirty="0" err="1"/>
              <a:t>dùng</a:t>
            </a:r>
            <a:r>
              <a:rPr dirty="0"/>
              <a:t> F1 </a:t>
            </a:r>
            <a:r>
              <a:rPr dirty="0" err="1"/>
              <a:t>và</a:t>
            </a:r>
            <a:r>
              <a:rPr dirty="0"/>
              <a:t> AUPRC </a:t>
            </a:r>
            <a:r>
              <a:rPr dirty="0" err="1"/>
              <a:t>thay</a:t>
            </a:r>
            <a:r>
              <a:rPr dirty="0"/>
              <a:t> </a:t>
            </a:r>
            <a:r>
              <a:rPr dirty="0" err="1"/>
              <a:t>cho</a:t>
            </a:r>
            <a:r>
              <a:rPr dirty="0"/>
              <a:t> </a:t>
            </a:r>
            <a:r>
              <a:rPr dirty="0" err="1"/>
              <a:t>độ</a:t>
            </a:r>
            <a:r>
              <a:rPr dirty="0"/>
              <a:t> </a:t>
            </a:r>
            <a:r>
              <a:rPr dirty="0" err="1"/>
              <a:t>chính</a:t>
            </a:r>
            <a:r>
              <a:rPr dirty="0"/>
              <a:t> </a:t>
            </a:r>
            <a:r>
              <a:rPr dirty="0" err="1"/>
              <a:t>xác</a:t>
            </a:r>
            <a:r>
              <a:rPr dirty="0"/>
              <a:t>.</a:t>
            </a:r>
          </a:p>
          <a:p>
            <a:r>
              <a:rPr dirty="0" err="1"/>
              <a:t>Thứ</a:t>
            </a:r>
            <a:r>
              <a:rPr dirty="0"/>
              <a:t> </a:t>
            </a:r>
            <a:r>
              <a:rPr dirty="0" err="1"/>
              <a:t>hai</a:t>
            </a:r>
            <a:r>
              <a:rPr dirty="0"/>
              <a:t>, </a:t>
            </a:r>
            <a:r>
              <a:rPr dirty="0" err="1"/>
              <a:t>số</a:t>
            </a:r>
            <a:r>
              <a:rPr dirty="0"/>
              <a:t> </a:t>
            </a:r>
            <a:r>
              <a:rPr dirty="0" err="1"/>
              <a:t>lượng</a:t>
            </a:r>
            <a:r>
              <a:rPr dirty="0"/>
              <a:t> gene </a:t>
            </a:r>
            <a:r>
              <a:rPr dirty="0" err="1"/>
              <a:t>rất</a:t>
            </a:r>
            <a:r>
              <a:rPr dirty="0"/>
              <a:t> </a:t>
            </a:r>
            <a:r>
              <a:rPr dirty="0" err="1"/>
              <a:t>lớn</a:t>
            </a:r>
            <a:r>
              <a:rPr dirty="0"/>
              <a:t>, </a:t>
            </a:r>
            <a:r>
              <a:rPr dirty="0" err="1"/>
              <a:t>tới</a:t>
            </a:r>
            <a:r>
              <a:rPr dirty="0"/>
              <a:t> </a:t>
            </a:r>
            <a:r>
              <a:rPr dirty="0" err="1"/>
              <a:t>hàng</a:t>
            </a:r>
            <a:r>
              <a:rPr dirty="0"/>
              <a:t> </a:t>
            </a:r>
            <a:r>
              <a:rPr dirty="0" err="1"/>
              <a:t>chục</a:t>
            </a:r>
            <a:r>
              <a:rPr dirty="0"/>
              <a:t> </a:t>
            </a:r>
            <a:r>
              <a:rPr dirty="0" err="1"/>
              <a:t>nghìn</a:t>
            </a:r>
            <a:r>
              <a:rPr dirty="0"/>
              <a:t>, </a:t>
            </a:r>
            <a:r>
              <a:rPr dirty="0" err="1"/>
              <a:t>trong</a:t>
            </a:r>
            <a:r>
              <a:rPr dirty="0"/>
              <a:t> </a:t>
            </a:r>
            <a:r>
              <a:rPr dirty="0" err="1"/>
              <a:t>khi</a:t>
            </a:r>
            <a:r>
              <a:rPr dirty="0"/>
              <a:t> </a:t>
            </a:r>
            <a:r>
              <a:rPr dirty="0" err="1"/>
              <a:t>số</a:t>
            </a:r>
            <a:r>
              <a:rPr dirty="0"/>
              <a:t> </a:t>
            </a:r>
            <a:r>
              <a:rPr dirty="0" err="1"/>
              <a:t>mẫu</a:t>
            </a:r>
            <a:r>
              <a:rPr dirty="0"/>
              <a:t> </a:t>
            </a:r>
            <a:r>
              <a:rPr dirty="0" err="1"/>
              <a:t>chỉ</a:t>
            </a:r>
            <a:r>
              <a:rPr dirty="0"/>
              <a:t> </a:t>
            </a:r>
            <a:r>
              <a:rPr dirty="0" err="1"/>
              <a:t>hơn</a:t>
            </a:r>
            <a:r>
              <a:rPr dirty="0"/>
              <a:t> </a:t>
            </a:r>
            <a:r>
              <a:rPr dirty="0" err="1"/>
              <a:t>một</a:t>
            </a:r>
            <a:r>
              <a:rPr dirty="0"/>
              <a:t> </a:t>
            </a:r>
            <a:r>
              <a:rPr dirty="0" err="1"/>
              <a:t>nghìn</a:t>
            </a:r>
            <a:r>
              <a:rPr dirty="0"/>
              <a:t>, </a:t>
            </a:r>
            <a:r>
              <a:rPr dirty="0" err="1"/>
              <a:t>nên</a:t>
            </a:r>
            <a:r>
              <a:rPr dirty="0"/>
              <a:t> </a:t>
            </a:r>
            <a:r>
              <a:rPr dirty="0" err="1"/>
              <a:t>mô</a:t>
            </a:r>
            <a:r>
              <a:rPr dirty="0"/>
              <a:t> </a:t>
            </a:r>
            <a:r>
              <a:rPr dirty="0" err="1"/>
              <a:t>hình</a:t>
            </a:r>
            <a:r>
              <a:rPr dirty="0"/>
              <a:t> </a:t>
            </a:r>
            <a:r>
              <a:rPr dirty="0" err="1"/>
              <a:t>rất</a:t>
            </a:r>
            <a:r>
              <a:rPr dirty="0"/>
              <a:t> </a:t>
            </a:r>
            <a:r>
              <a:rPr dirty="0" err="1"/>
              <a:t>dễ</a:t>
            </a:r>
            <a:r>
              <a:rPr dirty="0"/>
              <a:t> overfit.</a:t>
            </a:r>
          </a:p>
          <a:p>
            <a:r>
              <a:rPr dirty="0" err="1"/>
              <a:t>Thứ</a:t>
            </a:r>
            <a:r>
              <a:rPr dirty="0"/>
              <a:t> </a:t>
            </a:r>
            <a:r>
              <a:rPr dirty="0" err="1"/>
              <a:t>ba</a:t>
            </a:r>
            <a:r>
              <a:rPr dirty="0"/>
              <a:t>, </a:t>
            </a:r>
            <a:r>
              <a:rPr dirty="0" err="1"/>
              <a:t>mỗi</a:t>
            </a:r>
            <a:r>
              <a:rPr dirty="0"/>
              <a:t> </a:t>
            </a:r>
            <a:r>
              <a:rPr dirty="0" err="1"/>
              <a:t>loại</a:t>
            </a:r>
            <a:r>
              <a:rPr dirty="0"/>
              <a:t> </a:t>
            </a:r>
            <a:r>
              <a:rPr dirty="0" err="1"/>
              <a:t>thuốc</a:t>
            </a:r>
            <a:r>
              <a:rPr dirty="0"/>
              <a:t> </a:t>
            </a:r>
            <a:r>
              <a:rPr dirty="0" err="1"/>
              <a:t>kháng</a:t>
            </a:r>
            <a:r>
              <a:rPr dirty="0"/>
              <a:t> </a:t>
            </a:r>
            <a:r>
              <a:rPr dirty="0" err="1"/>
              <a:t>theo</a:t>
            </a:r>
            <a:r>
              <a:rPr dirty="0"/>
              <a:t> </a:t>
            </a:r>
            <a:r>
              <a:rPr dirty="0" err="1"/>
              <a:t>một</a:t>
            </a:r>
            <a:r>
              <a:rPr dirty="0"/>
              <a:t> </a:t>
            </a:r>
            <a:r>
              <a:rPr dirty="0" err="1"/>
              <a:t>cơ</a:t>
            </a:r>
            <a:r>
              <a:rPr dirty="0"/>
              <a:t> </a:t>
            </a:r>
            <a:r>
              <a:rPr dirty="0" err="1"/>
              <a:t>chế</a:t>
            </a:r>
            <a:r>
              <a:rPr dirty="0"/>
              <a:t> </a:t>
            </a:r>
            <a:r>
              <a:rPr dirty="0" err="1"/>
              <a:t>sinh</a:t>
            </a:r>
            <a:r>
              <a:rPr dirty="0"/>
              <a:t> </a:t>
            </a:r>
            <a:r>
              <a:rPr dirty="0" err="1"/>
              <a:t>học</a:t>
            </a:r>
            <a:r>
              <a:rPr dirty="0"/>
              <a:t> </a:t>
            </a:r>
            <a:r>
              <a:rPr dirty="0" err="1"/>
              <a:t>khác</a:t>
            </a:r>
            <a:r>
              <a:rPr dirty="0"/>
              <a:t> </a:t>
            </a:r>
            <a:r>
              <a:rPr dirty="0" err="1"/>
              <a:t>nhau</a:t>
            </a:r>
            <a:r>
              <a:rPr dirty="0"/>
              <a:t>, </a:t>
            </a:r>
            <a:r>
              <a:rPr dirty="0" err="1"/>
              <a:t>nên</a:t>
            </a:r>
            <a:r>
              <a:rPr dirty="0"/>
              <a:t> </a:t>
            </a:r>
            <a:r>
              <a:rPr dirty="0" err="1"/>
              <a:t>khó</a:t>
            </a:r>
            <a:r>
              <a:rPr dirty="0"/>
              <a:t> </a:t>
            </a:r>
            <a:r>
              <a:rPr dirty="0" err="1"/>
              <a:t>dùng</a:t>
            </a:r>
            <a:r>
              <a:rPr dirty="0"/>
              <a:t> </a:t>
            </a:r>
            <a:r>
              <a:rPr dirty="0" err="1"/>
              <a:t>chung</a:t>
            </a:r>
            <a:r>
              <a:rPr dirty="0"/>
              <a:t> </a:t>
            </a:r>
            <a:r>
              <a:rPr dirty="0" err="1"/>
              <a:t>một</a:t>
            </a:r>
            <a:r>
              <a:rPr dirty="0"/>
              <a:t> </a:t>
            </a:r>
            <a:r>
              <a:rPr dirty="0" err="1"/>
              <a:t>cách</a:t>
            </a:r>
            <a:r>
              <a:rPr dirty="0"/>
              <a:t> </a:t>
            </a:r>
            <a:r>
              <a:rPr dirty="0" err="1"/>
              <a:t>làm</a:t>
            </a:r>
            <a:r>
              <a:rPr dirty="0"/>
              <a:t> </a:t>
            </a:r>
            <a:r>
              <a:rPr dirty="0" err="1"/>
              <a:t>duy</a:t>
            </a:r>
            <a:r>
              <a:rPr dirty="0"/>
              <a:t> </a:t>
            </a:r>
            <a:r>
              <a:rPr dirty="0" err="1"/>
              <a:t>nhất</a:t>
            </a:r>
            <a:r>
              <a:rPr dirty="0"/>
              <a:t> </a:t>
            </a:r>
            <a:r>
              <a:rPr dirty="0" err="1"/>
              <a:t>cho</a:t>
            </a:r>
            <a:r>
              <a:rPr dirty="0"/>
              <a:t> </a:t>
            </a:r>
            <a:r>
              <a:rPr dirty="0" err="1"/>
              <a:t>tất</a:t>
            </a:r>
            <a:r>
              <a:rPr dirty="0"/>
              <a:t> </a:t>
            </a:r>
            <a:r>
              <a:rPr dirty="0" err="1"/>
              <a:t>cả</a:t>
            </a:r>
            <a:r>
              <a:rPr dirty="0"/>
              <a:t> </a:t>
            </a:r>
            <a:r>
              <a:rPr dirty="0" err="1"/>
              <a:t>các</a:t>
            </a:r>
            <a:r>
              <a:rPr dirty="0"/>
              <a:t> </a:t>
            </a:r>
            <a:r>
              <a:rPr dirty="0" err="1"/>
              <a:t>thuốc</a:t>
            </a:r>
            <a:r>
              <a:rPr dirty="0"/>
              <a:t>. </a:t>
            </a:r>
            <a:r>
              <a:rPr dirty="0" err="1"/>
              <a:t>Và</a:t>
            </a:r>
            <a:r>
              <a:rPr dirty="0"/>
              <a:t> bao </a:t>
            </a:r>
            <a:r>
              <a:rPr dirty="0" err="1"/>
              <a:t>trùm</a:t>
            </a:r>
            <a:r>
              <a:rPr dirty="0"/>
              <a:t> </a:t>
            </a:r>
            <a:r>
              <a:rPr dirty="0" err="1"/>
              <a:t>tất</a:t>
            </a:r>
            <a:r>
              <a:rPr dirty="0"/>
              <a:t> </a:t>
            </a:r>
            <a:r>
              <a:rPr dirty="0" err="1"/>
              <a:t>cả</a:t>
            </a:r>
            <a:r>
              <a:rPr dirty="0"/>
              <a:t>, </a:t>
            </a:r>
            <a:r>
              <a:rPr dirty="0" err="1"/>
              <a:t>kết</a:t>
            </a:r>
            <a:r>
              <a:rPr dirty="0"/>
              <a:t> </a:t>
            </a:r>
            <a:r>
              <a:rPr dirty="0" err="1"/>
              <a:t>quả</a:t>
            </a:r>
            <a:r>
              <a:rPr dirty="0"/>
              <a:t> </a:t>
            </a:r>
            <a:r>
              <a:rPr dirty="0" err="1"/>
              <a:t>phải</a:t>
            </a:r>
            <a:r>
              <a:rPr dirty="0"/>
              <a:t> </a:t>
            </a:r>
            <a:r>
              <a:rPr dirty="0" err="1"/>
              <a:t>đúng</a:t>
            </a:r>
            <a:r>
              <a:rPr dirty="0"/>
              <a:t> </a:t>
            </a:r>
            <a:r>
              <a:rPr dirty="0" err="1"/>
              <a:t>cả</a:t>
            </a:r>
            <a:r>
              <a:rPr dirty="0"/>
              <a:t> </a:t>
            </a:r>
            <a:r>
              <a:rPr dirty="0" err="1"/>
              <a:t>trên</a:t>
            </a:r>
            <a:r>
              <a:rPr dirty="0"/>
              <a:t> </a:t>
            </a:r>
            <a:r>
              <a:rPr dirty="0" err="1"/>
              <a:t>những</a:t>
            </a:r>
            <a:r>
              <a:rPr dirty="0"/>
              <a:t> </a:t>
            </a:r>
            <a:r>
              <a:rPr dirty="0" err="1"/>
              <a:t>chủng</a:t>
            </a:r>
            <a:r>
              <a:rPr dirty="0"/>
              <a:t> </a:t>
            </a:r>
            <a:r>
              <a:rPr dirty="0" err="1"/>
              <a:t>mới</a:t>
            </a:r>
            <a:r>
              <a:rPr dirty="0"/>
              <a:t> </a:t>
            </a:r>
            <a:r>
              <a:rPr dirty="0" err="1"/>
              <a:t>chưa</a:t>
            </a:r>
            <a:r>
              <a:rPr dirty="0"/>
              <a:t> </a:t>
            </a:r>
            <a:r>
              <a:rPr dirty="0" err="1"/>
              <a:t>từng</a:t>
            </a:r>
            <a:r>
              <a:rPr dirty="0"/>
              <a:t> </a:t>
            </a:r>
            <a:r>
              <a:rPr dirty="0" err="1"/>
              <a:t>gặp</a:t>
            </a:r>
            <a:r>
              <a:rPr dirty="0"/>
              <a:t>, </a:t>
            </a:r>
            <a:r>
              <a:rPr dirty="0" err="1"/>
              <a:t>chứ</a:t>
            </a:r>
            <a:r>
              <a:rPr dirty="0"/>
              <a:t> </a:t>
            </a:r>
            <a:r>
              <a:rPr dirty="0" err="1"/>
              <a:t>không</a:t>
            </a:r>
            <a:r>
              <a:rPr dirty="0"/>
              <a:t> </a:t>
            </a:r>
            <a:r>
              <a:rPr dirty="0" err="1"/>
              <a:t>chỉ</a:t>
            </a:r>
            <a:r>
              <a:rPr dirty="0"/>
              <a:t> </a:t>
            </a:r>
            <a:r>
              <a:rPr dirty="0" err="1"/>
              <a:t>trên</a:t>
            </a:r>
            <a:r>
              <a:rPr dirty="0"/>
              <a:t> </a:t>
            </a:r>
            <a:r>
              <a:rPr dirty="0" err="1"/>
              <a:t>dữ</a:t>
            </a:r>
            <a:r>
              <a:rPr dirty="0"/>
              <a:t> </a:t>
            </a:r>
            <a:r>
              <a:rPr dirty="0" err="1"/>
              <a:t>liệu</a:t>
            </a:r>
            <a:r>
              <a:rPr dirty="0"/>
              <a:t> </a:t>
            </a:r>
            <a:r>
              <a:rPr dirty="0" err="1"/>
              <a:t>đã</a:t>
            </a:r>
            <a:r>
              <a:rPr dirty="0"/>
              <a:t> </a:t>
            </a:r>
            <a:r>
              <a:rPr dirty="0" err="1"/>
              <a:t>có</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Bây</a:t>
            </a:r>
            <a:r>
              <a:rPr dirty="0"/>
              <a:t> </a:t>
            </a:r>
            <a:r>
              <a:rPr dirty="0" err="1"/>
              <a:t>giờ</a:t>
            </a:r>
            <a:r>
              <a:rPr dirty="0"/>
              <a:t> </a:t>
            </a:r>
            <a:r>
              <a:rPr dirty="0" err="1"/>
              <a:t>em</a:t>
            </a:r>
            <a:r>
              <a:rPr dirty="0"/>
              <a:t> </a:t>
            </a:r>
            <a:r>
              <a:rPr dirty="0" err="1"/>
              <a:t>xin</a:t>
            </a:r>
            <a:r>
              <a:rPr dirty="0"/>
              <a:t> </a:t>
            </a:r>
            <a:r>
              <a:rPr dirty="0" err="1"/>
              <a:t>nói</a:t>
            </a:r>
            <a:r>
              <a:rPr dirty="0"/>
              <a:t> </a:t>
            </a:r>
            <a:r>
              <a:rPr dirty="0" err="1"/>
              <a:t>kỹ</a:t>
            </a:r>
            <a:r>
              <a:rPr dirty="0"/>
              <a:t> </a:t>
            </a:r>
            <a:r>
              <a:rPr dirty="0" err="1"/>
              <a:t>về</a:t>
            </a:r>
            <a:r>
              <a:rPr dirty="0"/>
              <a:t> </a:t>
            </a:r>
            <a:r>
              <a:rPr dirty="0" err="1"/>
              <a:t>dữ</a:t>
            </a:r>
            <a:r>
              <a:rPr dirty="0"/>
              <a:t> </a:t>
            </a:r>
            <a:r>
              <a:rPr dirty="0" err="1"/>
              <a:t>liệu</a:t>
            </a:r>
            <a:endParaRPr dirty="0"/>
          </a:p>
          <a:p>
            <a:r>
              <a:rPr dirty="0" err="1"/>
              <a:t>Dữ</a:t>
            </a:r>
            <a:r>
              <a:rPr dirty="0"/>
              <a:t> </a:t>
            </a:r>
            <a:r>
              <a:rPr dirty="0" err="1"/>
              <a:t>liệu</a:t>
            </a:r>
            <a:r>
              <a:rPr dirty="0"/>
              <a:t> </a:t>
            </a:r>
            <a:r>
              <a:rPr dirty="0" err="1"/>
              <a:t>gốc</a:t>
            </a:r>
            <a:r>
              <a:rPr dirty="0"/>
              <a:t> </a:t>
            </a:r>
            <a:r>
              <a:rPr dirty="0" err="1"/>
              <a:t>gồm</a:t>
            </a:r>
            <a:r>
              <a:rPr dirty="0"/>
              <a:t> 1167 </a:t>
            </a:r>
            <a:r>
              <a:rPr dirty="0" err="1"/>
              <a:t>chủng</a:t>
            </a:r>
            <a:r>
              <a:rPr dirty="0"/>
              <a:t> vi </a:t>
            </a:r>
            <a:r>
              <a:rPr dirty="0" err="1"/>
              <a:t>khuẩn</a:t>
            </a:r>
            <a:r>
              <a:rPr dirty="0"/>
              <a:t> Salmonella — </a:t>
            </a:r>
            <a:r>
              <a:rPr dirty="0" err="1"/>
              <a:t>mỗi</a:t>
            </a:r>
            <a:r>
              <a:rPr dirty="0"/>
              <a:t> </a:t>
            </a:r>
            <a:r>
              <a:rPr dirty="0" err="1"/>
              <a:t>chủng</a:t>
            </a:r>
            <a:r>
              <a:rPr dirty="0"/>
              <a:t> </a:t>
            </a:r>
            <a:r>
              <a:rPr dirty="0" err="1"/>
              <a:t>là</a:t>
            </a:r>
            <a:r>
              <a:rPr dirty="0"/>
              <a:t> </a:t>
            </a:r>
            <a:r>
              <a:rPr dirty="0" err="1"/>
              <a:t>một</a:t>
            </a:r>
            <a:r>
              <a:rPr dirty="0"/>
              <a:t> genome, </a:t>
            </a:r>
            <a:r>
              <a:rPr dirty="0" err="1"/>
              <a:t>tức</a:t>
            </a:r>
            <a:r>
              <a:rPr dirty="0"/>
              <a:t> </a:t>
            </a:r>
            <a:r>
              <a:rPr dirty="0" err="1"/>
              <a:t>là</a:t>
            </a:r>
            <a:r>
              <a:rPr dirty="0"/>
              <a:t> </a:t>
            </a:r>
            <a:r>
              <a:rPr dirty="0" err="1"/>
              <a:t>toàn</a:t>
            </a:r>
            <a:r>
              <a:rPr dirty="0"/>
              <a:t> </a:t>
            </a:r>
            <a:r>
              <a:rPr dirty="0" err="1"/>
              <a:t>bộ</a:t>
            </a:r>
            <a:r>
              <a:rPr dirty="0"/>
              <a:t> </a:t>
            </a:r>
            <a:r>
              <a:rPr dirty="0" err="1"/>
              <a:t>hệ</a:t>
            </a:r>
            <a:r>
              <a:rPr dirty="0"/>
              <a:t> gen </a:t>
            </a:r>
            <a:r>
              <a:rPr dirty="0" err="1"/>
              <a:t>của</a:t>
            </a:r>
            <a:r>
              <a:rPr dirty="0"/>
              <a:t> </a:t>
            </a:r>
            <a:r>
              <a:rPr dirty="0" err="1"/>
              <a:t>một</a:t>
            </a:r>
            <a:r>
              <a:rPr dirty="0"/>
              <a:t> con vi </a:t>
            </a:r>
            <a:r>
              <a:rPr dirty="0" err="1"/>
              <a:t>khuẩn</a:t>
            </a:r>
            <a:r>
              <a:rPr dirty="0"/>
              <a:t> </a:t>
            </a:r>
            <a:r>
              <a:rPr dirty="0" err="1"/>
              <a:t>đã</a:t>
            </a:r>
            <a:r>
              <a:rPr dirty="0"/>
              <a:t> </a:t>
            </a:r>
            <a:r>
              <a:rPr dirty="0" err="1"/>
              <a:t>được</a:t>
            </a:r>
            <a:r>
              <a:rPr dirty="0"/>
              <a:t> </a:t>
            </a:r>
            <a:r>
              <a:rPr dirty="0" err="1"/>
              <a:t>giải</a:t>
            </a:r>
            <a:r>
              <a:rPr dirty="0"/>
              <a:t> </a:t>
            </a:r>
            <a:r>
              <a:rPr dirty="0" err="1"/>
              <a:t>trình</a:t>
            </a:r>
            <a:r>
              <a:rPr dirty="0"/>
              <a:t> </a:t>
            </a:r>
            <a:r>
              <a:rPr dirty="0" err="1"/>
              <a:t>tự</a:t>
            </a:r>
            <a:r>
              <a:rPr dirty="0"/>
              <a:t>. Với </a:t>
            </a:r>
            <a:r>
              <a:rPr dirty="0" err="1"/>
              <a:t>năm</a:t>
            </a:r>
            <a:r>
              <a:rPr dirty="0"/>
              <a:t> </a:t>
            </a:r>
            <a:r>
              <a:rPr dirty="0" err="1"/>
              <a:t>loại</a:t>
            </a:r>
            <a:r>
              <a:rPr dirty="0"/>
              <a:t> </a:t>
            </a:r>
            <a:r>
              <a:rPr dirty="0" err="1"/>
              <a:t>thuốc</a:t>
            </a:r>
            <a:r>
              <a:rPr dirty="0"/>
              <a:t>: AMP, AUG, AXO, CHL </a:t>
            </a:r>
            <a:r>
              <a:rPr dirty="0" err="1"/>
              <a:t>và</a:t>
            </a:r>
            <a:r>
              <a:rPr dirty="0"/>
              <a:t> FOX. </a:t>
            </a:r>
            <a:r>
              <a:rPr dirty="0" err="1"/>
              <a:t>Mỗi</a:t>
            </a:r>
            <a:r>
              <a:rPr dirty="0"/>
              <a:t> </a:t>
            </a:r>
            <a:r>
              <a:rPr dirty="0" err="1"/>
              <a:t>chủng</a:t>
            </a:r>
            <a:r>
              <a:rPr dirty="0"/>
              <a:t>, </a:t>
            </a:r>
            <a:r>
              <a:rPr dirty="0" err="1"/>
              <a:t>với</a:t>
            </a:r>
            <a:r>
              <a:rPr dirty="0"/>
              <a:t> </a:t>
            </a:r>
            <a:r>
              <a:rPr dirty="0" err="1"/>
              <a:t>mỗi</a:t>
            </a:r>
            <a:r>
              <a:rPr dirty="0"/>
              <a:t> </a:t>
            </a:r>
            <a:r>
              <a:rPr dirty="0" err="1"/>
              <a:t>thuốc</a:t>
            </a:r>
            <a:r>
              <a:rPr dirty="0"/>
              <a:t>, </a:t>
            </a:r>
            <a:r>
              <a:rPr dirty="0" err="1"/>
              <a:t>đã</a:t>
            </a:r>
            <a:r>
              <a:rPr dirty="0"/>
              <a:t> </a:t>
            </a:r>
            <a:r>
              <a:rPr dirty="0" err="1"/>
              <a:t>được</a:t>
            </a:r>
            <a:r>
              <a:rPr dirty="0"/>
              <a:t> </a:t>
            </a:r>
            <a:r>
              <a:rPr dirty="0" err="1"/>
              <a:t>phòng</a:t>
            </a:r>
            <a:r>
              <a:rPr dirty="0"/>
              <a:t> </a:t>
            </a:r>
            <a:r>
              <a:rPr dirty="0" err="1"/>
              <a:t>thí</a:t>
            </a:r>
            <a:r>
              <a:rPr dirty="0"/>
              <a:t> </a:t>
            </a:r>
            <a:r>
              <a:rPr dirty="0" err="1"/>
              <a:t>nghiệm</a:t>
            </a:r>
            <a:r>
              <a:rPr dirty="0"/>
              <a:t> </a:t>
            </a:r>
            <a:r>
              <a:rPr dirty="0" err="1"/>
              <a:t>xác</a:t>
            </a:r>
            <a:r>
              <a:rPr dirty="0"/>
              <a:t> </a:t>
            </a:r>
            <a:r>
              <a:rPr dirty="0" err="1"/>
              <a:t>định</a:t>
            </a:r>
            <a:r>
              <a:rPr dirty="0"/>
              <a:t> </a:t>
            </a:r>
            <a:r>
              <a:rPr dirty="0" err="1"/>
              <a:t>là</a:t>
            </a:r>
            <a:r>
              <a:rPr dirty="0"/>
              <a:t> </a:t>
            </a:r>
            <a:r>
              <a:rPr dirty="0" err="1"/>
              <a:t>kháng</a:t>
            </a:r>
            <a:r>
              <a:rPr dirty="0"/>
              <a:t> hay </a:t>
            </a:r>
            <a:r>
              <a:rPr dirty="0" err="1"/>
              <a:t>nhạy</a:t>
            </a:r>
            <a:r>
              <a:rPr dirty="0"/>
              <a:t> — </a:t>
            </a:r>
            <a:r>
              <a:rPr dirty="0" err="1"/>
              <a:t>đó</a:t>
            </a:r>
            <a:r>
              <a:rPr dirty="0"/>
              <a:t> </a:t>
            </a:r>
            <a:r>
              <a:rPr dirty="0" err="1"/>
              <a:t>là</a:t>
            </a:r>
            <a:r>
              <a:rPr dirty="0"/>
              <a:t> </a:t>
            </a:r>
            <a:r>
              <a:rPr dirty="0" err="1"/>
              <a:t>nhãn</a:t>
            </a:r>
            <a:r>
              <a:rPr dirty="0"/>
              <a:t> </a:t>
            </a:r>
            <a:r>
              <a:rPr dirty="0" err="1"/>
              <a:t>để</a:t>
            </a:r>
            <a:r>
              <a:rPr dirty="0"/>
              <a:t> </a:t>
            </a:r>
            <a:r>
              <a:rPr dirty="0" err="1"/>
              <a:t>mô</a:t>
            </a:r>
            <a:r>
              <a:rPr dirty="0"/>
              <a:t> </a:t>
            </a:r>
            <a:r>
              <a:rPr dirty="0" err="1"/>
              <a:t>hình</a:t>
            </a:r>
            <a:r>
              <a:rPr dirty="0"/>
              <a:t> </a:t>
            </a:r>
            <a:r>
              <a:rPr dirty="0" err="1"/>
              <a:t>học</a:t>
            </a:r>
            <a:r>
              <a:rPr dirty="0"/>
              <a:t>.</a:t>
            </a:r>
          </a:p>
          <a:p>
            <a:r>
              <a:rPr dirty="0" err="1"/>
              <a:t>dữ</a:t>
            </a:r>
            <a:r>
              <a:rPr dirty="0"/>
              <a:t> </a:t>
            </a:r>
            <a:r>
              <a:rPr dirty="0" err="1"/>
              <a:t>liệu</a:t>
            </a:r>
            <a:r>
              <a:rPr dirty="0"/>
              <a:t> </a:t>
            </a:r>
            <a:r>
              <a:rPr dirty="0" err="1"/>
              <a:t>đã</a:t>
            </a:r>
            <a:r>
              <a:rPr dirty="0"/>
              <a:t> </a:t>
            </a:r>
            <a:r>
              <a:rPr dirty="0" err="1"/>
              <a:t>được</a:t>
            </a:r>
            <a:r>
              <a:rPr dirty="0"/>
              <a:t> </a:t>
            </a:r>
            <a:r>
              <a:rPr dirty="0" err="1"/>
              <a:t>xử</a:t>
            </a:r>
            <a:r>
              <a:rPr dirty="0"/>
              <a:t> </a:t>
            </a:r>
            <a:r>
              <a:rPr dirty="0" err="1"/>
              <a:t>lý</a:t>
            </a:r>
            <a:r>
              <a:rPr dirty="0"/>
              <a:t> </a:t>
            </a:r>
            <a:r>
              <a:rPr dirty="0" err="1"/>
              <a:t>sẵn</a:t>
            </a:r>
            <a:r>
              <a:rPr dirty="0"/>
              <a:t> </a:t>
            </a:r>
            <a:r>
              <a:rPr dirty="0" err="1"/>
              <a:t>thành</a:t>
            </a:r>
            <a:r>
              <a:rPr dirty="0"/>
              <a:t> </a:t>
            </a:r>
            <a:r>
              <a:rPr dirty="0" err="1"/>
              <a:t>các</a:t>
            </a:r>
            <a:r>
              <a:rPr dirty="0"/>
              <a:t> </a:t>
            </a:r>
            <a:r>
              <a:rPr dirty="0" err="1"/>
              <a:t>bảng</a:t>
            </a:r>
            <a:r>
              <a:rPr dirty="0"/>
              <a:t> </a:t>
            </a:r>
            <a:r>
              <a:rPr dirty="0" err="1"/>
              <a:t>số</a:t>
            </a:r>
            <a:r>
              <a:rPr dirty="0"/>
              <a:t>. </a:t>
            </a:r>
            <a:r>
              <a:rPr dirty="0" err="1"/>
              <a:t>Có</a:t>
            </a:r>
            <a:r>
              <a:rPr dirty="0"/>
              <a:t> </a:t>
            </a:r>
            <a:r>
              <a:rPr dirty="0" err="1"/>
              <a:t>ba</a:t>
            </a:r>
            <a:r>
              <a:rPr dirty="0"/>
              <a:t> </a:t>
            </a:r>
            <a:r>
              <a:rPr dirty="0" err="1"/>
              <a:t>cách</a:t>
            </a:r>
            <a:r>
              <a:rPr dirty="0"/>
              <a:t> </a:t>
            </a:r>
            <a:r>
              <a:rPr dirty="0" err="1"/>
              <a:t>mô</a:t>
            </a:r>
            <a:r>
              <a:rPr dirty="0"/>
              <a:t> </a:t>
            </a:r>
            <a:r>
              <a:rPr dirty="0" err="1"/>
              <a:t>tả</a:t>
            </a:r>
            <a:r>
              <a:rPr dirty="0"/>
              <a:t> </a:t>
            </a:r>
            <a:r>
              <a:rPr dirty="0" err="1"/>
              <a:t>một</a:t>
            </a:r>
            <a:r>
              <a:rPr dirty="0"/>
              <a:t> genome, </a:t>
            </a:r>
            <a:r>
              <a:rPr dirty="0" err="1"/>
              <a:t>ba</a:t>
            </a:r>
            <a:r>
              <a:rPr dirty="0"/>
              <a:t> </a:t>
            </a:r>
            <a:r>
              <a:rPr dirty="0" err="1"/>
              <a:t>loại</a:t>
            </a:r>
            <a:r>
              <a:rPr dirty="0"/>
              <a:t> </a:t>
            </a:r>
            <a:r>
              <a:rPr dirty="0" err="1"/>
              <a:t>đặc</a:t>
            </a:r>
            <a:r>
              <a:rPr dirty="0"/>
              <a:t> </a:t>
            </a:r>
            <a:r>
              <a:rPr dirty="0" err="1"/>
              <a:t>trưng</a:t>
            </a:r>
            <a:r>
              <a:rPr dirty="0"/>
              <a:t>. </a:t>
            </a:r>
            <a:r>
              <a:rPr dirty="0" err="1"/>
              <a:t>Một</a:t>
            </a:r>
            <a:r>
              <a:rPr dirty="0"/>
              <a:t> </a:t>
            </a:r>
            <a:r>
              <a:rPr dirty="0" err="1"/>
              <a:t>là</a:t>
            </a:r>
            <a:r>
              <a:rPr dirty="0"/>
              <a:t> accessory genes — </a:t>
            </a:r>
            <a:r>
              <a:rPr dirty="0" err="1"/>
              <a:t>các</a:t>
            </a:r>
            <a:r>
              <a:rPr dirty="0"/>
              <a:t> gene '</a:t>
            </a:r>
            <a:r>
              <a:rPr dirty="0" err="1"/>
              <a:t>phụ</a:t>
            </a:r>
            <a:r>
              <a:rPr dirty="0"/>
              <a:t>', </a:t>
            </a:r>
            <a:r>
              <a:rPr dirty="0" err="1"/>
              <a:t>chỉ</a:t>
            </a:r>
            <a:r>
              <a:rPr dirty="0"/>
              <a:t> </a:t>
            </a:r>
            <a:r>
              <a:rPr dirty="0" err="1"/>
              <a:t>một</a:t>
            </a:r>
            <a:r>
              <a:rPr dirty="0"/>
              <a:t> </a:t>
            </a:r>
            <a:r>
              <a:rPr dirty="0" err="1"/>
              <a:t>số</a:t>
            </a:r>
            <a:r>
              <a:rPr dirty="0"/>
              <a:t> </a:t>
            </a:r>
            <a:r>
              <a:rPr dirty="0" err="1"/>
              <a:t>chủng</a:t>
            </a:r>
            <a:r>
              <a:rPr dirty="0"/>
              <a:t> </a:t>
            </a:r>
            <a:r>
              <a:rPr dirty="0" err="1"/>
              <a:t>có</a:t>
            </a:r>
            <a:r>
              <a:rPr dirty="0"/>
              <a:t>, </a:t>
            </a:r>
            <a:r>
              <a:rPr dirty="0" err="1"/>
              <a:t>thường</a:t>
            </a:r>
            <a:r>
              <a:rPr dirty="0"/>
              <a:t> </a:t>
            </a:r>
            <a:r>
              <a:rPr dirty="0" err="1"/>
              <a:t>là</a:t>
            </a:r>
            <a:r>
              <a:rPr dirty="0"/>
              <a:t> gene di </a:t>
            </a:r>
            <a:r>
              <a:rPr dirty="0" err="1"/>
              <a:t>động</a:t>
            </a:r>
            <a:r>
              <a:rPr dirty="0"/>
              <a:t> </a:t>
            </a:r>
            <a:r>
              <a:rPr dirty="0" err="1"/>
              <a:t>nằm</a:t>
            </a:r>
            <a:r>
              <a:rPr dirty="0"/>
              <a:t> </a:t>
            </a:r>
            <a:r>
              <a:rPr dirty="0" err="1"/>
              <a:t>trên</a:t>
            </a:r>
            <a:r>
              <a:rPr dirty="0"/>
              <a:t> plasmid, </a:t>
            </a:r>
            <a:r>
              <a:rPr dirty="0" err="1"/>
              <a:t>và</a:t>
            </a:r>
            <a:r>
              <a:rPr dirty="0"/>
              <a:t> </a:t>
            </a:r>
            <a:r>
              <a:rPr dirty="0" err="1"/>
              <a:t>đây</a:t>
            </a:r>
            <a:r>
              <a:rPr dirty="0"/>
              <a:t> </a:t>
            </a:r>
            <a:r>
              <a:rPr dirty="0" err="1"/>
              <a:t>là</a:t>
            </a:r>
            <a:r>
              <a:rPr dirty="0"/>
              <a:t> </a:t>
            </a:r>
            <a:r>
              <a:rPr dirty="0" err="1"/>
              <a:t>nơi</a:t>
            </a:r>
            <a:r>
              <a:rPr dirty="0"/>
              <a:t> hay </a:t>
            </a:r>
            <a:r>
              <a:rPr dirty="0" err="1"/>
              <a:t>chứa</a:t>
            </a:r>
            <a:r>
              <a:rPr dirty="0"/>
              <a:t> gene </a:t>
            </a:r>
            <a:r>
              <a:rPr dirty="0" err="1"/>
              <a:t>kháng</a:t>
            </a:r>
            <a:r>
              <a:rPr dirty="0"/>
              <a:t> </a:t>
            </a:r>
            <a:r>
              <a:rPr dirty="0" err="1"/>
              <a:t>thuốc</a:t>
            </a:r>
            <a:r>
              <a:rPr dirty="0"/>
              <a:t>. Hai </a:t>
            </a:r>
            <a:r>
              <a:rPr dirty="0" err="1"/>
              <a:t>là</a:t>
            </a:r>
            <a:r>
              <a:rPr dirty="0"/>
              <a:t> core SNP — </a:t>
            </a:r>
            <a:r>
              <a:rPr dirty="0" err="1"/>
              <a:t>các</a:t>
            </a:r>
            <a:r>
              <a:rPr dirty="0"/>
              <a:t> </a:t>
            </a:r>
            <a:r>
              <a:rPr dirty="0" err="1"/>
              <a:t>điểm</a:t>
            </a:r>
            <a:r>
              <a:rPr dirty="0"/>
              <a:t> </a:t>
            </a:r>
            <a:r>
              <a:rPr dirty="0" err="1"/>
              <a:t>khác</a:t>
            </a:r>
            <a:r>
              <a:rPr dirty="0"/>
              <a:t> </a:t>
            </a:r>
            <a:r>
              <a:rPr dirty="0" err="1"/>
              <a:t>biệt</a:t>
            </a:r>
            <a:r>
              <a:rPr dirty="0"/>
              <a:t> </a:t>
            </a:r>
            <a:r>
              <a:rPr dirty="0" err="1"/>
              <a:t>nhỏ</a:t>
            </a:r>
            <a:r>
              <a:rPr dirty="0"/>
              <a:t> </a:t>
            </a:r>
            <a:r>
              <a:rPr dirty="0" err="1"/>
              <a:t>trong</a:t>
            </a:r>
            <a:r>
              <a:rPr dirty="0"/>
              <a:t> </a:t>
            </a:r>
            <a:r>
              <a:rPr dirty="0" err="1"/>
              <a:t>bộ</a:t>
            </a:r>
            <a:r>
              <a:rPr dirty="0"/>
              <a:t> gene '</a:t>
            </a:r>
            <a:r>
              <a:rPr dirty="0" err="1"/>
              <a:t>lõi</a:t>
            </a:r>
            <a:r>
              <a:rPr dirty="0"/>
              <a:t>' </a:t>
            </a:r>
            <a:r>
              <a:rPr dirty="0" err="1"/>
              <a:t>mà</a:t>
            </a:r>
            <a:r>
              <a:rPr dirty="0"/>
              <a:t> </a:t>
            </a:r>
            <a:r>
              <a:rPr dirty="0" err="1"/>
              <a:t>chủng</a:t>
            </a:r>
            <a:r>
              <a:rPr dirty="0"/>
              <a:t> </a:t>
            </a:r>
            <a:r>
              <a:rPr dirty="0" err="1"/>
              <a:t>nào</a:t>
            </a:r>
            <a:r>
              <a:rPr dirty="0"/>
              <a:t> </a:t>
            </a:r>
            <a:r>
              <a:rPr dirty="0" err="1"/>
              <a:t>cũng</a:t>
            </a:r>
            <a:r>
              <a:rPr dirty="0"/>
              <a:t> </a:t>
            </a:r>
            <a:r>
              <a:rPr dirty="0" err="1"/>
              <a:t>có</a:t>
            </a:r>
            <a:r>
              <a:rPr dirty="0"/>
              <a:t>; </a:t>
            </a:r>
            <a:r>
              <a:rPr dirty="0" err="1"/>
              <a:t>cái</a:t>
            </a:r>
            <a:r>
              <a:rPr dirty="0"/>
              <a:t> </a:t>
            </a:r>
            <a:r>
              <a:rPr dirty="0" err="1"/>
              <a:t>này</a:t>
            </a:r>
            <a:r>
              <a:rPr dirty="0"/>
              <a:t> </a:t>
            </a:r>
            <a:r>
              <a:rPr dirty="0" err="1"/>
              <a:t>phản</a:t>
            </a:r>
            <a:r>
              <a:rPr dirty="0"/>
              <a:t> </a:t>
            </a:r>
            <a:r>
              <a:rPr dirty="0" err="1"/>
              <a:t>ánh</a:t>
            </a:r>
            <a:r>
              <a:rPr dirty="0"/>
              <a:t> </a:t>
            </a:r>
            <a:r>
              <a:rPr dirty="0" err="1"/>
              <a:t>quan</a:t>
            </a:r>
            <a:r>
              <a:rPr dirty="0"/>
              <a:t> </a:t>
            </a:r>
            <a:r>
              <a:rPr dirty="0" err="1"/>
              <a:t>hệ</a:t>
            </a:r>
            <a:r>
              <a:rPr dirty="0"/>
              <a:t> </a:t>
            </a:r>
            <a:r>
              <a:rPr dirty="0" err="1"/>
              <a:t>họ</a:t>
            </a:r>
            <a:r>
              <a:rPr dirty="0"/>
              <a:t> </a:t>
            </a:r>
            <a:r>
              <a:rPr dirty="0" err="1"/>
              <a:t>hàng</a:t>
            </a:r>
            <a:r>
              <a:rPr dirty="0"/>
              <a:t> </a:t>
            </a:r>
            <a:r>
              <a:rPr dirty="0" err="1"/>
              <a:t>giữa</a:t>
            </a:r>
            <a:r>
              <a:rPr dirty="0"/>
              <a:t> </a:t>
            </a:r>
            <a:r>
              <a:rPr dirty="0" err="1"/>
              <a:t>các</a:t>
            </a:r>
            <a:r>
              <a:rPr dirty="0"/>
              <a:t> </a:t>
            </a:r>
            <a:r>
              <a:rPr dirty="0" err="1"/>
              <a:t>chủng</a:t>
            </a:r>
            <a:r>
              <a:rPr dirty="0"/>
              <a:t>. Ba </a:t>
            </a:r>
            <a:r>
              <a:rPr dirty="0" err="1"/>
              <a:t>là</a:t>
            </a:r>
            <a:r>
              <a:rPr dirty="0"/>
              <a:t> 50 marker 50 gene do </a:t>
            </a:r>
            <a:r>
              <a:rPr dirty="0" err="1"/>
              <a:t>bài</a:t>
            </a:r>
            <a:r>
              <a:rPr dirty="0"/>
              <a:t> </a:t>
            </a:r>
            <a:r>
              <a:rPr dirty="0" err="1"/>
              <a:t>báo</a:t>
            </a:r>
            <a:r>
              <a:rPr dirty="0"/>
              <a:t> </a:t>
            </a:r>
            <a:r>
              <a:rPr dirty="0" err="1"/>
              <a:t>gốc</a:t>
            </a:r>
            <a:r>
              <a:rPr dirty="0"/>
              <a:t> </a:t>
            </a:r>
            <a:r>
              <a:rPr dirty="0" err="1"/>
              <a:t>chọn</a:t>
            </a:r>
            <a:r>
              <a:rPr dirty="0"/>
              <a:t> </a:t>
            </a:r>
            <a:r>
              <a:rPr dirty="0" err="1"/>
              <a:t>sẵn</a:t>
            </a:r>
            <a:r>
              <a:rPr dirty="0"/>
              <a:t>, </a:t>
            </a:r>
            <a:r>
              <a:rPr dirty="0" err="1"/>
              <a:t>được</a:t>
            </a:r>
            <a:r>
              <a:rPr dirty="0"/>
              <a:t> </a:t>
            </a:r>
            <a:r>
              <a:rPr dirty="0" err="1"/>
              <a:t>cho</a:t>
            </a:r>
            <a:r>
              <a:rPr dirty="0"/>
              <a:t> </a:t>
            </a:r>
            <a:r>
              <a:rPr dirty="0" err="1"/>
              <a:t>là</a:t>
            </a:r>
            <a:r>
              <a:rPr dirty="0"/>
              <a:t> </a:t>
            </a:r>
            <a:r>
              <a:rPr dirty="0" err="1"/>
              <a:t>liên</a:t>
            </a:r>
            <a:r>
              <a:rPr dirty="0"/>
              <a:t> </a:t>
            </a:r>
            <a:r>
              <a:rPr dirty="0" err="1"/>
              <a:t>quan</a:t>
            </a:r>
            <a:r>
              <a:rPr dirty="0"/>
              <a:t> </a:t>
            </a:r>
            <a:r>
              <a:rPr dirty="0" err="1"/>
              <a:t>trực</a:t>
            </a:r>
            <a:r>
              <a:rPr dirty="0"/>
              <a:t> </a:t>
            </a:r>
            <a:r>
              <a:rPr dirty="0" err="1"/>
              <a:t>tiếp</a:t>
            </a:r>
            <a:r>
              <a:rPr dirty="0"/>
              <a:t> </a:t>
            </a:r>
            <a:r>
              <a:rPr dirty="0" err="1"/>
              <a:t>tới</a:t>
            </a:r>
            <a:r>
              <a:rPr dirty="0"/>
              <a:t> </a:t>
            </a:r>
            <a:r>
              <a:rPr dirty="0" err="1"/>
              <a:t>kháng</a:t>
            </a:r>
            <a:r>
              <a:rPr dirty="0"/>
              <a:t> </a:t>
            </a:r>
            <a:r>
              <a:rPr dirty="0" err="1"/>
              <a:t>thuốc</a:t>
            </a:r>
            <a:r>
              <a:rPr dirty="0"/>
              <a:t>, </a:t>
            </a:r>
            <a:r>
              <a:rPr dirty="0" err="1"/>
              <a:t>và</a:t>
            </a:r>
            <a:r>
              <a:rPr dirty="0"/>
              <a:t> </a:t>
            </a:r>
            <a:r>
              <a:rPr dirty="0" err="1"/>
              <a:t>đây</a:t>
            </a:r>
            <a:r>
              <a:rPr dirty="0"/>
              <a:t> </a:t>
            </a:r>
            <a:r>
              <a:rPr dirty="0" err="1"/>
              <a:t>là</a:t>
            </a:r>
            <a:r>
              <a:rPr dirty="0"/>
              <a:t> baseline </a:t>
            </a:r>
            <a:r>
              <a:rPr dirty="0" err="1"/>
              <a:t>mạnh</a:t>
            </a:r>
            <a:r>
              <a:rPr dirty="0"/>
              <a:t>.</a:t>
            </a:r>
          </a:p>
          <a:p>
            <a:r>
              <a:rPr dirty="0"/>
              <a:t>Ngoài </a:t>
            </a:r>
            <a:r>
              <a:rPr dirty="0" err="1"/>
              <a:t>bộ</a:t>
            </a:r>
            <a:r>
              <a:rPr dirty="0"/>
              <a:t> </a:t>
            </a:r>
            <a:r>
              <a:rPr dirty="0" err="1"/>
              <a:t>gốc</a:t>
            </a:r>
            <a:r>
              <a:rPr dirty="0"/>
              <a:t>, </a:t>
            </a:r>
            <a:r>
              <a:rPr dirty="0" err="1"/>
              <a:t>em</a:t>
            </a:r>
            <a:r>
              <a:rPr dirty="0"/>
              <a:t> </a:t>
            </a:r>
            <a:r>
              <a:rPr dirty="0" err="1"/>
              <a:t>còn</a:t>
            </a:r>
            <a:r>
              <a:rPr dirty="0"/>
              <a:t> </a:t>
            </a:r>
            <a:r>
              <a:rPr dirty="0" err="1"/>
              <a:t>lấy</a:t>
            </a:r>
            <a:r>
              <a:rPr dirty="0"/>
              <a:t> </a:t>
            </a:r>
            <a:r>
              <a:rPr dirty="0" err="1"/>
              <a:t>thêm</a:t>
            </a:r>
            <a:r>
              <a:rPr dirty="0"/>
              <a:t> </a:t>
            </a:r>
            <a:r>
              <a:rPr dirty="0" err="1"/>
              <a:t>dữ</a:t>
            </a:r>
            <a:r>
              <a:rPr dirty="0"/>
              <a:t> </a:t>
            </a:r>
            <a:r>
              <a:rPr dirty="0" err="1"/>
              <a:t>liệu</a:t>
            </a:r>
            <a:r>
              <a:rPr dirty="0"/>
              <a:t> </a:t>
            </a:r>
            <a:r>
              <a:rPr dirty="0" err="1"/>
              <a:t>bên</a:t>
            </a:r>
            <a:r>
              <a:rPr dirty="0"/>
              <a:t> </a:t>
            </a:r>
            <a:r>
              <a:rPr dirty="0" err="1"/>
              <a:t>ngoài</a:t>
            </a:r>
            <a:r>
              <a:rPr dirty="0"/>
              <a:t> </a:t>
            </a:r>
            <a:r>
              <a:rPr dirty="0" err="1"/>
              <a:t>từ</a:t>
            </a:r>
            <a:r>
              <a:rPr dirty="0"/>
              <a:t> </a:t>
            </a:r>
            <a:r>
              <a:rPr dirty="0" err="1"/>
              <a:t>ngân</a:t>
            </a:r>
            <a:r>
              <a:rPr dirty="0"/>
              <a:t> </a:t>
            </a:r>
            <a:r>
              <a:rPr dirty="0" err="1"/>
              <a:t>hàng</a:t>
            </a:r>
            <a:r>
              <a:rPr dirty="0"/>
              <a:t> </a:t>
            </a:r>
            <a:r>
              <a:rPr dirty="0" err="1"/>
              <a:t>công</a:t>
            </a:r>
            <a:r>
              <a:rPr dirty="0"/>
              <a:t> </a:t>
            </a:r>
            <a:r>
              <a:rPr dirty="0" err="1"/>
              <a:t>khai</a:t>
            </a:r>
            <a:r>
              <a:rPr dirty="0"/>
              <a:t> BV-BRC </a:t>
            </a:r>
            <a:r>
              <a:rPr dirty="0" err="1"/>
              <a:t>cho</a:t>
            </a:r>
            <a:r>
              <a:rPr dirty="0"/>
              <a:t> </a:t>
            </a:r>
            <a:r>
              <a:rPr dirty="0" err="1"/>
              <a:t>năm</a:t>
            </a:r>
            <a:r>
              <a:rPr dirty="0"/>
              <a:t> </a:t>
            </a:r>
            <a:r>
              <a:rPr dirty="0" err="1"/>
              <a:t>thuốc</a:t>
            </a:r>
            <a:r>
              <a:rPr dirty="0"/>
              <a:t> </a:t>
            </a:r>
            <a:r>
              <a:rPr dirty="0" err="1"/>
              <a:t>khác</a:t>
            </a:r>
            <a:r>
              <a:rPr dirty="0"/>
              <a:t> </a:t>
            </a:r>
            <a:r>
              <a:rPr dirty="0" err="1"/>
              <a:t>nữa</a:t>
            </a:r>
            <a:r>
              <a:rPr dirty="0"/>
              <a:t>: TET, CIP, STR, GEN, NAL — </a:t>
            </a:r>
            <a:r>
              <a:rPr dirty="0" err="1"/>
              <a:t>để</a:t>
            </a:r>
            <a:r>
              <a:rPr dirty="0"/>
              <a:t> </a:t>
            </a:r>
            <a:r>
              <a:rPr dirty="0" err="1"/>
              <a:t>kiểm</a:t>
            </a:r>
            <a:r>
              <a:rPr dirty="0"/>
              <a:t> </a:t>
            </a:r>
            <a:r>
              <a:rPr dirty="0" err="1"/>
              <a:t>tra</a:t>
            </a:r>
            <a:r>
              <a:rPr dirty="0"/>
              <a:t> </a:t>
            </a:r>
            <a:r>
              <a:rPr dirty="0" err="1"/>
              <a:t>độc</a:t>
            </a:r>
            <a:r>
              <a:rPr dirty="0"/>
              <a:t> </a:t>
            </a:r>
            <a:r>
              <a:rPr dirty="0" err="1"/>
              <a:t>lập</a:t>
            </a:r>
            <a:r>
              <a:rPr dirty="0"/>
              <a:t>.</a:t>
            </a:r>
          </a:p>
          <a:p>
            <a:r>
              <a:rPr dirty="0"/>
              <a:t>Một </a:t>
            </a:r>
            <a:r>
              <a:rPr dirty="0" err="1"/>
              <a:t>điểm</a:t>
            </a:r>
            <a:r>
              <a:rPr dirty="0"/>
              <a:t> </a:t>
            </a:r>
            <a:r>
              <a:rPr dirty="0" err="1"/>
              <a:t>cực</a:t>
            </a:r>
            <a:r>
              <a:rPr dirty="0"/>
              <a:t> </a:t>
            </a:r>
            <a:r>
              <a:rPr dirty="0" err="1"/>
              <a:t>kỳ</a:t>
            </a:r>
            <a:r>
              <a:rPr dirty="0"/>
              <a:t> </a:t>
            </a:r>
            <a:r>
              <a:rPr dirty="0" err="1"/>
              <a:t>quan</a:t>
            </a:r>
            <a:r>
              <a:rPr dirty="0"/>
              <a:t> </a:t>
            </a:r>
            <a:r>
              <a:rPr dirty="0" err="1"/>
              <a:t>trọng</a:t>
            </a:r>
            <a:r>
              <a:rPr dirty="0"/>
              <a:t>: </a:t>
            </a:r>
            <a:r>
              <a:rPr dirty="0" err="1"/>
              <a:t>dữ</a:t>
            </a:r>
            <a:r>
              <a:rPr dirty="0"/>
              <a:t> </a:t>
            </a:r>
            <a:r>
              <a:rPr dirty="0" err="1"/>
              <a:t>liệu</a:t>
            </a:r>
            <a:r>
              <a:rPr dirty="0"/>
              <a:t> </a:t>
            </a:r>
            <a:r>
              <a:rPr dirty="0" err="1"/>
              <a:t>lệch</a:t>
            </a:r>
            <a:r>
              <a:rPr dirty="0"/>
              <a:t> </a:t>
            </a:r>
            <a:r>
              <a:rPr dirty="0" err="1"/>
              <a:t>lớp</a:t>
            </a:r>
            <a:r>
              <a:rPr dirty="0"/>
              <a:t> </a:t>
            </a:r>
            <a:r>
              <a:rPr dirty="0" err="1"/>
              <a:t>mạnh</a:t>
            </a:r>
            <a:r>
              <a:rPr dirty="0"/>
              <a:t>. </a:t>
            </a:r>
            <a:r>
              <a:rPr dirty="0" err="1"/>
              <a:t>Số</a:t>
            </a:r>
            <a:r>
              <a:rPr dirty="0"/>
              <a:t> </a:t>
            </a:r>
            <a:r>
              <a:rPr dirty="0" err="1"/>
              <a:t>chủng</a:t>
            </a:r>
            <a:r>
              <a:rPr dirty="0"/>
              <a:t> </a:t>
            </a:r>
            <a:r>
              <a:rPr dirty="0" err="1"/>
              <a:t>kháng</a:t>
            </a:r>
            <a:r>
              <a:rPr dirty="0"/>
              <a:t> </a:t>
            </a:r>
            <a:r>
              <a:rPr dirty="0" err="1"/>
              <a:t>ít</a:t>
            </a:r>
            <a:r>
              <a:rPr dirty="0"/>
              <a:t> </a:t>
            </a:r>
            <a:r>
              <a:rPr dirty="0" err="1"/>
              <a:t>hơn</a:t>
            </a:r>
            <a:r>
              <a:rPr dirty="0"/>
              <a:t> </a:t>
            </a:r>
            <a:r>
              <a:rPr dirty="0" err="1"/>
              <a:t>hẳn</a:t>
            </a:r>
            <a:r>
              <a:rPr dirty="0"/>
              <a:t> </a:t>
            </a:r>
            <a:r>
              <a:rPr dirty="0" err="1"/>
              <a:t>số</a:t>
            </a:r>
            <a:r>
              <a:rPr dirty="0"/>
              <a:t> </a:t>
            </a:r>
            <a:r>
              <a:rPr dirty="0" err="1"/>
              <a:t>chủng</a:t>
            </a:r>
            <a:r>
              <a:rPr dirty="0"/>
              <a:t> </a:t>
            </a:r>
            <a:r>
              <a:rPr dirty="0" err="1"/>
              <a:t>nhạy</a:t>
            </a:r>
            <a:r>
              <a:rPr dirty="0"/>
              <a:t> — </a:t>
            </a:r>
            <a:r>
              <a:rPr dirty="0" err="1"/>
              <a:t>có</a:t>
            </a:r>
            <a:r>
              <a:rPr dirty="0"/>
              <a:t> </a:t>
            </a:r>
            <a:r>
              <a:rPr dirty="0" err="1"/>
              <a:t>thuốc</a:t>
            </a:r>
            <a:r>
              <a:rPr dirty="0"/>
              <a:t> </a:t>
            </a:r>
            <a:r>
              <a:rPr dirty="0" err="1"/>
              <a:t>chỉ</a:t>
            </a:r>
            <a:r>
              <a:rPr dirty="0"/>
              <a:t> </a:t>
            </a:r>
            <a:r>
              <a:rPr dirty="0" err="1"/>
              <a:t>khoảng</a:t>
            </a:r>
            <a:r>
              <a:rPr dirty="0"/>
              <a:t> </a:t>
            </a:r>
            <a:r>
              <a:rPr dirty="0" err="1"/>
              <a:t>sáu</a:t>
            </a:r>
            <a:r>
              <a:rPr dirty="0"/>
              <a:t> </a:t>
            </a:r>
            <a:r>
              <a:rPr dirty="0" err="1"/>
              <a:t>phần</a:t>
            </a:r>
            <a:r>
              <a:rPr dirty="0"/>
              <a:t> </a:t>
            </a:r>
            <a:r>
              <a:rPr dirty="0" err="1"/>
              <a:t>trăm</a:t>
            </a:r>
            <a:r>
              <a:rPr dirty="0"/>
              <a:t> </a:t>
            </a:r>
            <a:r>
              <a:rPr dirty="0" err="1"/>
              <a:t>là</a:t>
            </a:r>
            <a:r>
              <a:rPr dirty="0"/>
              <a:t> </a:t>
            </a:r>
            <a:r>
              <a:rPr dirty="0" err="1"/>
              <a:t>kháng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cho</a:t>
            </a:r>
            <a:r>
              <a:rPr dirty="0"/>
              <a:t> </a:t>
            </a:r>
            <a:r>
              <a:rPr dirty="0" err="1"/>
              <a:t>thấy</a:t>
            </a:r>
            <a:r>
              <a:rPr dirty="0"/>
              <a:t> </a:t>
            </a:r>
            <a:r>
              <a:rPr dirty="0" err="1"/>
              <a:t>các</a:t>
            </a:r>
            <a:r>
              <a:rPr dirty="0"/>
              <a:t> </a:t>
            </a:r>
            <a:r>
              <a:rPr dirty="0" err="1"/>
              <a:t>đặc</a:t>
            </a:r>
            <a:r>
              <a:rPr dirty="0"/>
              <a:t> </a:t>
            </a:r>
            <a:r>
              <a:rPr dirty="0" err="1"/>
              <a:t>trưng</a:t>
            </a:r>
            <a:r>
              <a:rPr dirty="0"/>
              <a:t> </a:t>
            </a:r>
            <a:r>
              <a:rPr dirty="0" err="1"/>
              <a:t>đó</a:t>
            </a:r>
            <a:r>
              <a:rPr dirty="0"/>
              <a:t> </a:t>
            </a:r>
            <a:r>
              <a:rPr dirty="0" err="1"/>
              <a:t>ở</a:t>
            </a:r>
            <a:r>
              <a:rPr dirty="0"/>
              <a:t> </a:t>
            </a:r>
            <a:r>
              <a:rPr dirty="0" err="1"/>
              <a:t>dạng</a:t>
            </a:r>
            <a:r>
              <a:rPr dirty="0"/>
              <a:t> </a:t>
            </a:r>
            <a:r>
              <a:rPr dirty="0" err="1"/>
              <a:t>bảng</a:t>
            </a:r>
            <a:r>
              <a:rPr dirty="0"/>
              <a:t> </a:t>
            </a:r>
            <a:r>
              <a:rPr dirty="0" err="1"/>
              <a:t>số</a:t>
            </a:r>
            <a:r>
              <a:rPr dirty="0"/>
              <a:t> </a:t>
            </a:r>
            <a:r>
              <a:rPr dirty="0" err="1"/>
              <a:t>cụ</a:t>
            </a:r>
            <a:r>
              <a:rPr dirty="0"/>
              <a:t> </a:t>
            </a:r>
            <a:r>
              <a:rPr dirty="0" err="1"/>
              <a:t>thể</a:t>
            </a:r>
            <a:r>
              <a:rPr dirty="0"/>
              <a:t> </a:t>
            </a:r>
            <a:r>
              <a:rPr dirty="0" err="1"/>
              <a:t>như</a:t>
            </a:r>
            <a:r>
              <a:rPr dirty="0"/>
              <a:t> </a:t>
            </a:r>
            <a:r>
              <a:rPr dirty="0" err="1"/>
              <a:t>thế</a:t>
            </a:r>
            <a:r>
              <a:rPr dirty="0"/>
              <a:t> </a:t>
            </a:r>
            <a:r>
              <a:rPr dirty="0" err="1"/>
              <a:t>nào</a:t>
            </a:r>
            <a:r>
              <a:rPr dirty="0"/>
              <a:t>.</a:t>
            </a:r>
          </a:p>
          <a:p>
            <a:r>
              <a:rPr dirty="0"/>
              <a:t>Ma </a:t>
            </a:r>
            <a:r>
              <a:rPr dirty="0" err="1"/>
              <a:t>trận</a:t>
            </a:r>
            <a:r>
              <a:rPr dirty="0"/>
              <a:t> accessory </a:t>
            </a:r>
            <a:r>
              <a:rPr dirty="0" err="1"/>
              <a:t>có</a:t>
            </a:r>
            <a:r>
              <a:rPr dirty="0"/>
              <a:t> </a:t>
            </a:r>
            <a:r>
              <a:rPr dirty="0" err="1"/>
              <a:t>kích</a:t>
            </a:r>
            <a:r>
              <a:rPr dirty="0"/>
              <a:t> </a:t>
            </a:r>
            <a:r>
              <a:rPr dirty="0" err="1"/>
              <a:t>thước</a:t>
            </a:r>
            <a:r>
              <a:rPr dirty="0"/>
              <a:t> 1167 </a:t>
            </a:r>
            <a:r>
              <a:rPr dirty="0" err="1"/>
              <a:t>nhân</a:t>
            </a:r>
            <a:r>
              <a:rPr dirty="0"/>
              <a:t> 18125. Nghĩa </a:t>
            </a:r>
            <a:r>
              <a:rPr dirty="0" err="1"/>
              <a:t>là</a:t>
            </a:r>
            <a:r>
              <a:rPr dirty="0"/>
              <a:t> 1167 </a:t>
            </a:r>
            <a:r>
              <a:rPr dirty="0" err="1"/>
              <a:t>dòng</a:t>
            </a:r>
            <a:r>
              <a:rPr dirty="0"/>
              <a:t> — </a:t>
            </a:r>
            <a:r>
              <a:rPr dirty="0" err="1"/>
              <a:t>mỗi</a:t>
            </a:r>
            <a:r>
              <a:rPr dirty="0"/>
              <a:t> </a:t>
            </a:r>
            <a:r>
              <a:rPr dirty="0" err="1"/>
              <a:t>dòng</a:t>
            </a:r>
            <a:r>
              <a:rPr dirty="0"/>
              <a:t> </a:t>
            </a:r>
            <a:r>
              <a:rPr dirty="0" err="1"/>
              <a:t>một</a:t>
            </a:r>
            <a:r>
              <a:rPr dirty="0"/>
              <a:t> </a:t>
            </a:r>
            <a:r>
              <a:rPr dirty="0" err="1"/>
              <a:t>chủng</a:t>
            </a:r>
            <a:r>
              <a:rPr dirty="0"/>
              <a:t> — </a:t>
            </a:r>
            <a:r>
              <a:rPr dirty="0" err="1"/>
              <a:t>và</a:t>
            </a:r>
            <a:r>
              <a:rPr dirty="0"/>
              <a:t> 18125 </a:t>
            </a:r>
            <a:r>
              <a:rPr dirty="0" err="1"/>
              <a:t>cột</a:t>
            </a:r>
            <a:r>
              <a:rPr dirty="0"/>
              <a:t> — </a:t>
            </a:r>
            <a:r>
              <a:rPr dirty="0" err="1"/>
              <a:t>mỗi</a:t>
            </a:r>
            <a:r>
              <a:rPr dirty="0"/>
              <a:t> </a:t>
            </a:r>
            <a:r>
              <a:rPr dirty="0" err="1"/>
              <a:t>cột</a:t>
            </a:r>
            <a:r>
              <a:rPr dirty="0"/>
              <a:t> </a:t>
            </a:r>
            <a:r>
              <a:rPr dirty="0" err="1"/>
              <a:t>một</a:t>
            </a:r>
            <a:r>
              <a:rPr dirty="0"/>
              <a:t> gene. </a:t>
            </a:r>
            <a:r>
              <a:rPr dirty="0" err="1"/>
              <a:t>Mỗi</a:t>
            </a:r>
            <a:r>
              <a:rPr dirty="0"/>
              <a:t> </a:t>
            </a:r>
            <a:r>
              <a:rPr dirty="0" err="1"/>
              <a:t>ô</a:t>
            </a:r>
            <a:r>
              <a:rPr dirty="0"/>
              <a:t> </a:t>
            </a:r>
            <a:r>
              <a:rPr dirty="0" err="1"/>
              <a:t>chỉ</a:t>
            </a:r>
            <a:r>
              <a:rPr dirty="0"/>
              <a:t> </a:t>
            </a:r>
            <a:r>
              <a:rPr dirty="0" err="1"/>
              <a:t>là</a:t>
            </a:r>
            <a:r>
              <a:rPr dirty="0"/>
              <a:t> </a:t>
            </a:r>
            <a:r>
              <a:rPr dirty="0" err="1"/>
              <a:t>số</a:t>
            </a:r>
            <a:r>
              <a:rPr dirty="0"/>
              <a:t> 0 </a:t>
            </a:r>
            <a:r>
              <a:rPr dirty="0" err="1"/>
              <a:t>hoặc</a:t>
            </a:r>
            <a:r>
              <a:rPr dirty="0"/>
              <a:t> 1: 1 </a:t>
            </a:r>
            <a:r>
              <a:rPr dirty="0" err="1"/>
              <a:t>là</a:t>
            </a:r>
            <a:r>
              <a:rPr dirty="0"/>
              <a:t> </a:t>
            </a:r>
            <a:r>
              <a:rPr dirty="0" err="1"/>
              <a:t>chủng</a:t>
            </a:r>
            <a:r>
              <a:rPr dirty="0"/>
              <a:t> </a:t>
            </a:r>
            <a:r>
              <a:rPr dirty="0" err="1"/>
              <a:t>đó</a:t>
            </a:r>
            <a:r>
              <a:rPr dirty="0"/>
              <a:t> </a:t>
            </a:r>
            <a:r>
              <a:rPr dirty="0" err="1"/>
              <a:t>có</a:t>
            </a:r>
            <a:r>
              <a:rPr dirty="0"/>
              <a:t> gene </a:t>
            </a:r>
            <a:r>
              <a:rPr dirty="0" err="1"/>
              <a:t>này</a:t>
            </a:r>
            <a:r>
              <a:rPr dirty="0"/>
              <a:t>, 0 </a:t>
            </a:r>
            <a:r>
              <a:rPr dirty="0" err="1"/>
              <a:t>là</a:t>
            </a:r>
            <a:r>
              <a:rPr dirty="0"/>
              <a:t> </a:t>
            </a:r>
            <a:r>
              <a:rPr dirty="0" err="1"/>
              <a:t>không</a:t>
            </a:r>
            <a:r>
              <a:rPr dirty="0"/>
              <a:t> </a:t>
            </a:r>
            <a:r>
              <a:rPr dirty="0" err="1"/>
              <a:t>có</a:t>
            </a:r>
            <a:r>
              <a:rPr dirty="0"/>
              <a:t>. </a:t>
            </a:r>
            <a:r>
              <a:rPr dirty="0" err="1"/>
              <a:t>Đây</a:t>
            </a:r>
            <a:r>
              <a:rPr dirty="0"/>
              <a:t> </a:t>
            </a:r>
            <a:r>
              <a:rPr dirty="0" err="1"/>
              <a:t>là</a:t>
            </a:r>
            <a:r>
              <a:rPr dirty="0"/>
              <a:t> ma </a:t>
            </a:r>
            <a:r>
              <a:rPr dirty="0" err="1"/>
              <a:t>trận</a:t>
            </a:r>
            <a:r>
              <a:rPr dirty="0"/>
              <a:t> </a:t>
            </a:r>
            <a:r>
              <a:rPr dirty="0" err="1"/>
              <a:t>lớn</a:t>
            </a:r>
            <a:r>
              <a:rPr dirty="0"/>
              <a:t> </a:t>
            </a:r>
            <a:r>
              <a:rPr dirty="0" err="1"/>
              <a:t>nhất</a:t>
            </a:r>
            <a:r>
              <a:rPr dirty="0"/>
              <a:t> </a:t>
            </a:r>
            <a:r>
              <a:rPr dirty="0" err="1"/>
              <a:t>và</a:t>
            </a:r>
            <a:r>
              <a:rPr dirty="0"/>
              <a:t> </a:t>
            </a:r>
            <a:r>
              <a:rPr dirty="0" err="1"/>
              <a:t>giàu</a:t>
            </a:r>
            <a:r>
              <a:rPr dirty="0"/>
              <a:t> </a:t>
            </a:r>
            <a:r>
              <a:rPr dirty="0" err="1"/>
              <a:t>thông</a:t>
            </a:r>
            <a:r>
              <a:rPr dirty="0"/>
              <a:t> tin </a:t>
            </a:r>
            <a:r>
              <a:rPr dirty="0" err="1"/>
              <a:t>nhất</a:t>
            </a:r>
            <a:r>
              <a:rPr dirty="0"/>
              <a:t>.</a:t>
            </a:r>
          </a:p>
          <a:p>
            <a:r>
              <a:rPr dirty="0" err="1"/>
              <a:t>Bộ</a:t>
            </a:r>
            <a:r>
              <a:rPr dirty="0"/>
              <a:t> marker </a:t>
            </a:r>
            <a:r>
              <a:rPr dirty="0" err="1"/>
              <a:t>chuyên</a:t>
            </a:r>
            <a:r>
              <a:rPr dirty="0"/>
              <a:t> </a:t>
            </a:r>
            <a:r>
              <a:rPr dirty="0" err="1"/>
              <a:t>gia</a:t>
            </a:r>
            <a:r>
              <a:rPr dirty="0"/>
              <a:t> </a:t>
            </a:r>
            <a:r>
              <a:rPr dirty="0" err="1"/>
              <a:t>là</a:t>
            </a:r>
            <a:r>
              <a:rPr dirty="0"/>
              <a:t> 1167 </a:t>
            </a:r>
            <a:r>
              <a:rPr dirty="0" err="1"/>
              <a:t>nhân</a:t>
            </a:r>
            <a:r>
              <a:rPr dirty="0"/>
              <a:t> 50: </a:t>
            </a:r>
            <a:r>
              <a:rPr dirty="0" err="1"/>
              <a:t>cũng</a:t>
            </a:r>
            <a:r>
              <a:rPr dirty="0"/>
              <a:t> 1167 </a:t>
            </a:r>
            <a:r>
              <a:rPr dirty="0" err="1"/>
              <a:t>chủng</a:t>
            </a:r>
            <a:r>
              <a:rPr dirty="0"/>
              <a:t>, </a:t>
            </a:r>
            <a:r>
              <a:rPr dirty="0" err="1"/>
              <a:t>nhưng</a:t>
            </a:r>
            <a:r>
              <a:rPr dirty="0"/>
              <a:t> </a:t>
            </a:r>
            <a:r>
              <a:rPr dirty="0" err="1"/>
              <a:t>chỉ</a:t>
            </a:r>
            <a:r>
              <a:rPr dirty="0"/>
              <a:t> 50 </a:t>
            </a:r>
            <a:r>
              <a:rPr dirty="0" err="1"/>
              <a:t>cột</a:t>
            </a:r>
            <a:r>
              <a:rPr dirty="0"/>
              <a:t> gene </a:t>
            </a:r>
            <a:r>
              <a:rPr dirty="0" err="1"/>
              <a:t>được</a:t>
            </a:r>
            <a:r>
              <a:rPr dirty="0"/>
              <a:t> </a:t>
            </a:r>
            <a:r>
              <a:rPr dirty="0" err="1"/>
              <a:t>chọn</a:t>
            </a:r>
            <a:r>
              <a:rPr dirty="0"/>
              <a:t> </a:t>
            </a:r>
            <a:r>
              <a:rPr dirty="0" err="1"/>
              <a:t>lọc</a:t>
            </a:r>
            <a:r>
              <a:rPr dirty="0"/>
              <a:t>.</a:t>
            </a:r>
          </a:p>
          <a:p>
            <a:r>
              <a:rPr dirty="0"/>
              <a:t>Ma </a:t>
            </a:r>
            <a:r>
              <a:rPr dirty="0" err="1"/>
              <a:t>trận</a:t>
            </a:r>
            <a:r>
              <a:rPr dirty="0"/>
              <a:t> core SNP </a:t>
            </a:r>
            <a:r>
              <a:rPr dirty="0" err="1"/>
              <a:t>là</a:t>
            </a:r>
            <a:r>
              <a:rPr dirty="0"/>
              <a:t> 1167 </a:t>
            </a:r>
            <a:r>
              <a:rPr dirty="0" err="1"/>
              <a:t>nhân</a:t>
            </a:r>
            <a:r>
              <a:rPr dirty="0"/>
              <a:t> 126087. </a:t>
            </a:r>
            <a:r>
              <a:rPr dirty="0" err="1"/>
              <a:t>Đây</a:t>
            </a:r>
            <a:r>
              <a:rPr dirty="0"/>
              <a:t> </a:t>
            </a:r>
            <a:r>
              <a:rPr dirty="0" err="1"/>
              <a:t>là</a:t>
            </a:r>
            <a:r>
              <a:rPr dirty="0"/>
              <a:t> </a:t>
            </a:r>
            <a:r>
              <a:rPr dirty="0" err="1"/>
              <a:t>số</a:t>
            </a:r>
            <a:r>
              <a:rPr dirty="0"/>
              <a:t> </a:t>
            </a:r>
            <a:r>
              <a:rPr dirty="0" err="1"/>
              <a:t>vị</a:t>
            </a:r>
            <a:r>
              <a:rPr dirty="0"/>
              <a:t> </a:t>
            </a:r>
            <a:r>
              <a:rPr dirty="0" err="1"/>
              <a:t>trí</a:t>
            </a:r>
            <a:r>
              <a:rPr dirty="0"/>
              <a:t> </a:t>
            </a:r>
            <a:r>
              <a:rPr dirty="0" err="1"/>
              <a:t>đột</a:t>
            </a:r>
            <a:r>
              <a:rPr dirty="0"/>
              <a:t> </a:t>
            </a:r>
            <a:r>
              <a:rPr dirty="0" err="1"/>
              <a:t>biến</a:t>
            </a:r>
            <a:r>
              <a:rPr dirty="0"/>
              <a:t> </a:t>
            </a:r>
            <a:r>
              <a:rPr dirty="0" err="1"/>
              <a:t>điểm</a:t>
            </a:r>
            <a:r>
              <a:rPr dirty="0"/>
              <a:t> </a:t>
            </a:r>
            <a:r>
              <a:rPr dirty="0" err="1"/>
              <a:t>trong</a:t>
            </a:r>
            <a:r>
              <a:rPr dirty="0"/>
              <a:t> gene </a:t>
            </a:r>
            <a:r>
              <a:rPr dirty="0" err="1"/>
              <a:t>lõi</a:t>
            </a:r>
            <a:r>
              <a:rPr dirty="0"/>
              <a:t>. </a:t>
            </a:r>
            <a:r>
              <a:rPr dirty="0" err="1"/>
              <a:t>Giá</a:t>
            </a:r>
            <a:r>
              <a:rPr dirty="0"/>
              <a:t> </a:t>
            </a:r>
            <a:r>
              <a:rPr dirty="0" err="1"/>
              <a:t>trị</a:t>
            </a:r>
            <a:r>
              <a:rPr dirty="0"/>
              <a:t> </a:t>
            </a:r>
            <a:r>
              <a:rPr dirty="0" err="1"/>
              <a:t>mỗi</a:t>
            </a:r>
            <a:r>
              <a:rPr dirty="0"/>
              <a:t> </a:t>
            </a:r>
            <a:r>
              <a:rPr dirty="0" err="1"/>
              <a:t>ô</a:t>
            </a:r>
            <a:r>
              <a:rPr dirty="0"/>
              <a:t> </a:t>
            </a:r>
            <a:r>
              <a:rPr dirty="0" err="1"/>
              <a:t>là</a:t>
            </a:r>
            <a:r>
              <a:rPr dirty="0"/>
              <a:t> 0 </a:t>
            </a:r>
            <a:r>
              <a:rPr dirty="0" err="1"/>
              <a:t>đến</a:t>
            </a:r>
            <a:r>
              <a:rPr dirty="0"/>
              <a:t> 4, </a:t>
            </a:r>
            <a:r>
              <a:rPr dirty="0" err="1"/>
              <a:t>mã</a:t>
            </a:r>
            <a:r>
              <a:rPr dirty="0"/>
              <a:t> </a:t>
            </a:r>
            <a:r>
              <a:rPr dirty="0" err="1"/>
              <a:t>hoá</a:t>
            </a:r>
            <a:r>
              <a:rPr dirty="0"/>
              <a:t> </a:t>
            </a:r>
            <a:r>
              <a:rPr dirty="0" err="1"/>
              <a:t>cho</a:t>
            </a:r>
            <a:r>
              <a:rPr dirty="0"/>
              <a:t> A, C, G, T </a:t>
            </a:r>
            <a:r>
              <a:rPr dirty="0" err="1"/>
              <a:t>hoặc</a:t>
            </a:r>
            <a:r>
              <a:rPr dirty="0"/>
              <a:t> </a:t>
            </a:r>
            <a:r>
              <a:rPr dirty="0" err="1"/>
              <a:t>khoảng</a:t>
            </a:r>
            <a:r>
              <a:rPr dirty="0"/>
              <a:t> </a:t>
            </a:r>
            <a:r>
              <a:rPr dirty="0" err="1"/>
              <a:t>trống</a:t>
            </a:r>
            <a:r>
              <a:rPr dirty="0"/>
              <a:t>. </a:t>
            </a:r>
            <a:r>
              <a:rPr dirty="0" err="1"/>
              <a:t>Vì</a:t>
            </a:r>
            <a:r>
              <a:rPr dirty="0"/>
              <a:t> gene </a:t>
            </a:r>
            <a:r>
              <a:rPr dirty="0" err="1"/>
              <a:t>lõi</a:t>
            </a:r>
            <a:r>
              <a:rPr dirty="0"/>
              <a:t> ai </a:t>
            </a:r>
            <a:r>
              <a:rPr dirty="0" err="1"/>
              <a:t>cũng</a:t>
            </a:r>
            <a:r>
              <a:rPr dirty="0"/>
              <a:t> </a:t>
            </a:r>
            <a:r>
              <a:rPr dirty="0" err="1"/>
              <a:t>có</a:t>
            </a:r>
            <a:r>
              <a:rPr dirty="0"/>
              <a:t>, </a:t>
            </a:r>
            <a:r>
              <a:rPr dirty="0" err="1"/>
              <a:t>sự</a:t>
            </a:r>
            <a:r>
              <a:rPr dirty="0"/>
              <a:t> </a:t>
            </a:r>
            <a:r>
              <a:rPr dirty="0" err="1"/>
              <a:t>khác</a:t>
            </a:r>
            <a:r>
              <a:rPr dirty="0"/>
              <a:t> </a:t>
            </a:r>
            <a:r>
              <a:rPr dirty="0" err="1"/>
              <a:t>nhau</a:t>
            </a:r>
            <a:r>
              <a:rPr dirty="0"/>
              <a:t> </a:t>
            </a:r>
            <a:r>
              <a:rPr dirty="0" err="1"/>
              <a:t>ở</a:t>
            </a:r>
            <a:r>
              <a:rPr dirty="0"/>
              <a:t> </a:t>
            </a:r>
            <a:r>
              <a:rPr dirty="0" err="1"/>
              <a:t>các</a:t>
            </a:r>
            <a:r>
              <a:rPr dirty="0"/>
              <a:t> </a:t>
            </a:r>
            <a:r>
              <a:rPr dirty="0" err="1"/>
              <a:t>vị</a:t>
            </a:r>
            <a:r>
              <a:rPr dirty="0"/>
              <a:t> </a:t>
            </a:r>
            <a:r>
              <a:rPr dirty="0" err="1"/>
              <a:t>trí</a:t>
            </a:r>
            <a:r>
              <a:rPr dirty="0"/>
              <a:t> </a:t>
            </a:r>
            <a:r>
              <a:rPr dirty="0" err="1"/>
              <a:t>này</a:t>
            </a:r>
            <a:r>
              <a:rPr dirty="0"/>
              <a:t> </a:t>
            </a:r>
            <a:r>
              <a:rPr dirty="0" err="1"/>
              <a:t>cho</a:t>
            </a:r>
            <a:r>
              <a:rPr dirty="0"/>
              <a:t> </a:t>
            </a:r>
            <a:r>
              <a:rPr dirty="0" err="1"/>
              <a:t>biết</a:t>
            </a:r>
            <a:r>
              <a:rPr dirty="0"/>
              <a:t> </a:t>
            </a:r>
            <a:r>
              <a:rPr dirty="0" err="1"/>
              <a:t>hai</a:t>
            </a:r>
            <a:r>
              <a:rPr dirty="0"/>
              <a:t> </a:t>
            </a:r>
            <a:r>
              <a:rPr dirty="0" err="1"/>
              <a:t>chủng</a:t>
            </a:r>
            <a:r>
              <a:rPr dirty="0"/>
              <a:t> </a:t>
            </a:r>
            <a:r>
              <a:rPr dirty="0" err="1"/>
              <a:t>họ</a:t>
            </a:r>
            <a:r>
              <a:rPr dirty="0"/>
              <a:t> </a:t>
            </a:r>
            <a:r>
              <a:rPr dirty="0" err="1"/>
              <a:t>hàng</a:t>
            </a:r>
            <a:r>
              <a:rPr dirty="0"/>
              <a:t> </a:t>
            </a:r>
            <a:r>
              <a:rPr dirty="0" err="1"/>
              <a:t>gần</a:t>
            </a:r>
            <a:r>
              <a:rPr dirty="0"/>
              <a:t> hay xa.</a:t>
            </a:r>
          </a:p>
          <a:p>
            <a:r>
              <a:rPr dirty="0" err="1"/>
              <a:t>Nhãn</a:t>
            </a:r>
            <a:r>
              <a:rPr dirty="0"/>
              <a:t> </a:t>
            </a:r>
            <a:r>
              <a:rPr dirty="0" err="1"/>
              <a:t>là</a:t>
            </a:r>
            <a:r>
              <a:rPr dirty="0"/>
              <a:t> </a:t>
            </a:r>
            <a:r>
              <a:rPr dirty="0" err="1"/>
              <a:t>một</a:t>
            </a:r>
            <a:r>
              <a:rPr dirty="0"/>
              <a:t> </a:t>
            </a:r>
            <a:r>
              <a:rPr dirty="0" err="1"/>
              <a:t>cột</a:t>
            </a:r>
            <a:r>
              <a:rPr dirty="0"/>
              <a:t> 1167 </a:t>
            </a:r>
            <a:r>
              <a:rPr dirty="0" err="1"/>
              <a:t>nhân</a:t>
            </a:r>
            <a:r>
              <a:rPr dirty="0"/>
              <a:t> 1, </a:t>
            </a:r>
            <a:r>
              <a:rPr dirty="0" err="1"/>
              <a:t>mỗi</a:t>
            </a:r>
            <a:r>
              <a:rPr dirty="0"/>
              <a:t> </a:t>
            </a:r>
            <a:r>
              <a:rPr dirty="0" err="1"/>
              <a:t>giá</a:t>
            </a:r>
            <a:r>
              <a:rPr dirty="0"/>
              <a:t> </a:t>
            </a:r>
            <a:r>
              <a:rPr dirty="0" err="1"/>
              <a:t>trị</a:t>
            </a:r>
            <a:r>
              <a:rPr dirty="0"/>
              <a:t> </a:t>
            </a:r>
            <a:r>
              <a:rPr dirty="0" err="1"/>
              <a:t>là</a:t>
            </a:r>
            <a:r>
              <a:rPr dirty="0"/>
              <a:t> 0 (</a:t>
            </a:r>
            <a:r>
              <a:rPr dirty="0" err="1"/>
              <a:t>nhạy</a:t>
            </a:r>
            <a:r>
              <a:rPr dirty="0"/>
              <a:t>) </a:t>
            </a:r>
            <a:r>
              <a:rPr dirty="0" err="1"/>
              <a:t>hoặc</a:t>
            </a:r>
            <a:r>
              <a:rPr dirty="0"/>
              <a:t> 1 (</a:t>
            </a:r>
            <a:r>
              <a:rPr dirty="0" err="1"/>
              <a:t>kháng</a:t>
            </a:r>
            <a:r>
              <a:rPr dirty="0"/>
              <a:t>).</a:t>
            </a:r>
          </a:p>
          <a:p>
            <a:r>
              <a:rPr dirty="0" err="1"/>
              <a:t>tất</a:t>
            </a:r>
            <a:r>
              <a:rPr dirty="0"/>
              <a:t> </a:t>
            </a:r>
            <a:r>
              <a:rPr dirty="0" err="1"/>
              <a:t>cả</a:t>
            </a:r>
            <a:r>
              <a:rPr dirty="0"/>
              <a:t> </a:t>
            </a:r>
            <a:r>
              <a:rPr dirty="0" err="1"/>
              <a:t>các</a:t>
            </a:r>
            <a:r>
              <a:rPr dirty="0"/>
              <a:t> </a:t>
            </a:r>
            <a:r>
              <a:rPr dirty="0" err="1"/>
              <a:t>bảng</a:t>
            </a:r>
            <a:r>
              <a:rPr dirty="0"/>
              <a:t> </a:t>
            </a:r>
            <a:r>
              <a:rPr dirty="0" err="1"/>
              <a:t>đều</a:t>
            </a:r>
            <a:r>
              <a:rPr dirty="0"/>
              <a:t> </a:t>
            </a:r>
            <a:r>
              <a:rPr dirty="0" err="1"/>
              <a:t>được</a:t>
            </a:r>
            <a:r>
              <a:rPr dirty="0"/>
              <a:t> </a:t>
            </a:r>
            <a:r>
              <a:rPr dirty="0" err="1"/>
              <a:t>căn</a:t>
            </a:r>
            <a:r>
              <a:rPr dirty="0"/>
              <a:t> </a:t>
            </a:r>
            <a:r>
              <a:rPr dirty="0" err="1"/>
              <a:t>hàng</a:t>
            </a:r>
            <a:r>
              <a:rPr dirty="0"/>
              <a:t> </a:t>
            </a:r>
            <a:r>
              <a:rPr dirty="0" err="1"/>
              <a:t>theo</a:t>
            </a:r>
            <a:r>
              <a:rPr dirty="0"/>
              <a:t> </a:t>
            </a:r>
            <a:r>
              <a:rPr dirty="0" err="1"/>
              <a:t>cùng</a:t>
            </a:r>
            <a:r>
              <a:rPr dirty="0"/>
              <a:t> </a:t>
            </a:r>
            <a:r>
              <a:rPr dirty="0" err="1"/>
              <a:t>một</a:t>
            </a:r>
            <a:r>
              <a:rPr dirty="0"/>
              <a:t> </a:t>
            </a:r>
            <a:r>
              <a:rPr dirty="0" err="1"/>
              <a:t>mã</a:t>
            </a:r>
            <a:r>
              <a:rPr dirty="0"/>
              <a:t> genome — </a:t>
            </a:r>
            <a:r>
              <a:rPr dirty="0" err="1"/>
              <a:t>cái</a:t>
            </a:r>
            <a:r>
              <a:rPr dirty="0"/>
              <a:t> </a:t>
            </a:r>
            <a:r>
              <a:rPr dirty="0" err="1"/>
              <a:t>mã</a:t>
            </a:r>
            <a:r>
              <a:rPr dirty="0"/>
              <a:t> </a:t>
            </a:r>
            <a:r>
              <a:rPr dirty="0" err="1"/>
              <a:t>dạng</a:t>
            </a:r>
            <a:r>
              <a:rPr dirty="0"/>
              <a:t> GCA </a:t>
            </a:r>
            <a:r>
              <a:rPr dirty="0" err="1"/>
              <a:t>gạch</a:t>
            </a:r>
            <a:r>
              <a:rPr dirty="0"/>
              <a:t> </a:t>
            </a:r>
            <a:r>
              <a:rPr dirty="0" err="1"/>
              <a:t>dưới</a:t>
            </a:r>
            <a:r>
              <a:rPr dirty="0"/>
              <a:t> PDT. </a:t>
            </a:r>
            <a:r>
              <a:rPr dirty="0" err="1"/>
              <a:t>nên</a:t>
            </a:r>
            <a:r>
              <a:rPr dirty="0"/>
              <a:t> </a:t>
            </a:r>
            <a:r>
              <a:rPr dirty="0" err="1"/>
              <a:t>em</a:t>
            </a:r>
            <a:r>
              <a:rPr dirty="0"/>
              <a:t> </a:t>
            </a:r>
            <a:r>
              <a:rPr dirty="0" err="1"/>
              <a:t>có</a:t>
            </a:r>
            <a:r>
              <a:rPr dirty="0"/>
              <a:t> </a:t>
            </a:r>
            <a:r>
              <a:rPr dirty="0" err="1"/>
              <a:t>kiểm</a:t>
            </a:r>
            <a:r>
              <a:rPr dirty="0"/>
              <a:t> </a:t>
            </a:r>
            <a:r>
              <a:rPr dirty="0" err="1"/>
              <a:t>tra</a:t>
            </a:r>
            <a:r>
              <a:rPr dirty="0"/>
              <a:t> </a:t>
            </a:r>
            <a:r>
              <a:rPr dirty="0" err="1"/>
              <a:t>kỹ</a:t>
            </a:r>
            <a:r>
              <a:rPr dirty="0"/>
              <a:t> </a:t>
            </a:r>
            <a:r>
              <a:rPr dirty="0" err="1"/>
              <a:t>bước</a:t>
            </a:r>
            <a:r>
              <a:rPr dirty="0"/>
              <a:t> </a:t>
            </a:r>
            <a:r>
              <a:rPr dirty="0" err="1"/>
              <a:t>này</a:t>
            </a:r>
            <a:r>
              <a:rPr dirty="0"/>
              <a:t>. </a:t>
            </a:r>
            <a:r>
              <a:rPr dirty="0" err="1"/>
              <a:t>Tóm</a:t>
            </a:r>
            <a:r>
              <a:rPr dirty="0"/>
              <a:t> </a:t>
            </a:r>
            <a:r>
              <a:rPr dirty="0" err="1"/>
              <a:t>lại</a:t>
            </a:r>
            <a:r>
              <a:rPr dirty="0"/>
              <a:t>: </a:t>
            </a:r>
            <a:r>
              <a:rPr dirty="0" err="1"/>
              <a:t>đầu</a:t>
            </a:r>
            <a:r>
              <a:rPr dirty="0"/>
              <a:t> </a:t>
            </a:r>
            <a:r>
              <a:rPr dirty="0" err="1"/>
              <a:t>vào</a:t>
            </a:r>
            <a:r>
              <a:rPr dirty="0"/>
              <a:t> </a:t>
            </a:r>
            <a:r>
              <a:rPr dirty="0" err="1"/>
              <a:t>của</a:t>
            </a:r>
            <a:r>
              <a:rPr dirty="0"/>
              <a:t> </a:t>
            </a:r>
            <a:r>
              <a:rPr dirty="0" err="1"/>
              <a:t>mô</a:t>
            </a:r>
            <a:r>
              <a:rPr dirty="0"/>
              <a:t> </a:t>
            </a:r>
            <a:r>
              <a:rPr dirty="0" err="1"/>
              <a:t>hình</a:t>
            </a:r>
            <a:r>
              <a:rPr dirty="0"/>
              <a:t> </a:t>
            </a:r>
            <a:r>
              <a:rPr dirty="0" err="1"/>
              <a:t>là</a:t>
            </a:r>
            <a:r>
              <a:rPr dirty="0"/>
              <a:t> </a:t>
            </a:r>
            <a:r>
              <a:rPr dirty="0" err="1"/>
              <a:t>các</a:t>
            </a:r>
            <a:r>
              <a:rPr dirty="0"/>
              <a:t> ma </a:t>
            </a:r>
            <a:r>
              <a:rPr dirty="0" err="1"/>
              <a:t>trận</a:t>
            </a:r>
            <a:r>
              <a:rPr dirty="0"/>
              <a:t> </a:t>
            </a:r>
            <a:r>
              <a:rPr dirty="0" err="1"/>
              <a:t>số</a:t>
            </a:r>
            <a:r>
              <a:rPr dirty="0"/>
              <a:t> 0/1, </a:t>
            </a:r>
            <a:r>
              <a:rPr dirty="0" err="1"/>
              <a:t>đầu</a:t>
            </a:r>
            <a:r>
              <a:rPr dirty="0"/>
              <a:t> </a:t>
            </a:r>
            <a:r>
              <a:rPr dirty="0" err="1"/>
              <a:t>ra</a:t>
            </a:r>
            <a:r>
              <a:rPr dirty="0"/>
              <a:t> </a:t>
            </a:r>
            <a:r>
              <a:rPr dirty="0" err="1"/>
              <a:t>là</a:t>
            </a:r>
            <a:r>
              <a:rPr dirty="0"/>
              <a:t> </a:t>
            </a:r>
            <a:r>
              <a:rPr dirty="0" err="1"/>
              <a:t>dự</a:t>
            </a:r>
            <a:r>
              <a:rPr dirty="0"/>
              <a:t> </a:t>
            </a:r>
            <a:r>
              <a:rPr dirty="0" err="1"/>
              <a:t>đoán</a:t>
            </a:r>
            <a:r>
              <a:rPr dirty="0"/>
              <a:t> </a:t>
            </a:r>
            <a:r>
              <a:rPr dirty="0" err="1"/>
              <a:t>kháng</a:t>
            </a:r>
            <a:r>
              <a:rPr dirty="0"/>
              <a:t> hay </a:t>
            </a:r>
            <a:r>
              <a:rPr dirty="0" err="1"/>
              <a:t>nhạy</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Đây</a:t>
            </a:r>
            <a:r>
              <a:rPr dirty="0"/>
              <a:t> </a:t>
            </a:r>
            <a:r>
              <a:rPr dirty="0" err="1"/>
              <a:t>là</a:t>
            </a:r>
            <a:r>
              <a:rPr dirty="0"/>
              <a:t> </a:t>
            </a:r>
            <a:r>
              <a:rPr dirty="0" err="1"/>
              <a:t>kiến</a:t>
            </a:r>
            <a:r>
              <a:rPr dirty="0"/>
              <a:t> </a:t>
            </a:r>
            <a:r>
              <a:rPr dirty="0" err="1"/>
              <a:t>trúc</a:t>
            </a:r>
            <a:r>
              <a:rPr dirty="0"/>
              <a:t> </a:t>
            </a:r>
            <a:r>
              <a:rPr dirty="0" err="1"/>
              <a:t>tổng</a:t>
            </a:r>
            <a:r>
              <a:rPr dirty="0"/>
              <a:t> </a:t>
            </a:r>
            <a:r>
              <a:rPr dirty="0" err="1"/>
              <a:t>thể</a:t>
            </a:r>
            <a:r>
              <a:rPr dirty="0"/>
              <a:t>, </a:t>
            </a:r>
            <a:r>
              <a:rPr dirty="0" err="1"/>
              <a:t>đọc</a:t>
            </a:r>
            <a:r>
              <a:rPr dirty="0"/>
              <a:t> </a:t>
            </a:r>
            <a:r>
              <a:rPr dirty="0" err="1"/>
              <a:t>từ</a:t>
            </a:r>
            <a:r>
              <a:rPr dirty="0"/>
              <a:t> </a:t>
            </a:r>
            <a:r>
              <a:rPr dirty="0" err="1"/>
              <a:t>trái</a:t>
            </a:r>
            <a:r>
              <a:rPr dirty="0"/>
              <a:t> sang </a:t>
            </a:r>
            <a:r>
              <a:rPr dirty="0" err="1"/>
              <a:t>phải</a:t>
            </a:r>
            <a:r>
              <a:rPr dirty="0"/>
              <a:t>. </a:t>
            </a:r>
            <a:r>
              <a:rPr dirty="0" err="1"/>
              <a:t>Có</a:t>
            </a:r>
            <a:r>
              <a:rPr dirty="0"/>
              <a:t> </a:t>
            </a:r>
            <a:r>
              <a:rPr dirty="0" err="1"/>
              <a:t>hai</a:t>
            </a:r>
            <a:r>
              <a:rPr dirty="0"/>
              <a:t> </a:t>
            </a:r>
            <a:r>
              <a:rPr dirty="0" err="1"/>
              <a:t>tầng</a:t>
            </a:r>
            <a:r>
              <a:rPr dirty="0"/>
              <a:t> </a:t>
            </a:r>
            <a:r>
              <a:rPr dirty="0" err="1"/>
              <a:t>phối</a:t>
            </a:r>
            <a:r>
              <a:rPr dirty="0"/>
              <a:t> </a:t>
            </a:r>
            <a:r>
              <a:rPr dirty="0" err="1"/>
              <a:t>hợp</a:t>
            </a:r>
            <a:r>
              <a:rPr dirty="0"/>
              <a:t>.</a:t>
            </a:r>
          </a:p>
          <a:p>
            <a:r>
              <a:rPr dirty="0" err="1"/>
              <a:t>Tầng</a:t>
            </a:r>
            <a:r>
              <a:rPr dirty="0"/>
              <a:t> </a:t>
            </a:r>
            <a:r>
              <a:rPr dirty="0" err="1"/>
              <a:t>dự</a:t>
            </a:r>
            <a:r>
              <a:rPr dirty="0"/>
              <a:t> </a:t>
            </a:r>
            <a:r>
              <a:rPr dirty="0" err="1"/>
              <a:t>đoán</a:t>
            </a:r>
            <a:r>
              <a:rPr dirty="0"/>
              <a:t> </a:t>
            </a:r>
            <a:r>
              <a:rPr dirty="0" err="1"/>
              <a:t>biến</a:t>
            </a:r>
            <a:r>
              <a:rPr dirty="0"/>
              <a:t> </a:t>
            </a:r>
            <a:r>
              <a:rPr dirty="0" err="1"/>
              <a:t>các</a:t>
            </a:r>
            <a:r>
              <a:rPr dirty="0"/>
              <a:t> ma </a:t>
            </a:r>
            <a:r>
              <a:rPr dirty="0" err="1"/>
              <a:t>trận</a:t>
            </a:r>
            <a:r>
              <a:rPr dirty="0"/>
              <a:t> </a:t>
            </a:r>
            <a:r>
              <a:rPr dirty="0" err="1"/>
              <a:t>hệ</a:t>
            </a:r>
            <a:r>
              <a:rPr dirty="0"/>
              <a:t> gen </a:t>
            </a:r>
            <a:r>
              <a:rPr dirty="0" err="1"/>
              <a:t>thành</a:t>
            </a:r>
            <a:r>
              <a:rPr dirty="0"/>
              <a:t> </a:t>
            </a:r>
            <a:r>
              <a:rPr dirty="0" err="1"/>
              <a:t>một</a:t>
            </a:r>
            <a:r>
              <a:rPr dirty="0"/>
              <a:t> </a:t>
            </a:r>
            <a:r>
              <a:rPr dirty="0" err="1"/>
              <a:t>quyết</a:t>
            </a:r>
            <a:r>
              <a:rPr dirty="0"/>
              <a:t> </a:t>
            </a:r>
            <a:r>
              <a:rPr dirty="0" err="1"/>
              <a:t>định</a:t>
            </a:r>
            <a:r>
              <a:rPr dirty="0"/>
              <a:t> </a:t>
            </a:r>
            <a:r>
              <a:rPr dirty="0" err="1"/>
              <a:t>kháng</a:t>
            </a:r>
            <a:r>
              <a:rPr dirty="0"/>
              <a:t> hay </a:t>
            </a:r>
            <a:r>
              <a:rPr dirty="0" err="1"/>
              <a:t>nhạy</a:t>
            </a:r>
            <a:r>
              <a:rPr dirty="0"/>
              <a:t>: </a:t>
            </a:r>
            <a:r>
              <a:rPr dirty="0" err="1"/>
              <a:t>từ</a:t>
            </a:r>
            <a:r>
              <a:rPr dirty="0"/>
              <a:t> genome </a:t>
            </a:r>
            <a:r>
              <a:rPr dirty="0" err="1"/>
              <a:t>đi</a:t>
            </a:r>
            <a:r>
              <a:rPr dirty="0"/>
              <a:t> </a:t>
            </a:r>
            <a:r>
              <a:rPr dirty="0" err="1"/>
              <a:t>vào</a:t>
            </a:r>
            <a:r>
              <a:rPr dirty="0"/>
              <a:t> </a:t>
            </a:r>
            <a:r>
              <a:rPr dirty="0" err="1"/>
              <a:t>khối</a:t>
            </a:r>
            <a:r>
              <a:rPr dirty="0"/>
              <a:t> </a:t>
            </a:r>
            <a:r>
              <a:rPr dirty="0" err="1"/>
              <a:t>xây</a:t>
            </a:r>
            <a:r>
              <a:rPr dirty="0"/>
              <a:t> </a:t>
            </a:r>
            <a:r>
              <a:rPr dirty="0" err="1"/>
              <a:t>dựng</a:t>
            </a:r>
            <a:r>
              <a:rPr dirty="0"/>
              <a:t> </a:t>
            </a:r>
            <a:r>
              <a:rPr dirty="0" err="1"/>
              <a:t>đặc</a:t>
            </a:r>
            <a:r>
              <a:rPr dirty="0"/>
              <a:t> </a:t>
            </a:r>
            <a:r>
              <a:rPr dirty="0" err="1"/>
              <a:t>trưng</a:t>
            </a:r>
            <a:r>
              <a:rPr dirty="0"/>
              <a:t>, </a:t>
            </a:r>
            <a:r>
              <a:rPr dirty="0" err="1"/>
              <a:t>rồi</a:t>
            </a:r>
            <a:r>
              <a:rPr dirty="0"/>
              <a:t> </a:t>
            </a:r>
            <a:r>
              <a:rPr dirty="0" err="1"/>
              <a:t>tới</a:t>
            </a:r>
            <a:r>
              <a:rPr dirty="0"/>
              <a:t> </a:t>
            </a:r>
            <a:r>
              <a:rPr dirty="0" err="1"/>
              <a:t>bước</a:t>
            </a:r>
            <a:r>
              <a:rPr dirty="0"/>
              <a:t> </a:t>
            </a:r>
            <a:r>
              <a:rPr dirty="0" err="1"/>
              <a:t>chọn</a:t>
            </a:r>
            <a:r>
              <a:rPr dirty="0"/>
              <a:t> </a:t>
            </a:r>
            <a:r>
              <a:rPr dirty="0" err="1"/>
              <a:t>cấu</a:t>
            </a:r>
            <a:r>
              <a:rPr dirty="0"/>
              <a:t> </a:t>
            </a:r>
            <a:r>
              <a:rPr dirty="0" err="1"/>
              <a:t>hình</a:t>
            </a:r>
            <a:r>
              <a:rPr dirty="0"/>
              <a:t> </a:t>
            </a:r>
            <a:r>
              <a:rPr dirty="0" err="1"/>
              <a:t>thích</a:t>
            </a:r>
            <a:r>
              <a:rPr dirty="0"/>
              <a:t> </a:t>
            </a:r>
            <a:r>
              <a:rPr dirty="0" err="1"/>
              <a:t>ứng</a:t>
            </a:r>
            <a:r>
              <a:rPr dirty="0"/>
              <a:t> </a:t>
            </a:r>
            <a:r>
              <a:rPr dirty="0" err="1"/>
              <a:t>và</a:t>
            </a:r>
            <a:r>
              <a:rPr dirty="0"/>
              <a:t> </a:t>
            </a:r>
            <a:r>
              <a:rPr dirty="0" err="1"/>
              <a:t>bộ</a:t>
            </a:r>
            <a:r>
              <a:rPr dirty="0"/>
              <a:t> </a:t>
            </a:r>
            <a:r>
              <a:rPr dirty="0" err="1"/>
              <a:t>phân</a:t>
            </a:r>
            <a:r>
              <a:rPr dirty="0"/>
              <a:t> </a:t>
            </a:r>
            <a:r>
              <a:rPr dirty="0" err="1"/>
              <a:t>loại</a:t>
            </a:r>
            <a:r>
              <a:rPr dirty="0"/>
              <a:t>, </a:t>
            </a:r>
            <a:r>
              <a:rPr dirty="0" err="1"/>
              <a:t>cuối</a:t>
            </a:r>
            <a:r>
              <a:rPr dirty="0"/>
              <a:t> </a:t>
            </a:r>
            <a:r>
              <a:rPr dirty="0" err="1"/>
              <a:t>cùng</a:t>
            </a:r>
            <a:r>
              <a:rPr dirty="0"/>
              <a:t> </a:t>
            </a:r>
            <a:r>
              <a:rPr dirty="0" err="1"/>
              <a:t>ra</a:t>
            </a:r>
            <a:r>
              <a:rPr dirty="0"/>
              <a:t> </a:t>
            </a:r>
            <a:r>
              <a:rPr dirty="0" err="1"/>
              <a:t>quyết</a:t>
            </a:r>
            <a:r>
              <a:rPr dirty="0"/>
              <a:t> </a:t>
            </a:r>
            <a:r>
              <a:rPr dirty="0" err="1"/>
              <a:t>định</a:t>
            </a:r>
            <a:r>
              <a:rPr dirty="0"/>
              <a:t>.</a:t>
            </a:r>
          </a:p>
          <a:p>
            <a:r>
              <a:rPr dirty="0" err="1"/>
              <a:t>Tầng</a:t>
            </a:r>
            <a:r>
              <a:rPr dirty="0"/>
              <a:t> </a:t>
            </a:r>
            <a:r>
              <a:rPr dirty="0" err="1"/>
              <a:t>kiểm</a:t>
            </a:r>
            <a:r>
              <a:rPr dirty="0"/>
              <a:t> </a:t>
            </a:r>
            <a:r>
              <a:rPr dirty="0" err="1"/>
              <a:t>tra</a:t>
            </a:r>
            <a:r>
              <a:rPr dirty="0"/>
              <a:t> </a:t>
            </a:r>
            <a:r>
              <a:rPr dirty="0" err="1"/>
              <a:t>độ</a:t>
            </a:r>
            <a:r>
              <a:rPr dirty="0"/>
              <a:t> tin </a:t>
            </a:r>
            <a:r>
              <a:rPr dirty="0" err="1"/>
              <a:t>cậy</a:t>
            </a:r>
            <a:r>
              <a:rPr dirty="0"/>
              <a:t> — </a:t>
            </a:r>
            <a:r>
              <a:rPr dirty="0" err="1"/>
              <a:t>đây</a:t>
            </a:r>
            <a:r>
              <a:rPr dirty="0"/>
              <a:t> </a:t>
            </a:r>
            <a:r>
              <a:rPr dirty="0" err="1"/>
              <a:t>là</a:t>
            </a:r>
            <a:r>
              <a:rPr dirty="0"/>
              <a:t> </a:t>
            </a:r>
            <a:r>
              <a:rPr dirty="0" err="1"/>
              <a:t>đóng</a:t>
            </a:r>
            <a:r>
              <a:rPr dirty="0"/>
              <a:t> </a:t>
            </a:r>
            <a:r>
              <a:rPr dirty="0" err="1"/>
              <a:t>góp</a:t>
            </a:r>
            <a:r>
              <a:rPr dirty="0"/>
              <a:t> </a:t>
            </a:r>
            <a:r>
              <a:rPr dirty="0" err="1"/>
              <a:t>chính</a:t>
            </a:r>
            <a:r>
              <a:rPr dirty="0"/>
              <a:t> </a:t>
            </a:r>
            <a:r>
              <a:rPr dirty="0" err="1"/>
              <a:t>của</a:t>
            </a:r>
            <a:r>
              <a:rPr dirty="0"/>
              <a:t> </a:t>
            </a:r>
            <a:r>
              <a:rPr dirty="0" err="1"/>
              <a:t>em</a:t>
            </a:r>
            <a:r>
              <a:rPr dirty="0"/>
              <a:t> — </a:t>
            </a:r>
            <a:r>
              <a:rPr dirty="0" err="1"/>
              <a:t>không</a:t>
            </a:r>
            <a:r>
              <a:rPr dirty="0"/>
              <a:t> </a:t>
            </a:r>
            <a:r>
              <a:rPr dirty="0" err="1"/>
              <a:t>tạo</a:t>
            </a:r>
            <a:r>
              <a:rPr dirty="0"/>
              <a:t> </a:t>
            </a:r>
            <a:r>
              <a:rPr dirty="0" err="1"/>
              <a:t>ra</a:t>
            </a:r>
            <a:r>
              <a:rPr dirty="0"/>
              <a:t> </a:t>
            </a:r>
            <a:r>
              <a:rPr dirty="0" err="1"/>
              <a:t>dự</a:t>
            </a:r>
            <a:r>
              <a:rPr dirty="0"/>
              <a:t> </a:t>
            </a:r>
            <a:r>
              <a:rPr dirty="0" err="1"/>
              <a:t>đoán</a:t>
            </a:r>
            <a:r>
              <a:rPr dirty="0"/>
              <a:t> </a:t>
            </a:r>
            <a:r>
              <a:rPr dirty="0" err="1"/>
              <a:t>mà</a:t>
            </a:r>
            <a:r>
              <a:rPr dirty="0"/>
              <a:t> soi </a:t>
            </a:r>
            <a:r>
              <a:rPr dirty="0" err="1"/>
              <a:t>lại</a:t>
            </a:r>
            <a:r>
              <a:rPr dirty="0"/>
              <a:t> </a:t>
            </a:r>
            <a:r>
              <a:rPr dirty="0" err="1"/>
              <a:t>mọi</a:t>
            </a:r>
            <a:r>
              <a:rPr dirty="0"/>
              <a:t> </a:t>
            </a:r>
            <a:r>
              <a:rPr dirty="0" err="1"/>
              <a:t>cấu</a:t>
            </a:r>
            <a:r>
              <a:rPr dirty="0"/>
              <a:t> </a:t>
            </a:r>
            <a:r>
              <a:rPr dirty="0" err="1"/>
              <a:t>hình</a:t>
            </a:r>
            <a:r>
              <a:rPr dirty="0"/>
              <a:t> </a:t>
            </a:r>
            <a:r>
              <a:rPr dirty="0" err="1"/>
              <a:t>bằng</a:t>
            </a:r>
            <a:r>
              <a:rPr dirty="0"/>
              <a:t> </a:t>
            </a:r>
            <a:r>
              <a:rPr dirty="0" err="1"/>
              <a:t>kiểm</a:t>
            </a:r>
            <a:r>
              <a:rPr dirty="0"/>
              <a:t> </a:t>
            </a:r>
            <a:r>
              <a:rPr dirty="0" err="1"/>
              <a:t>định</a:t>
            </a:r>
            <a:r>
              <a:rPr dirty="0"/>
              <a:t> </a:t>
            </a:r>
            <a:r>
              <a:rPr dirty="0" err="1"/>
              <a:t>thống</a:t>
            </a:r>
            <a:r>
              <a:rPr dirty="0"/>
              <a:t> </a:t>
            </a:r>
            <a:r>
              <a:rPr dirty="0" err="1"/>
              <a:t>kê</a:t>
            </a:r>
            <a:r>
              <a:rPr dirty="0"/>
              <a:t>, chia </a:t>
            </a:r>
            <a:r>
              <a:rPr dirty="0" err="1"/>
              <a:t>theo</a:t>
            </a:r>
            <a:r>
              <a:rPr dirty="0"/>
              <a:t> </a:t>
            </a:r>
            <a:r>
              <a:rPr dirty="0" err="1"/>
              <a:t>dòng</a:t>
            </a:r>
            <a:r>
              <a:rPr dirty="0"/>
              <a:t>, </a:t>
            </a:r>
            <a:r>
              <a:rPr dirty="0" err="1"/>
              <a:t>và</a:t>
            </a:r>
            <a:r>
              <a:rPr dirty="0"/>
              <a:t> </a:t>
            </a:r>
            <a:r>
              <a:rPr dirty="0" err="1"/>
              <a:t>kiểm</a:t>
            </a:r>
            <a:r>
              <a:rPr dirty="0"/>
              <a:t> </a:t>
            </a:r>
            <a:r>
              <a:rPr dirty="0" err="1"/>
              <a:t>tra</a:t>
            </a:r>
            <a:r>
              <a:rPr dirty="0"/>
              <a:t> </a:t>
            </a:r>
            <a:r>
              <a:rPr dirty="0" err="1"/>
              <a:t>đột</a:t>
            </a:r>
            <a:r>
              <a:rPr dirty="0"/>
              <a:t> </a:t>
            </a:r>
            <a:r>
              <a:rPr dirty="0" err="1"/>
              <a:t>biến</a:t>
            </a:r>
            <a:r>
              <a:rPr dirty="0"/>
              <a:t>.</a:t>
            </a:r>
          </a:p>
          <a:p>
            <a:r>
              <a:rPr dirty="0" err="1"/>
              <a:t>chọn</a:t>
            </a:r>
            <a:r>
              <a:rPr dirty="0"/>
              <a:t> </a:t>
            </a:r>
            <a:r>
              <a:rPr dirty="0" err="1"/>
              <a:t>đặc</a:t>
            </a:r>
            <a:r>
              <a:rPr dirty="0"/>
              <a:t> </a:t>
            </a:r>
            <a:r>
              <a:rPr dirty="0" err="1"/>
              <a:t>trưng</a:t>
            </a:r>
            <a:r>
              <a:rPr dirty="0"/>
              <a:t>, </a:t>
            </a:r>
            <a:r>
              <a:rPr dirty="0" err="1"/>
              <a:t>chọn</a:t>
            </a:r>
            <a:r>
              <a:rPr dirty="0"/>
              <a:t> </a:t>
            </a:r>
            <a:r>
              <a:rPr dirty="0" err="1"/>
              <a:t>ngưỡng</a:t>
            </a:r>
            <a:r>
              <a:rPr dirty="0"/>
              <a:t>, </a:t>
            </a:r>
            <a:r>
              <a:rPr dirty="0" err="1"/>
              <a:t>huấn</a:t>
            </a:r>
            <a:r>
              <a:rPr dirty="0"/>
              <a:t> </a:t>
            </a:r>
            <a:r>
              <a:rPr dirty="0" err="1"/>
              <a:t>luyện</a:t>
            </a:r>
            <a:r>
              <a:rPr dirty="0"/>
              <a:t> </a:t>
            </a:r>
            <a:r>
              <a:rPr dirty="0" err="1"/>
              <a:t>mô</a:t>
            </a:r>
            <a:r>
              <a:rPr dirty="0"/>
              <a:t> </a:t>
            </a:r>
            <a:r>
              <a:rPr dirty="0" err="1"/>
              <a:t>hình</a:t>
            </a:r>
            <a:r>
              <a:rPr dirty="0"/>
              <a:t> — </a:t>
            </a:r>
            <a:r>
              <a:rPr dirty="0" err="1"/>
              <a:t>đều</a:t>
            </a:r>
            <a:r>
              <a:rPr dirty="0"/>
              <a:t> </a:t>
            </a:r>
            <a:r>
              <a:rPr dirty="0" err="1"/>
              <a:t>chỉ</a:t>
            </a:r>
            <a:r>
              <a:rPr dirty="0"/>
              <a:t> </a:t>
            </a:r>
            <a:r>
              <a:rPr dirty="0" err="1"/>
              <a:t>dùng</a:t>
            </a:r>
            <a:r>
              <a:rPr dirty="0"/>
              <a:t> </a:t>
            </a:r>
            <a:r>
              <a:rPr dirty="0" err="1"/>
              <a:t>phần</a:t>
            </a:r>
            <a:r>
              <a:rPr dirty="0"/>
              <a:t> </a:t>
            </a:r>
            <a:r>
              <a:rPr dirty="0" err="1"/>
              <a:t>dữ</a:t>
            </a:r>
            <a:r>
              <a:rPr dirty="0"/>
              <a:t> </a:t>
            </a:r>
            <a:r>
              <a:rPr dirty="0" err="1"/>
              <a:t>liệu</a:t>
            </a:r>
            <a:r>
              <a:rPr dirty="0"/>
              <a:t> train,. Nhờ </a:t>
            </a:r>
            <a:r>
              <a:rPr dirty="0" err="1"/>
              <a:t>vậy</a:t>
            </a:r>
            <a:r>
              <a:rPr dirty="0"/>
              <a:t> </a:t>
            </a:r>
            <a:r>
              <a:rPr dirty="0" err="1"/>
              <a:t>điểm</a:t>
            </a:r>
            <a:r>
              <a:rPr dirty="0"/>
              <a:t> </a:t>
            </a:r>
            <a:r>
              <a:rPr dirty="0" err="1"/>
              <a:t>trên</a:t>
            </a:r>
            <a:r>
              <a:rPr dirty="0"/>
              <a:t> </a:t>
            </a:r>
            <a:r>
              <a:rPr dirty="0" err="1"/>
              <a:t>phần</a:t>
            </a:r>
            <a:r>
              <a:rPr dirty="0"/>
              <a:t> test </a:t>
            </a:r>
            <a:r>
              <a:rPr dirty="0" err="1"/>
              <a:t>mới</a:t>
            </a:r>
            <a:r>
              <a:rPr dirty="0"/>
              <a:t> </a:t>
            </a:r>
            <a:r>
              <a:rPr dirty="0" err="1"/>
              <a:t>phản</a:t>
            </a:r>
            <a:r>
              <a:rPr dirty="0"/>
              <a:t> </a:t>
            </a:r>
            <a:r>
              <a:rPr dirty="0" err="1"/>
              <a:t>ánh</a:t>
            </a:r>
            <a:r>
              <a:rPr dirty="0"/>
              <a:t> </a:t>
            </a:r>
            <a:r>
              <a:rPr dirty="0" err="1"/>
              <a:t>đúng</a:t>
            </a:r>
            <a:r>
              <a:rPr dirty="0"/>
              <a:t> </a:t>
            </a:r>
            <a:r>
              <a:rPr dirty="0" err="1"/>
              <a:t>khả</a:t>
            </a:r>
            <a:r>
              <a:rPr dirty="0"/>
              <a:t> </a:t>
            </a:r>
            <a:r>
              <a:rPr dirty="0" err="1"/>
              <a:t>năng</a:t>
            </a:r>
            <a:r>
              <a:rPr dirty="0"/>
              <a:t> </a:t>
            </a:r>
            <a:r>
              <a:rPr dirty="0" err="1"/>
              <a:t>dự</a:t>
            </a:r>
            <a:r>
              <a:rPr dirty="0"/>
              <a:t> </a:t>
            </a:r>
            <a:r>
              <a:rPr dirty="0" err="1"/>
              <a:t>đoán</a:t>
            </a:r>
            <a:r>
              <a:rPr dirty="0"/>
              <a:t> </a:t>
            </a:r>
            <a:r>
              <a:rPr dirty="0" err="1"/>
              <a:t>trên</a:t>
            </a:r>
            <a:r>
              <a:rPr dirty="0"/>
              <a:t> </a:t>
            </a:r>
            <a:r>
              <a:rPr dirty="0" err="1"/>
              <a:t>dữ</a:t>
            </a:r>
            <a:r>
              <a:rPr dirty="0"/>
              <a:t> </a:t>
            </a:r>
            <a:r>
              <a:rPr dirty="0" err="1"/>
              <a:t>liệu</a:t>
            </a:r>
            <a:r>
              <a:rPr dirty="0"/>
              <a:t> </a:t>
            </a:r>
            <a:r>
              <a:rPr dirty="0" err="1"/>
              <a:t>mới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nói</a:t>
            </a:r>
            <a:r>
              <a:rPr dirty="0"/>
              <a:t> </a:t>
            </a:r>
            <a:r>
              <a:rPr dirty="0" err="1"/>
              <a:t>về</a:t>
            </a:r>
            <a:r>
              <a:rPr dirty="0"/>
              <a:t> </a:t>
            </a:r>
            <a:r>
              <a:rPr dirty="0" err="1"/>
              <a:t>đầu</a:t>
            </a:r>
            <a:r>
              <a:rPr dirty="0"/>
              <a:t> </a:t>
            </a:r>
            <a:r>
              <a:rPr dirty="0" err="1"/>
              <a:t>vào</a:t>
            </a:r>
            <a:r>
              <a:rPr dirty="0"/>
              <a:t> </a:t>
            </a:r>
            <a:r>
              <a:rPr dirty="0" err="1"/>
              <a:t>và</a:t>
            </a:r>
            <a:r>
              <a:rPr dirty="0"/>
              <a:t> </a:t>
            </a:r>
            <a:r>
              <a:rPr dirty="0" err="1"/>
              <a:t>cách</a:t>
            </a:r>
            <a:r>
              <a:rPr dirty="0"/>
              <a:t> chia </a:t>
            </a:r>
            <a:r>
              <a:rPr dirty="0" err="1"/>
              <a:t>dữ</a:t>
            </a:r>
            <a:r>
              <a:rPr dirty="0"/>
              <a:t> </a:t>
            </a:r>
            <a:r>
              <a:rPr dirty="0" err="1"/>
              <a:t>liệu</a:t>
            </a:r>
            <a:r>
              <a:rPr dirty="0"/>
              <a:t> </a:t>
            </a:r>
            <a:r>
              <a:rPr dirty="0" err="1"/>
              <a:t>để</a:t>
            </a:r>
            <a:r>
              <a:rPr dirty="0"/>
              <a:t> </a:t>
            </a:r>
            <a:r>
              <a:rPr dirty="0" err="1"/>
              <a:t>đánh</a:t>
            </a:r>
            <a:r>
              <a:rPr dirty="0"/>
              <a:t> </a:t>
            </a:r>
            <a:r>
              <a:rPr dirty="0" err="1"/>
              <a:t>giá</a:t>
            </a:r>
            <a:r>
              <a:rPr dirty="0"/>
              <a:t>.</a:t>
            </a:r>
          </a:p>
          <a:p>
            <a:r>
              <a:rPr dirty="0"/>
              <a:t>Đầu </a:t>
            </a:r>
            <a:r>
              <a:rPr dirty="0" err="1"/>
              <a:t>vào</a:t>
            </a:r>
            <a:r>
              <a:rPr dirty="0"/>
              <a:t> </a:t>
            </a:r>
            <a:r>
              <a:rPr dirty="0" err="1"/>
              <a:t>gồm</a:t>
            </a:r>
            <a:r>
              <a:rPr dirty="0"/>
              <a:t> ma </a:t>
            </a:r>
            <a:r>
              <a:rPr dirty="0" err="1"/>
              <a:t>trận</a:t>
            </a:r>
            <a:r>
              <a:rPr dirty="0"/>
              <a:t> accessory 1167 </a:t>
            </a:r>
            <a:r>
              <a:rPr dirty="0" err="1"/>
              <a:t>nhân</a:t>
            </a:r>
            <a:r>
              <a:rPr dirty="0"/>
              <a:t> 18125, </a:t>
            </a:r>
            <a:r>
              <a:rPr dirty="0" err="1"/>
              <a:t>bộ</a:t>
            </a:r>
            <a:r>
              <a:rPr dirty="0"/>
              <a:t> marker 1167 </a:t>
            </a:r>
            <a:r>
              <a:rPr dirty="0" err="1"/>
              <a:t>nhân</a:t>
            </a:r>
            <a:r>
              <a:rPr dirty="0"/>
              <a:t> 50, core SNP, </a:t>
            </a:r>
            <a:r>
              <a:rPr dirty="0" err="1"/>
              <a:t>và</a:t>
            </a:r>
            <a:r>
              <a:rPr dirty="0"/>
              <a:t> vector </a:t>
            </a:r>
            <a:r>
              <a:rPr dirty="0" err="1"/>
              <a:t>nhãn</a:t>
            </a:r>
            <a:r>
              <a:rPr dirty="0"/>
              <a:t> — </a:t>
            </a:r>
            <a:r>
              <a:rPr dirty="0" err="1"/>
              <a:t>tất</a:t>
            </a:r>
            <a:r>
              <a:rPr dirty="0"/>
              <a:t> </a:t>
            </a:r>
            <a:r>
              <a:rPr dirty="0" err="1"/>
              <a:t>cả</a:t>
            </a:r>
            <a:r>
              <a:rPr dirty="0"/>
              <a:t> </a:t>
            </a:r>
            <a:r>
              <a:rPr dirty="0" err="1"/>
              <a:t>căn</a:t>
            </a:r>
            <a:r>
              <a:rPr dirty="0"/>
              <a:t> </a:t>
            </a:r>
            <a:r>
              <a:rPr dirty="0" err="1"/>
              <a:t>hàng</a:t>
            </a:r>
            <a:r>
              <a:rPr dirty="0"/>
              <a:t> </a:t>
            </a:r>
            <a:r>
              <a:rPr dirty="0" err="1"/>
              <a:t>theo</a:t>
            </a:r>
            <a:r>
              <a:rPr dirty="0"/>
              <a:t> genome.</a:t>
            </a:r>
          </a:p>
          <a:p>
            <a:r>
              <a:rPr dirty="0" err="1"/>
              <a:t>em</a:t>
            </a:r>
            <a:r>
              <a:rPr dirty="0"/>
              <a:t> </a:t>
            </a:r>
            <a:r>
              <a:rPr dirty="0" err="1"/>
              <a:t>dùng</a:t>
            </a:r>
            <a:r>
              <a:rPr dirty="0"/>
              <a:t> </a:t>
            </a:r>
            <a:r>
              <a:rPr lang="en-US" dirty="0"/>
              <a:t>stratified </a:t>
            </a:r>
            <a:r>
              <a:rPr dirty="0"/>
              <a:t>K-fold : chia </a:t>
            </a:r>
            <a:r>
              <a:rPr dirty="0" err="1"/>
              <a:t>dữ</a:t>
            </a:r>
            <a:r>
              <a:rPr dirty="0"/>
              <a:t> </a:t>
            </a:r>
            <a:r>
              <a:rPr dirty="0" err="1"/>
              <a:t>liệu</a:t>
            </a:r>
            <a:r>
              <a:rPr dirty="0"/>
              <a:t> </a:t>
            </a:r>
            <a:r>
              <a:rPr dirty="0" err="1"/>
              <a:t>thành</a:t>
            </a:r>
            <a:r>
              <a:rPr dirty="0"/>
              <a:t> </a:t>
            </a:r>
            <a:r>
              <a:rPr dirty="0" err="1"/>
              <a:t>năm</a:t>
            </a:r>
            <a:r>
              <a:rPr dirty="0"/>
              <a:t> </a:t>
            </a:r>
            <a:r>
              <a:rPr dirty="0" err="1"/>
              <a:t>phần</a:t>
            </a:r>
            <a:r>
              <a:rPr dirty="0"/>
              <a:t> (K </a:t>
            </a:r>
            <a:r>
              <a:rPr dirty="0" err="1"/>
              <a:t>bằng</a:t>
            </a:r>
            <a:r>
              <a:rPr dirty="0"/>
              <a:t> 5), </a:t>
            </a:r>
            <a:r>
              <a:rPr dirty="0" err="1"/>
              <a:t>lặp</a:t>
            </a:r>
            <a:r>
              <a:rPr dirty="0"/>
              <a:t> </a:t>
            </a:r>
            <a:r>
              <a:rPr dirty="0" err="1"/>
              <a:t>lại</a:t>
            </a:r>
            <a:r>
              <a:rPr dirty="0"/>
              <a:t> </a:t>
            </a:r>
            <a:r>
              <a:rPr dirty="0" err="1"/>
              <a:t>năm</a:t>
            </a:r>
            <a:r>
              <a:rPr dirty="0"/>
              <a:t> </a:t>
            </a:r>
            <a:r>
              <a:rPr dirty="0" err="1"/>
              <a:t>lần</a:t>
            </a:r>
            <a:r>
              <a:rPr dirty="0"/>
              <a:t> (R </a:t>
            </a:r>
            <a:r>
              <a:rPr dirty="0" err="1"/>
              <a:t>bằng</a:t>
            </a:r>
            <a:r>
              <a:rPr dirty="0"/>
              <a:t> 5), </a:t>
            </a:r>
            <a:r>
              <a:rPr dirty="0" err="1"/>
              <a:t>tổng</a:t>
            </a:r>
            <a:r>
              <a:rPr dirty="0"/>
              <a:t> </a:t>
            </a:r>
            <a:r>
              <a:rPr dirty="0" err="1"/>
              <a:t>cộng</a:t>
            </a:r>
            <a:r>
              <a:rPr dirty="0"/>
              <a:t> </a:t>
            </a:r>
            <a:r>
              <a:rPr dirty="0" err="1"/>
              <a:t>hai</a:t>
            </a:r>
            <a:r>
              <a:rPr dirty="0"/>
              <a:t> </a:t>
            </a:r>
            <a:r>
              <a:rPr dirty="0" err="1"/>
              <a:t>mươi</a:t>
            </a:r>
            <a:r>
              <a:rPr dirty="0"/>
              <a:t> </a:t>
            </a:r>
            <a:r>
              <a:rPr dirty="0" err="1"/>
              <a:t>lăm</a:t>
            </a:r>
            <a:r>
              <a:rPr dirty="0"/>
              <a:t> </a:t>
            </a:r>
            <a:r>
              <a:rPr dirty="0" err="1"/>
              <a:t>lần</a:t>
            </a:r>
            <a:r>
              <a:rPr dirty="0"/>
              <a:t> chia </a:t>
            </a:r>
            <a:r>
              <a:rPr dirty="0" err="1"/>
              <a:t>khác</a:t>
            </a:r>
            <a:r>
              <a:rPr dirty="0"/>
              <a:t> </a:t>
            </a:r>
            <a:r>
              <a:rPr dirty="0" err="1"/>
              <a:t>nhau</a:t>
            </a:r>
            <a:r>
              <a:rPr dirty="0"/>
              <a:t>. </a:t>
            </a:r>
            <a:r>
              <a:rPr dirty="0" err="1"/>
              <a:t>Chữ</a:t>
            </a:r>
            <a:r>
              <a:rPr dirty="0"/>
              <a:t> 'stratified' </a:t>
            </a:r>
            <a:r>
              <a:rPr dirty="0" err="1"/>
              <a:t>nghĩa</a:t>
            </a:r>
            <a:r>
              <a:rPr dirty="0"/>
              <a:t> </a:t>
            </a:r>
            <a:r>
              <a:rPr dirty="0" err="1"/>
              <a:t>là</a:t>
            </a:r>
            <a:r>
              <a:rPr dirty="0"/>
              <a:t> </a:t>
            </a:r>
            <a:r>
              <a:rPr dirty="0" err="1"/>
              <a:t>mỗi</a:t>
            </a:r>
            <a:r>
              <a:rPr dirty="0"/>
              <a:t> </a:t>
            </a:r>
            <a:r>
              <a:rPr dirty="0" err="1"/>
              <a:t>phần</a:t>
            </a:r>
            <a:r>
              <a:rPr dirty="0"/>
              <a:t> </a:t>
            </a:r>
            <a:r>
              <a:rPr dirty="0" err="1"/>
              <a:t>vẫn</a:t>
            </a:r>
            <a:r>
              <a:rPr dirty="0"/>
              <a:t> </a:t>
            </a:r>
            <a:r>
              <a:rPr dirty="0" err="1"/>
              <a:t>giữ</a:t>
            </a:r>
            <a:r>
              <a:rPr dirty="0"/>
              <a:t> </a:t>
            </a:r>
            <a:r>
              <a:rPr dirty="0" err="1"/>
              <a:t>đúng</a:t>
            </a:r>
            <a:r>
              <a:rPr dirty="0"/>
              <a:t> </a:t>
            </a:r>
            <a:r>
              <a:rPr dirty="0" err="1"/>
              <a:t>tỷ</a:t>
            </a:r>
            <a:r>
              <a:rPr dirty="0"/>
              <a:t> </a:t>
            </a:r>
            <a:r>
              <a:rPr dirty="0" err="1"/>
              <a:t>lệ</a:t>
            </a:r>
            <a:r>
              <a:rPr dirty="0"/>
              <a:t> </a:t>
            </a:r>
            <a:r>
              <a:rPr dirty="0" err="1"/>
              <a:t>kháng</a:t>
            </a:r>
            <a:r>
              <a:rPr dirty="0"/>
              <a:t> </a:t>
            </a:r>
            <a:r>
              <a:rPr dirty="0" err="1"/>
              <a:t>trên</a:t>
            </a:r>
            <a:r>
              <a:rPr dirty="0"/>
              <a:t> </a:t>
            </a:r>
            <a:r>
              <a:rPr dirty="0" err="1"/>
              <a:t>nhạy</a:t>
            </a:r>
            <a:r>
              <a:rPr dirty="0"/>
              <a:t>. Lặp </a:t>
            </a:r>
            <a:r>
              <a:rPr dirty="0" err="1"/>
              <a:t>nhiều</a:t>
            </a:r>
            <a:r>
              <a:rPr dirty="0"/>
              <a:t> </a:t>
            </a:r>
            <a:r>
              <a:rPr dirty="0" err="1"/>
              <a:t>lần</a:t>
            </a:r>
            <a:r>
              <a:rPr dirty="0"/>
              <a:t> </a:t>
            </a:r>
            <a:r>
              <a:rPr dirty="0" err="1"/>
              <a:t>giúp</a:t>
            </a:r>
            <a:r>
              <a:rPr dirty="0"/>
              <a:t> </a:t>
            </a:r>
            <a:r>
              <a:rPr dirty="0" err="1"/>
              <a:t>điểm</a:t>
            </a:r>
            <a:r>
              <a:rPr dirty="0"/>
              <a:t> </a:t>
            </a:r>
            <a:r>
              <a:rPr dirty="0" err="1"/>
              <a:t>số</a:t>
            </a:r>
            <a:r>
              <a:rPr dirty="0"/>
              <a:t> </a:t>
            </a:r>
            <a:r>
              <a:rPr dirty="0" err="1"/>
              <a:t>ổn</a:t>
            </a:r>
            <a:r>
              <a:rPr dirty="0"/>
              <a:t> </a:t>
            </a:r>
            <a:r>
              <a:rPr dirty="0" err="1"/>
              <a:t>định</a:t>
            </a:r>
            <a:r>
              <a:rPr dirty="0"/>
              <a:t>, </a:t>
            </a:r>
            <a:r>
              <a:rPr dirty="0" err="1"/>
              <a:t>không</a:t>
            </a:r>
            <a:r>
              <a:rPr dirty="0"/>
              <a:t> </a:t>
            </a:r>
            <a:r>
              <a:rPr dirty="0" err="1"/>
              <a:t>phụ</a:t>
            </a:r>
            <a:r>
              <a:rPr dirty="0"/>
              <a:t> </a:t>
            </a:r>
            <a:r>
              <a:rPr dirty="0" err="1"/>
              <a:t>thuộc</a:t>
            </a:r>
            <a:r>
              <a:rPr dirty="0"/>
              <a:t> </a:t>
            </a:r>
            <a:r>
              <a:rPr dirty="0" err="1"/>
              <a:t>một</a:t>
            </a:r>
            <a:r>
              <a:rPr dirty="0"/>
              <a:t> </a:t>
            </a:r>
            <a:r>
              <a:rPr dirty="0" err="1"/>
              <a:t>lần</a:t>
            </a:r>
            <a:r>
              <a:rPr dirty="0"/>
              <a:t> chia.</a:t>
            </a:r>
          </a:p>
          <a:p>
            <a:r>
              <a:rPr dirty="0" err="1"/>
              <a:t>Mỗi</a:t>
            </a:r>
            <a:r>
              <a:rPr dirty="0"/>
              <a:t> </a:t>
            </a:r>
            <a:r>
              <a:rPr dirty="0" err="1"/>
              <a:t>lần</a:t>
            </a:r>
            <a:r>
              <a:rPr dirty="0"/>
              <a:t> chia, </a:t>
            </a:r>
            <a:r>
              <a:rPr dirty="0" err="1"/>
              <a:t>phần</a:t>
            </a:r>
            <a:r>
              <a:rPr dirty="0"/>
              <a:t> train </a:t>
            </a:r>
            <a:r>
              <a:rPr dirty="0" err="1"/>
              <a:t>khoảng</a:t>
            </a:r>
            <a:r>
              <a:rPr dirty="0"/>
              <a:t> 933 </a:t>
            </a:r>
            <a:r>
              <a:rPr dirty="0" err="1"/>
              <a:t>chủng</a:t>
            </a:r>
            <a:r>
              <a:rPr dirty="0"/>
              <a:t>, </a:t>
            </a:r>
            <a:r>
              <a:rPr dirty="0" err="1"/>
              <a:t>phần</a:t>
            </a:r>
            <a:r>
              <a:rPr dirty="0"/>
              <a:t> test </a:t>
            </a:r>
            <a:r>
              <a:rPr dirty="0" err="1"/>
              <a:t>khoảng</a:t>
            </a:r>
            <a:r>
              <a:rPr dirty="0"/>
              <a:t> 234 </a:t>
            </a:r>
            <a:r>
              <a:rPr dirty="0" err="1"/>
              <a:t>chủng</a:t>
            </a:r>
            <a:r>
              <a:rPr dirty="0"/>
              <a:t>.</a:t>
            </a:r>
          </a:p>
          <a:p>
            <a:r>
              <a:rPr dirty="0"/>
              <a:t>Riêng </a:t>
            </a:r>
            <a:r>
              <a:rPr dirty="0" err="1"/>
              <a:t>khi</a:t>
            </a:r>
            <a:r>
              <a:rPr dirty="0"/>
              <a:t> </a:t>
            </a:r>
            <a:r>
              <a:rPr dirty="0" err="1"/>
              <a:t>đánh</a:t>
            </a:r>
            <a:r>
              <a:rPr dirty="0"/>
              <a:t> </a:t>
            </a:r>
            <a:r>
              <a:rPr dirty="0" err="1"/>
              <a:t>giá</a:t>
            </a:r>
            <a:r>
              <a:rPr dirty="0"/>
              <a:t> </a:t>
            </a:r>
            <a:r>
              <a:rPr dirty="0" err="1"/>
              <a:t>theo</a:t>
            </a:r>
            <a:r>
              <a:rPr dirty="0"/>
              <a:t> </a:t>
            </a:r>
            <a:r>
              <a:rPr dirty="0" err="1"/>
              <a:t>dòng</a:t>
            </a:r>
            <a:r>
              <a:rPr dirty="0"/>
              <a:t> — </a:t>
            </a:r>
            <a:r>
              <a:rPr dirty="0" err="1"/>
              <a:t>sẽ</a:t>
            </a:r>
            <a:r>
              <a:rPr dirty="0"/>
              <a:t> </a:t>
            </a:r>
            <a:r>
              <a:rPr dirty="0" err="1"/>
              <a:t>nói</a:t>
            </a:r>
            <a:r>
              <a:rPr dirty="0"/>
              <a:t> </a:t>
            </a:r>
            <a:r>
              <a:rPr dirty="0" err="1"/>
              <a:t>ở</a:t>
            </a:r>
            <a:r>
              <a:rPr dirty="0"/>
              <a:t> </a:t>
            </a:r>
            <a:r>
              <a:rPr dirty="0" err="1"/>
              <a:t>phần</a:t>
            </a:r>
            <a:r>
              <a:rPr dirty="0"/>
              <a:t> </a:t>
            </a:r>
            <a:r>
              <a:rPr dirty="0" err="1"/>
              <a:t>kiểm</a:t>
            </a:r>
            <a:r>
              <a:rPr dirty="0"/>
              <a:t> </a:t>
            </a:r>
            <a:r>
              <a:rPr dirty="0" err="1"/>
              <a:t>chứng</a:t>
            </a:r>
            <a:r>
              <a:rPr dirty="0"/>
              <a:t> — </a:t>
            </a:r>
            <a:r>
              <a:rPr dirty="0" err="1"/>
              <a:t>em</a:t>
            </a:r>
            <a:r>
              <a:rPr dirty="0"/>
              <a:t> </a:t>
            </a:r>
            <a:r>
              <a:rPr dirty="0" err="1"/>
              <a:t>thay</a:t>
            </a:r>
            <a:r>
              <a:rPr dirty="0"/>
              <a:t> </a:t>
            </a:r>
            <a:r>
              <a:rPr dirty="0" err="1"/>
              <a:t>cách</a:t>
            </a:r>
            <a:r>
              <a:rPr dirty="0"/>
              <a:t> chia </a:t>
            </a:r>
            <a:r>
              <a:rPr dirty="0" err="1"/>
              <a:t>ngẫu</a:t>
            </a:r>
            <a:r>
              <a:rPr dirty="0"/>
              <a:t> </a:t>
            </a:r>
            <a:r>
              <a:rPr dirty="0" err="1"/>
              <a:t>nhiên</a:t>
            </a:r>
            <a:r>
              <a:rPr dirty="0"/>
              <a:t> </a:t>
            </a:r>
            <a:r>
              <a:rPr dirty="0" err="1"/>
              <a:t>này</a:t>
            </a:r>
            <a:r>
              <a:rPr dirty="0"/>
              <a:t> </a:t>
            </a:r>
            <a:r>
              <a:rPr dirty="0" err="1"/>
              <a:t>bằng</a:t>
            </a:r>
            <a:r>
              <a:rPr dirty="0"/>
              <a:t> </a:t>
            </a:r>
            <a:r>
              <a:rPr dirty="0" err="1"/>
              <a:t>cách</a:t>
            </a:r>
            <a:r>
              <a:rPr dirty="0"/>
              <a:t> chia </a:t>
            </a:r>
            <a:r>
              <a:rPr dirty="0" err="1"/>
              <a:t>theo</a:t>
            </a:r>
            <a:r>
              <a:rPr dirty="0"/>
              <a:t> </a:t>
            </a:r>
            <a:r>
              <a:rPr dirty="0" err="1"/>
              <a:t>nhóm</a:t>
            </a:r>
            <a:r>
              <a:rPr dirty="0"/>
              <a:t> </a:t>
            </a:r>
            <a:r>
              <a:rPr dirty="0" err="1"/>
              <a:t>dòng</a:t>
            </a:r>
            <a:r>
              <a:rPr dirty="0"/>
              <a:t>, </a:t>
            </a:r>
            <a:r>
              <a:rPr dirty="0" err="1"/>
              <a:t>để</a:t>
            </a:r>
            <a:r>
              <a:rPr dirty="0"/>
              <a:t> </a:t>
            </a:r>
            <a:r>
              <a:rPr dirty="0" err="1"/>
              <a:t>cùng</a:t>
            </a:r>
            <a:r>
              <a:rPr dirty="0"/>
              <a:t> </a:t>
            </a:r>
            <a:r>
              <a:rPr dirty="0" err="1"/>
              <a:t>một</a:t>
            </a:r>
            <a:r>
              <a:rPr dirty="0"/>
              <a:t> </a:t>
            </a:r>
            <a:r>
              <a:rPr dirty="0" err="1"/>
              <a:t>dòng</a:t>
            </a:r>
            <a:r>
              <a:rPr dirty="0"/>
              <a:t> </a:t>
            </a:r>
            <a:r>
              <a:rPr dirty="0" err="1"/>
              <a:t>không</a:t>
            </a:r>
            <a:r>
              <a:rPr dirty="0"/>
              <a:t> </a:t>
            </a:r>
            <a:r>
              <a:rPr dirty="0" err="1"/>
              <a:t>nằm</a:t>
            </a:r>
            <a:r>
              <a:rPr dirty="0"/>
              <a:t> </a:t>
            </a:r>
            <a:r>
              <a:rPr dirty="0" err="1"/>
              <a:t>ở</a:t>
            </a:r>
            <a:r>
              <a:rPr dirty="0"/>
              <a:t> </a:t>
            </a:r>
            <a:r>
              <a:rPr dirty="0" err="1"/>
              <a:t>cả</a:t>
            </a:r>
            <a:r>
              <a:rPr dirty="0"/>
              <a:t> train </a:t>
            </a:r>
            <a:r>
              <a:rPr dirty="0" err="1"/>
              <a:t>lẫn</a:t>
            </a:r>
            <a:r>
              <a:rPr dirty="0"/>
              <a:t> test.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Đây</a:t>
            </a:r>
            <a:r>
              <a:rPr dirty="0"/>
              <a:t> </a:t>
            </a:r>
            <a:r>
              <a:rPr dirty="0" err="1"/>
              <a:t>là</a:t>
            </a:r>
            <a:r>
              <a:rPr dirty="0"/>
              <a:t> </a:t>
            </a:r>
            <a:r>
              <a:rPr dirty="0" err="1"/>
              <a:t>các</a:t>
            </a:r>
            <a:r>
              <a:rPr dirty="0"/>
              <a:t> module </a:t>
            </a:r>
            <a:r>
              <a:rPr dirty="0" err="1"/>
              <a:t>đặc</a:t>
            </a:r>
            <a:r>
              <a:rPr dirty="0"/>
              <a:t> </a:t>
            </a:r>
            <a:r>
              <a:rPr dirty="0" err="1"/>
              <a:t>trưng</a:t>
            </a:r>
            <a:r>
              <a:rPr dirty="0"/>
              <a:t>. </a:t>
            </a:r>
            <a:r>
              <a:rPr dirty="0" err="1"/>
              <a:t>Vấn</a:t>
            </a:r>
            <a:r>
              <a:rPr dirty="0"/>
              <a:t> </a:t>
            </a:r>
            <a:r>
              <a:rPr dirty="0" err="1"/>
              <a:t>đề</a:t>
            </a:r>
            <a:r>
              <a:rPr dirty="0"/>
              <a:t> </a:t>
            </a:r>
            <a:r>
              <a:rPr dirty="0" err="1"/>
              <a:t>là</a:t>
            </a:r>
            <a:r>
              <a:rPr dirty="0"/>
              <a:t> accessory </a:t>
            </a:r>
            <a:r>
              <a:rPr dirty="0" err="1"/>
              <a:t>có</a:t>
            </a:r>
            <a:r>
              <a:rPr dirty="0"/>
              <a:t> </a:t>
            </a:r>
            <a:r>
              <a:rPr dirty="0" err="1"/>
              <a:t>tới</a:t>
            </a:r>
            <a:r>
              <a:rPr dirty="0"/>
              <a:t> </a:t>
            </a:r>
            <a:r>
              <a:rPr dirty="0" err="1"/>
              <a:t>hơn</a:t>
            </a:r>
            <a:r>
              <a:rPr dirty="0"/>
              <a:t> </a:t>
            </a:r>
            <a:r>
              <a:rPr dirty="0" err="1"/>
              <a:t>mười</a:t>
            </a:r>
            <a:r>
              <a:rPr dirty="0"/>
              <a:t> </a:t>
            </a:r>
            <a:r>
              <a:rPr dirty="0" err="1"/>
              <a:t>tám</a:t>
            </a:r>
            <a:r>
              <a:rPr dirty="0"/>
              <a:t> </a:t>
            </a:r>
            <a:r>
              <a:rPr dirty="0" err="1"/>
              <a:t>nghìn</a:t>
            </a:r>
            <a:r>
              <a:rPr dirty="0"/>
              <a:t> gene — </a:t>
            </a:r>
            <a:r>
              <a:rPr dirty="0" err="1"/>
              <a:t>quá</a:t>
            </a:r>
            <a:r>
              <a:rPr dirty="0"/>
              <a:t> </a:t>
            </a:r>
            <a:r>
              <a:rPr dirty="0" err="1"/>
              <a:t>nhiều</a:t>
            </a:r>
            <a:r>
              <a:rPr dirty="0"/>
              <a:t> — </a:t>
            </a:r>
            <a:r>
              <a:rPr dirty="0" err="1"/>
              <a:t>nên</a:t>
            </a:r>
            <a:r>
              <a:rPr dirty="0"/>
              <a:t> </a:t>
            </a:r>
            <a:r>
              <a:rPr dirty="0" err="1"/>
              <a:t>mỗi</a:t>
            </a:r>
            <a:r>
              <a:rPr dirty="0"/>
              <a:t> module </a:t>
            </a:r>
            <a:r>
              <a:rPr dirty="0" err="1"/>
              <a:t>tìm</a:t>
            </a:r>
            <a:r>
              <a:rPr dirty="0"/>
              <a:t> </a:t>
            </a:r>
            <a:r>
              <a:rPr dirty="0" err="1"/>
              <a:t>cách</a:t>
            </a:r>
            <a:r>
              <a:rPr dirty="0"/>
              <a:t> </a:t>
            </a:r>
            <a:r>
              <a:rPr dirty="0" err="1"/>
              <a:t>rút</a:t>
            </a:r>
            <a:r>
              <a:rPr dirty="0"/>
              <a:t> </a:t>
            </a:r>
            <a:r>
              <a:rPr dirty="0" err="1"/>
              <a:t>gọn</a:t>
            </a:r>
            <a:r>
              <a:rPr dirty="0"/>
              <a:t> </a:t>
            </a:r>
            <a:r>
              <a:rPr dirty="0" err="1"/>
              <a:t>xuống</a:t>
            </a:r>
            <a:r>
              <a:rPr dirty="0"/>
              <a:t> </a:t>
            </a:r>
            <a:r>
              <a:rPr dirty="0" err="1"/>
              <a:t>thành</a:t>
            </a:r>
            <a:r>
              <a:rPr dirty="0"/>
              <a:t> </a:t>
            </a:r>
            <a:r>
              <a:rPr dirty="0" err="1"/>
              <a:t>một</a:t>
            </a:r>
            <a:r>
              <a:rPr dirty="0"/>
              <a:t> </a:t>
            </a:r>
            <a:r>
              <a:rPr dirty="0" err="1"/>
              <a:t>bảng</a:t>
            </a:r>
            <a:r>
              <a:rPr dirty="0"/>
              <a:t> </a:t>
            </a:r>
            <a:r>
              <a:rPr dirty="0" err="1"/>
              <a:t>nhỏ</a:t>
            </a:r>
            <a:r>
              <a:rPr dirty="0"/>
              <a:t>, </a:t>
            </a:r>
            <a:r>
              <a:rPr dirty="0" err="1"/>
              <a:t>giàu</a:t>
            </a:r>
            <a:r>
              <a:rPr dirty="0"/>
              <a:t> </a:t>
            </a:r>
            <a:r>
              <a:rPr dirty="0" err="1"/>
              <a:t>thông</a:t>
            </a:r>
            <a:r>
              <a:rPr dirty="0"/>
              <a:t> tin.</a:t>
            </a:r>
          </a:p>
          <a:p>
            <a:r>
              <a:rPr dirty="0"/>
              <a:t>Module chi </a:t>
            </a:r>
            <a:r>
              <a:rPr dirty="0" err="1"/>
              <a:t>bình</a:t>
            </a:r>
            <a:r>
              <a:rPr dirty="0"/>
              <a:t> </a:t>
            </a:r>
            <a:r>
              <a:rPr dirty="0" err="1"/>
              <a:t>phương</a:t>
            </a:r>
            <a:r>
              <a:rPr dirty="0"/>
              <a:t> </a:t>
            </a:r>
            <a:r>
              <a:rPr dirty="0" err="1"/>
              <a:t>chấm</a:t>
            </a:r>
            <a:r>
              <a:rPr dirty="0"/>
              <a:t> </a:t>
            </a:r>
            <a:r>
              <a:rPr dirty="0" err="1"/>
              <a:t>điểm</a:t>
            </a:r>
            <a:r>
              <a:rPr dirty="0"/>
              <a:t> </a:t>
            </a:r>
            <a:r>
              <a:rPr dirty="0" err="1"/>
              <a:t>từng</a:t>
            </a:r>
            <a:r>
              <a:rPr dirty="0"/>
              <a:t> gene </a:t>
            </a:r>
            <a:r>
              <a:rPr dirty="0" err="1"/>
              <a:t>xem</a:t>
            </a:r>
            <a:r>
              <a:rPr dirty="0"/>
              <a:t> </a:t>
            </a:r>
            <a:r>
              <a:rPr dirty="0" err="1"/>
              <a:t>nó</a:t>
            </a:r>
            <a:r>
              <a:rPr dirty="0"/>
              <a:t> </a:t>
            </a:r>
            <a:r>
              <a:rPr dirty="0" err="1"/>
              <a:t>liên</a:t>
            </a:r>
            <a:r>
              <a:rPr dirty="0"/>
              <a:t> </a:t>
            </a:r>
            <a:r>
              <a:rPr dirty="0" err="1"/>
              <a:t>quan</a:t>
            </a:r>
            <a:r>
              <a:rPr dirty="0"/>
              <a:t> </a:t>
            </a:r>
            <a:r>
              <a:rPr dirty="0" err="1"/>
              <a:t>tới</a:t>
            </a:r>
            <a:r>
              <a:rPr dirty="0"/>
              <a:t> </a:t>
            </a:r>
            <a:r>
              <a:rPr dirty="0" err="1"/>
              <a:t>kháng</a:t>
            </a:r>
            <a:r>
              <a:rPr dirty="0"/>
              <a:t> </a:t>
            </a:r>
            <a:r>
              <a:rPr dirty="0" err="1"/>
              <a:t>thuốc</a:t>
            </a:r>
            <a:r>
              <a:rPr dirty="0"/>
              <a:t> </a:t>
            </a:r>
            <a:r>
              <a:rPr dirty="0" err="1"/>
              <a:t>đến</a:t>
            </a:r>
            <a:r>
              <a:rPr dirty="0"/>
              <a:t> </a:t>
            </a:r>
            <a:r>
              <a:rPr dirty="0" err="1"/>
              <a:t>đâu</a:t>
            </a:r>
            <a:r>
              <a:rPr dirty="0"/>
              <a:t>, </a:t>
            </a:r>
            <a:r>
              <a:rPr dirty="0" err="1"/>
              <a:t>rồi</a:t>
            </a:r>
            <a:r>
              <a:rPr dirty="0"/>
              <a:t> </a:t>
            </a:r>
            <a:r>
              <a:rPr dirty="0" err="1"/>
              <a:t>giữ</a:t>
            </a:r>
            <a:r>
              <a:rPr dirty="0"/>
              <a:t> </a:t>
            </a:r>
            <a:r>
              <a:rPr dirty="0" err="1"/>
              <a:t>lại</a:t>
            </a:r>
            <a:r>
              <a:rPr dirty="0"/>
              <a:t> 200 gene </a:t>
            </a:r>
            <a:r>
              <a:rPr dirty="0" err="1"/>
              <a:t>tốt</a:t>
            </a:r>
            <a:r>
              <a:rPr dirty="0"/>
              <a:t> </a:t>
            </a:r>
            <a:r>
              <a:rPr dirty="0" err="1"/>
              <a:t>nhất</a:t>
            </a:r>
            <a:r>
              <a:rPr dirty="0"/>
              <a:t>.</a:t>
            </a:r>
          </a:p>
          <a:p>
            <a:r>
              <a:rPr dirty="0"/>
              <a:t>Module ensemble </a:t>
            </a:r>
            <a:r>
              <a:rPr dirty="0" err="1"/>
              <a:t>trộn</a:t>
            </a:r>
            <a:r>
              <a:rPr dirty="0"/>
              <a:t> </a:t>
            </a:r>
            <a:r>
              <a:rPr dirty="0" err="1"/>
              <a:t>ba</a:t>
            </a:r>
            <a:r>
              <a:rPr dirty="0"/>
              <a:t> </a:t>
            </a:r>
            <a:r>
              <a:rPr dirty="0" err="1"/>
              <a:t>cách</a:t>
            </a:r>
            <a:r>
              <a:rPr dirty="0"/>
              <a:t> </a:t>
            </a:r>
            <a:r>
              <a:rPr dirty="0" err="1"/>
              <a:t>xếp</a:t>
            </a:r>
            <a:r>
              <a:rPr dirty="0"/>
              <a:t> </a:t>
            </a:r>
            <a:r>
              <a:rPr dirty="0" err="1"/>
              <a:t>hạng</a:t>
            </a:r>
            <a:r>
              <a:rPr dirty="0"/>
              <a:t> </a:t>
            </a:r>
            <a:r>
              <a:rPr dirty="0" err="1"/>
              <a:t>khác</a:t>
            </a:r>
            <a:r>
              <a:rPr dirty="0"/>
              <a:t> </a:t>
            </a:r>
            <a:r>
              <a:rPr dirty="0" err="1"/>
              <a:t>nhau</a:t>
            </a:r>
            <a:r>
              <a:rPr dirty="0"/>
              <a:t> — chi </a:t>
            </a:r>
            <a:r>
              <a:rPr dirty="0" err="1"/>
              <a:t>bình</a:t>
            </a:r>
            <a:r>
              <a:rPr dirty="0"/>
              <a:t> </a:t>
            </a:r>
            <a:r>
              <a:rPr dirty="0" err="1"/>
              <a:t>phương</a:t>
            </a:r>
            <a:r>
              <a:rPr dirty="0"/>
              <a:t>, </a:t>
            </a:r>
            <a:r>
              <a:rPr dirty="0" err="1"/>
              <a:t>hệ</a:t>
            </a:r>
            <a:r>
              <a:rPr dirty="0"/>
              <a:t> </a:t>
            </a:r>
            <a:r>
              <a:rPr dirty="0" err="1"/>
              <a:t>số</a:t>
            </a:r>
            <a:r>
              <a:rPr dirty="0"/>
              <a:t> </a:t>
            </a:r>
            <a:r>
              <a:rPr dirty="0" err="1"/>
              <a:t>hồi</a:t>
            </a:r>
            <a:r>
              <a:rPr dirty="0"/>
              <a:t> </a:t>
            </a:r>
            <a:r>
              <a:rPr dirty="0" err="1"/>
              <a:t>quy</a:t>
            </a:r>
            <a:r>
              <a:rPr dirty="0"/>
              <a:t> L1, </a:t>
            </a:r>
            <a:r>
              <a:rPr dirty="0" err="1"/>
              <a:t>và</a:t>
            </a:r>
            <a:r>
              <a:rPr dirty="0"/>
              <a:t> </a:t>
            </a:r>
            <a:r>
              <a:rPr dirty="0" err="1"/>
              <a:t>độ</a:t>
            </a:r>
            <a:r>
              <a:rPr dirty="0"/>
              <a:t> </a:t>
            </a:r>
            <a:r>
              <a:rPr dirty="0" err="1"/>
              <a:t>quan</a:t>
            </a:r>
            <a:r>
              <a:rPr dirty="0"/>
              <a:t> </a:t>
            </a:r>
            <a:r>
              <a:rPr dirty="0" err="1"/>
              <a:t>trọng</a:t>
            </a:r>
            <a:r>
              <a:rPr dirty="0"/>
              <a:t> </a:t>
            </a:r>
            <a:r>
              <a:rPr dirty="0" err="1"/>
              <a:t>của</a:t>
            </a:r>
            <a:r>
              <a:rPr dirty="0"/>
              <a:t> random forest — </a:t>
            </a:r>
            <a:r>
              <a:rPr dirty="0" err="1"/>
              <a:t>rồi</a:t>
            </a:r>
            <a:r>
              <a:rPr dirty="0"/>
              <a:t> </a:t>
            </a:r>
            <a:r>
              <a:rPr dirty="0" err="1"/>
              <a:t>lấy</a:t>
            </a:r>
            <a:r>
              <a:rPr dirty="0"/>
              <a:t> </a:t>
            </a:r>
            <a:r>
              <a:rPr dirty="0" err="1"/>
              <a:t>trung</a:t>
            </a:r>
            <a:r>
              <a:rPr dirty="0"/>
              <a:t> </a:t>
            </a:r>
            <a:r>
              <a:rPr dirty="0" err="1"/>
              <a:t>bình</a:t>
            </a:r>
            <a:r>
              <a:rPr dirty="0"/>
              <a:t>, </a:t>
            </a:r>
            <a:r>
              <a:rPr dirty="0" err="1"/>
              <a:t>nên</a:t>
            </a:r>
            <a:r>
              <a:rPr dirty="0"/>
              <a:t> </a:t>
            </a:r>
            <a:r>
              <a:rPr dirty="0" err="1"/>
              <a:t>ổn</a:t>
            </a:r>
            <a:r>
              <a:rPr dirty="0"/>
              <a:t> </a:t>
            </a:r>
            <a:r>
              <a:rPr dirty="0" err="1"/>
              <a:t>định</a:t>
            </a:r>
            <a:r>
              <a:rPr dirty="0"/>
              <a:t> </a:t>
            </a:r>
            <a:r>
              <a:rPr dirty="0" err="1"/>
              <a:t>hơn</a:t>
            </a:r>
            <a:r>
              <a:rPr dirty="0"/>
              <a:t> </a:t>
            </a:r>
            <a:r>
              <a:rPr dirty="0" err="1"/>
              <a:t>dùng</a:t>
            </a:r>
            <a:r>
              <a:rPr dirty="0"/>
              <a:t> </a:t>
            </a:r>
            <a:r>
              <a:rPr dirty="0" err="1"/>
              <a:t>một</a:t>
            </a:r>
            <a:r>
              <a:rPr dirty="0"/>
              <a:t> </a:t>
            </a:r>
            <a:r>
              <a:rPr dirty="0" err="1"/>
              <a:t>cách</a:t>
            </a:r>
            <a:r>
              <a:rPr dirty="0"/>
              <a:t>.</a:t>
            </a:r>
          </a:p>
          <a:p>
            <a:r>
              <a:rPr dirty="0"/>
              <a:t>Module </a:t>
            </a:r>
            <a:r>
              <a:rPr dirty="0" err="1"/>
              <a:t>đồ</a:t>
            </a:r>
            <a:r>
              <a:rPr dirty="0"/>
              <a:t> </a:t>
            </a:r>
            <a:r>
              <a:rPr dirty="0" err="1"/>
              <a:t>thị</a:t>
            </a:r>
            <a:r>
              <a:rPr dirty="0"/>
              <a:t> </a:t>
            </a:r>
            <a:r>
              <a:rPr dirty="0" err="1"/>
              <a:t>tương</a:t>
            </a:r>
            <a:r>
              <a:rPr dirty="0"/>
              <a:t> </a:t>
            </a:r>
            <a:r>
              <a:rPr dirty="0" err="1"/>
              <a:t>đồng</a:t>
            </a:r>
            <a:r>
              <a:rPr dirty="0"/>
              <a:t> </a:t>
            </a:r>
            <a:r>
              <a:rPr dirty="0" err="1"/>
              <a:t>mẫu</a:t>
            </a:r>
            <a:r>
              <a:rPr dirty="0"/>
              <a:t> </a:t>
            </a:r>
            <a:r>
              <a:rPr dirty="0" err="1"/>
              <a:t>nhìn</a:t>
            </a:r>
            <a:r>
              <a:rPr dirty="0"/>
              <a:t> </a:t>
            </a:r>
            <a:r>
              <a:rPr dirty="0" err="1"/>
              <a:t>vào</a:t>
            </a:r>
            <a:r>
              <a:rPr dirty="0"/>
              <a:t> </a:t>
            </a:r>
            <a:r>
              <a:rPr dirty="0" err="1"/>
              <a:t>mười</a:t>
            </a:r>
            <a:r>
              <a:rPr dirty="0"/>
              <a:t> </a:t>
            </a:r>
            <a:r>
              <a:rPr dirty="0" err="1"/>
              <a:t>lăm</a:t>
            </a:r>
            <a:r>
              <a:rPr dirty="0"/>
              <a:t> </a:t>
            </a:r>
            <a:r>
              <a:rPr dirty="0" err="1"/>
              <a:t>chủng</a:t>
            </a:r>
            <a:r>
              <a:rPr dirty="0"/>
              <a:t> </a:t>
            </a:r>
            <a:r>
              <a:rPr dirty="0" err="1"/>
              <a:t>giống</a:t>
            </a:r>
            <a:r>
              <a:rPr dirty="0"/>
              <a:t> </a:t>
            </a:r>
            <a:r>
              <a:rPr dirty="0" err="1"/>
              <a:t>nhất</a:t>
            </a:r>
            <a:r>
              <a:rPr dirty="0"/>
              <a:t> </a:t>
            </a:r>
            <a:r>
              <a:rPr dirty="0" err="1"/>
              <a:t>với</a:t>
            </a:r>
            <a:r>
              <a:rPr dirty="0"/>
              <a:t> </a:t>
            </a:r>
            <a:r>
              <a:rPr dirty="0" err="1"/>
              <a:t>chủng</a:t>
            </a:r>
            <a:r>
              <a:rPr dirty="0"/>
              <a:t> </a:t>
            </a:r>
            <a:r>
              <a:rPr dirty="0" err="1"/>
              <a:t>đang</a:t>
            </a:r>
            <a:r>
              <a:rPr dirty="0"/>
              <a:t> </a:t>
            </a:r>
            <a:r>
              <a:rPr dirty="0" err="1"/>
              <a:t>xét</a:t>
            </a:r>
            <a:r>
              <a:rPr dirty="0"/>
              <a:t>, </a:t>
            </a:r>
            <a:r>
              <a:rPr dirty="0" err="1"/>
              <a:t>và</a:t>
            </a:r>
            <a:r>
              <a:rPr dirty="0"/>
              <a:t> </a:t>
            </a:r>
            <a:r>
              <a:rPr dirty="0" err="1"/>
              <a:t>tóm</a:t>
            </a:r>
            <a:r>
              <a:rPr dirty="0"/>
              <a:t> </a:t>
            </a:r>
            <a:r>
              <a:rPr dirty="0" err="1"/>
              <a:t>tắt</a:t>
            </a:r>
            <a:r>
              <a:rPr dirty="0"/>
              <a:t> </a:t>
            </a:r>
            <a:r>
              <a:rPr dirty="0" err="1"/>
              <a:t>thành</a:t>
            </a:r>
            <a:r>
              <a:rPr dirty="0"/>
              <a:t> </a:t>
            </a:r>
            <a:r>
              <a:rPr dirty="0" err="1"/>
              <a:t>bảy</a:t>
            </a:r>
            <a:r>
              <a:rPr dirty="0"/>
              <a:t> con </a:t>
            </a:r>
            <a:r>
              <a:rPr dirty="0" err="1"/>
              <a:t>số</a:t>
            </a:r>
            <a:r>
              <a:rPr dirty="0"/>
              <a:t>, </a:t>
            </a:r>
            <a:r>
              <a:rPr dirty="0" err="1"/>
              <a:t>ví</a:t>
            </a:r>
            <a:r>
              <a:rPr dirty="0"/>
              <a:t> </a:t>
            </a:r>
            <a:r>
              <a:rPr dirty="0" err="1"/>
              <a:t>dụ</a:t>
            </a:r>
            <a:r>
              <a:rPr dirty="0"/>
              <a:t> </a:t>
            </a:r>
            <a:r>
              <a:rPr dirty="0" err="1"/>
              <a:t>tỷ</a:t>
            </a:r>
            <a:r>
              <a:rPr dirty="0"/>
              <a:t> </a:t>
            </a:r>
            <a:r>
              <a:rPr dirty="0" err="1"/>
              <a:t>lệ</a:t>
            </a:r>
            <a:r>
              <a:rPr dirty="0"/>
              <a:t> </a:t>
            </a:r>
            <a:r>
              <a:rPr dirty="0" err="1"/>
              <a:t>kháng</a:t>
            </a:r>
            <a:r>
              <a:rPr dirty="0"/>
              <a:t> </a:t>
            </a:r>
            <a:r>
              <a:rPr dirty="0" err="1"/>
              <a:t>của</a:t>
            </a:r>
            <a:r>
              <a:rPr dirty="0"/>
              <a:t> </a:t>
            </a:r>
            <a:r>
              <a:rPr dirty="0" err="1"/>
              <a:t>các</a:t>
            </a:r>
            <a:r>
              <a:rPr dirty="0"/>
              <a:t> </a:t>
            </a:r>
            <a:r>
              <a:rPr dirty="0" err="1"/>
              <a:t>hàng</a:t>
            </a:r>
            <a:r>
              <a:rPr dirty="0"/>
              <a:t> </a:t>
            </a:r>
            <a:r>
              <a:rPr dirty="0" err="1"/>
              <a:t>xóm</a:t>
            </a:r>
            <a:r>
              <a:rPr dirty="0"/>
              <a:t>.</a:t>
            </a:r>
          </a:p>
          <a:p>
            <a:r>
              <a:rPr dirty="0"/>
              <a:t>Module gene</a:t>
            </a:r>
            <a:r>
              <a:rPr lang="vi-VN" dirty="0"/>
              <a:t> embedd</a:t>
            </a:r>
            <a:r>
              <a:rPr dirty="0"/>
              <a:t> </a:t>
            </a:r>
            <a:r>
              <a:rPr dirty="0" err="1"/>
              <a:t>biến</a:t>
            </a:r>
            <a:r>
              <a:rPr dirty="0"/>
              <a:t> </a:t>
            </a:r>
            <a:r>
              <a:rPr dirty="0" err="1"/>
              <a:t>quan</a:t>
            </a:r>
            <a:r>
              <a:rPr dirty="0"/>
              <a:t> </a:t>
            </a:r>
            <a:r>
              <a:rPr dirty="0" err="1"/>
              <a:t>hệ</a:t>
            </a:r>
            <a:r>
              <a:rPr dirty="0"/>
              <a:t> </a:t>
            </a:r>
            <a:r>
              <a:rPr dirty="0" err="1"/>
              <a:t>đồng</a:t>
            </a:r>
            <a:r>
              <a:rPr dirty="0"/>
              <a:t> </a:t>
            </a:r>
            <a:r>
              <a:rPr dirty="0" err="1"/>
              <a:t>xuất</a:t>
            </a:r>
            <a:r>
              <a:rPr dirty="0"/>
              <a:t> </a:t>
            </a:r>
            <a:r>
              <a:rPr dirty="0" err="1"/>
              <a:t>hiện</a:t>
            </a:r>
            <a:r>
              <a:rPr dirty="0"/>
              <a:t> </a:t>
            </a:r>
            <a:r>
              <a:rPr dirty="0" err="1"/>
              <a:t>giữa</a:t>
            </a:r>
            <a:r>
              <a:rPr dirty="0"/>
              <a:t> </a:t>
            </a:r>
            <a:r>
              <a:rPr dirty="0" err="1"/>
              <a:t>các</a:t>
            </a:r>
            <a:r>
              <a:rPr dirty="0"/>
              <a:t> gene </a:t>
            </a:r>
            <a:r>
              <a:rPr dirty="0" err="1"/>
              <a:t>thành</a:t>
            </a:r>
            <a:r>
              <a:rPr dirty="0"/>
              <a:t> </a:t>
            </a:r>
            <a:r>
              <a:rPr dirty="0" err="1"/>
              <a:t>mười</a:t>
            </a:r>
            <a:r>
              <a:rPr dirty="0"/>
              <a:t> </a:t>
            </a:r>
            <a:r>
              <a:rPr dirty="0" err="1"/>
              <a:t>sáu</a:t>
            </a:r>
            <a:r>
              <a:rPr dirty="0"/>
              <a:t> </a:t>
            </a:r>
            <a:r>
              <a:rPr dirty="0" err="1"/>
              <a:t>chiều</a:t>
            </a:r>
            <a:r>
              <a:rPr dirty="0"/>
              <a:t>. </a:t>
            </a:r>
            <a:r>
              <a:rPr dirty="0" err="1"/>
              <a:t>Ý</a:t>
            </a:r>
            <a:r>
              <a:rPr dirty="0"/>
              <a:t> </a:t>
            </a:r>
            <a:r>
              <a:rPr dirty="0" err="1"/>
              <a:t>tưởng</a:t>
            </a:r>
            <a:r>
              <a:rPr dirty="0"/>
              <a:t> </a:t>
            </a:r>
            <a:r>
              <a:rPr dirty="0" err="1"/>
              <a:t>chung</a:t>
            </a:r>
            <a:r>
              <a:rPr dirty="0"/>
              <a:t>: </a:t>
            </a:r>
            <a:r>
              <a:rPr dirty="0" err="1"/>
              <a:t>từ</a:t>
            </a:r>
            <a:r>
              <a:rPr dirty="0"/>
              <a:t> </a:t>
            </a:r>
            <a:r>
              <a:rPr dirty="0" err="1"/>
              <a:t>hàng</a:t>
            </a:r>
            <a:r>
              <a:rPr dirty="0"/>
              <a:t> </a:t>
            </a:r>
            <a:r>
              <a:rPr dirty="0" err="1"/>
              <a:t>chục</a:t>
            </a:r>
            <a:r>
              <a:rPr dirty="0"/>
              <a:t> </a:t>
            </a:r>
            <a:r>
              <a:rPr dirty="0" err="1"/>
              <a:t>nghìn</a:t>
            </a:r>
            <a:r>
              <a:rPr dirty="0"/>
              <a:t> </a:t>
            </a:r>
            <a:r>
              <a:rPr dirty="0" err="1"/>
              <a:t>cột</a:t>
            </a:r>
            <a:r>
              <a:rPr dirty="0"/>
              <a:t>, </a:t>
            </a:r>
            <a:r>
              <a:rPr dirty="0" err="1"/>
              <a:t>mỗi</a:t>
            </a:r>
            <a:r>
              <a:rPr dirty="0"/>
              <a:t> module </a:t>
            </a:r>
            <a:r>
              <a:rPr dirty="0" err="1"/>
              <a:t>cho</a:t>
            </a:r>
            <a:r>
              <a:rPr dirty="0"/>
              <a:t> </a:t>
            </a:r>
            <a:r>
              <a:rPr dirty="0" err="1"/>
              <a:t>ra</a:t>
            </a:r>
            <a:r>
              <a:rPr dirty="0"/>
              <a:t> </a:t>
            </a:r>
            <a:r>
              <a:rPr dirty="0" err="1"/>
              <a:t>một</a:t>
            </a:r>
            <a:r>
              <a:rPr dirty="0"/>
              <a:t> </a:t>
            </a:r>
            <a:r>
              <a:rPr dirty="0" err="1"/>
              <a:t>biểu</a:t>
            </a:r>
            <a:r>
              <a:rPr dirty="0"/>
              <a:t> </a:t>
            </a:r>
            <a:r>
              <a:rPr dirty="0" err="1"/>
              <a:t>diễn</a:t>
            </a:r>
            <a:r>
              <a:rPr dirty="0"/>
              <a:t> </a:t>
            </a:r>
            <a:r>
              <a:rPr dirty="0" err="1"/>
              <a:t>chỉ</a:t>
            </a:r>
            <a:r>
              <a:rPr dirty="0"/>
              <a:t> </a:t>
            </a:r>
            <a:r>
              <a:rPr dirty="0" err="1"/>
              <a:t>vài</a:t>
            </a:r>
            <a:r>
              <a:rPr dirty="0"/>
              <a:t> </a:t>
            </a:r>
            <a:r>
              <a:rPr dirty="0" err="1"/>
              <a:t>chục</a:t>
            </a:r>
            <a:r>
              <a:rPr dirty="0"/>
              <a:t> </a:t>
            </a:r>
            <a:r>
              <a:rPr dirty="0" err="1"/>
              <a:t>cột</a:t>
            </a:r>
            <a:r>
              <a:rPr dirty="0"/>
              <a:t> </a:t>
            </a:r>
            <a:r>
              <a:rPr dirty="0" err="1"/>
              <a:t>nhưng</a:t>
            </a:r>
            <a:r>
              <a:rPr dirty="0"/>
              <a:t> </a:t>
            </a:r>
            <a:r>
              <a:rPr dirty="0" err="1"/>
              <a:t>vẫn</a:t>
            </a:r>
            <a:r>
              <a:rPr dirty="0"/>
              <a:t> </a:t>
            </a:r>
            <a:r>
              <a:rPr dirty="0" err="1"/>
              <a:t>giữ</a:t>
            </a:r>
            <a:r>
              <a:rPr dirty="0"/>
              <a:t> </a:t>
            </a:r>
            <a:r>
              <a:rPr dirty="0" err="1"/>
              <a:t>được</a:t>
            </a:r>
            <a:r>
              <a:rPr dirty="0"/>
              <a:t> </a:t>
            </a:r>
            <a:r>
              <a:rPr dirty="0" err="1"/>
              <a:t>tín</a:t>
            </a:r>
            <a:r>
              <a:rPr dirty="0"/>
              <a:t> </a:t>
            </a:r>
            <a:r>
              <a:rPr dirty="0" err="1"/>
              <a:t>hiệu</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Sau </a:t>
            </a:r>
            <a:r>
              <a:rPr dirty="0" err="1"/>
              <a:t>khi</a:t>
            </a:r>
            <a:r>
              <a:rPr dirty="0"/>
              <a:t> </a:t>
            </a:r>
            <a:r>
              <a:rPr dirty="0" err="1"/>
              <a:t>có</a:t>
            </a:r>
            <a:r>
              <a:rPr dirty="0"/>
              <a:t> </a:t>
            </a:r>
            <a:r>
              <a:rPr dirty="0" err="1"/>
              <a:t>đặc</a:t>
            </a:r>
            <a:r>
              <a:rPr dirty="0"/>
              <a:t> </a:t>
            </a:r>
            <a:r>
              <a:rPr dirty="0" err="1"/>
              <a:t>trưng</a:t>
            </a:r>
            <a:r>
              <a:rPr dirty="0"/>
              <a:t>, </a:t>
            </a:r>
            <a:r>
              <a:rPr dirty="0" err="1"/>
              <a:t>đến</a:t>
            </a:r>
            <a:r>
              <a:rPr dirty="0"/>
              <a:t> </a:t>
            </a:r>
            <a:r>
              <a:rPr dirty="0" err="1"/>
              <a:t>bước</a:t>
            </a:r>
            <a:r>
              <a:rPr dirty="0"/>
              <a:t> </a:t>
            </a:r>
            <a:r>
              <a:rPr dirty="0" err="1"/>
              <a:t>phân</a:t>
            </a:r>
            <a:r>
              <a:rPr dirty="0"/>
              <a:t> </a:t>
            </a:r>
            <a:r>
              <a:rPr dirty="0" err="1"/>
              <a:t>loại</a:t>
            </a:r>
            <a:r>
              <a:rPr dirty="0"/>
              <a:t>. Em </a:t>
            </a:r>
            <a:r>
              <a:rPr dirty="0" err="1"/>
              <a:t>thử</a:t>
            </a:r>
            <a:r>
              <a:rPr dirty="0"/>
              <a:t> </a:t>
            </a:r>
            <a:r>
              <a:rPr dirty="0" err="1"/>
              <a:t>ba</a:t>
            </a:r>
            <a:r>
              <a:rPr dirty="0"/>
              <a:t> </a:t>
            </a:r>
            <a:r>
              <a:rPr dirty="0" err="1"/>
              <a:t>mô</a:t>
            </a:r>
            <a:r>
              <a:rPr dirty="0"/>
              <a:t> </a:t>
            </a:r>
            <a:r>
              <a:rPr dirty="0" err="1"/>
              <a:t>hình</a:t>
            </a:r>
            <a:r>
              <a:rPr dirty="0"/>
              <a:t>: </a:t>
            </a:r>
            <a:r>
              <a:rPr dirty="0" err="1"/>
              <a:t>hồi</a:t>
            </a:r>
            <a:r>
              <a:rPr dirty="0"/>
              <a:t> </a:t>
            </a:r>
            <a:r>
              <a:rPr dirty="0" err="1"/>
              <a:t>quy</a:t>
            </a:r>
            <a:r>
              <a:rPr dirty="0"/>
              <a:t> logistic, random forest, </a:t>
            </a:r>
            <a:r>
              <a:rPr dirty="0" err="1"/>
              <a:t>và</a:t>
            </a:r>
            <a:r>
              <a:rPr dirty="0"/>
              <a:t> </a:t>
            </a:r>
            <a:r>
              <a:rPr dirty="0" err="1"/>
              <a:t>XGBoost</a:t>
            </a:r>
            <a:r>
              <a:rPr dirty="0"/>
              <a:t>. </a:t>
            </a:r>
            <a:r>
              <a:rPr dirty="0" err="1"/>
              <a:t>Cả</a:t>
            </a:r>
            <a:r>
              <a:rPr dirty="0"/>
              <a:t> </a:t>
            </a:r>
            <a:r>
              <a:rPr dirty="0" err="1"/>
              <a:t>ba</a:t>
            </a:r>
            <a:r>
              <a:rPr dirty="0"/>
              <a:t> </a:t>
            </a:r>
            <a:r>
              <a:rPr dirty="0" err="1"/>
              <a:t>đều</a:t>
            </a:r>
            <a:r>
              <a:rPr dirty="0"/>
              <a:t> </a:t>
            </a:r>
            <a:r>
              <a:rPr dirty="0" err="1"/>
              <a:t>được</a:t>
            </a:r>
            <a:r>
              <a:rPr dirty="0"/>
              <a:t> </a:t>
            </a:r>
            <a:r>
              <a:rPr dirty="0" err="1"/>
              <a:t>cân</a:t>
            </a:r>
            <a:r>
              <a:rPr dirty="0"/>
              <a:t> </a:t>
            </a:r>
            <a:r>
              <a:rPr dirty="0" err="1"/>
              <a:t>bằng</a:t>
            </a:r>
            <a:r>
              <a:rPr dirty="0"/>
              <a:t> </a:t>
            </a:r>
            <a:r>
              <a:rPr dirty="0" err="1"/>
              <a:t>trọng</a:t>
            </a:r>
            <a:r>
              <a:rPr dirty="0"/>
              <a:t> </a:t>
            </a:r>
            <a:r>
              <a:rPr dirty="0" err="1"/>
              <a:t>số</a:t>
            </a:r>
            <a:r>
              <a:rPr dirty="0"/>
              <a:t> </a:t>
            </a:r>
            <a:r>
              <a:rPr dirty="0" err="1"/>
              <a:t>lớp</a:t>
            </a:r>
            <a:r>
              <a:rPr dirty="0"/>
              <a:t>, </a:t>
            </a:r>
            <a:r>
              <a:rPr dirty="0" err="1"/>
              <a:t>nghĩa</a:t>
            </a:r>
            <a:r>
              <a:rPr dirty="0"/>
              <a:t> </a:t>
            </a:r>
            <a:r>
              <a:rPr dirty="0" err="1"/>
              <a:t>là</a:t>
            </a:r>
            <a:r>
              <a:rPr dirty="0"/>
              <a:t> </a:t>
            </a:r>
            <a:r>
              <a:rPr dirty="0" err="1"/>
              <a:t>cho</a:t>
            </a:r>
            <a:r>
              <a:rPr dirty="0"/>
              <a:t> </a:t>
            </a:r>
            <a:r>
              <a:rPr dirty="0" err="1"/>
              <a:t>lớp</a:t>
            </a:r>
            <a:r>
              <a:rPr dirty="0"/>
              <a:t> </a:t>
            </a:r>
            <a:r>
              <a:rPr dirty="0" err="1"/>
              <a:t>kháng</a:t>
            </a:r>
            <a:r>
              <a:rPr dirty="0"/>
              <a:t> </a:t>
            </a:r>
            <a:r>
              <a:rPr dirty="0" err="1"/>
              <a:t>hiếm</a:t>
            </a:r>
            <a:r>
              <a:rPr dirty="0"/>
              <a:t> </a:t>
            </a:r>
            <a:r>
              <a:rPr dirty="0" err="1"/>
              <a:t>một</a:t>
            </a:r>
            <a:r>
              <a:rPr dirty="0"/>
              <a:t> </a:t>
            </a:r>
            <a:r>
              <a:rPr dirty="0" err="1"/>
              <a:t>trọng</a:t>
            </a:r>
            <a:r>
              <a:rPr dirty="0"/>
              <a:t> </a:t>
            </a:r>
            <a:r>
              <a:rPr dirty="0" err="1"/>
              <a:t>số</a:t>
            </a:r>
            <a:r>
              <a:rPr dirty="0"/>
              <a:t> </a:t>
            </a:r>
            <a:r>
              <a:rPr dirty="0" err="1"/>
              <a:t>lớn</a:t>
            </a:r>
            <a:r>
              <a:rPr dirty="0"/>
              <a:t> </a:t>
            </a:r>
            <a:r>
              <a:rPr dirty="0" err="1"/>
              <a:t>hơn</a:t>
            </a:r>
            <a:r>
              <a:rPr dirty="0"/>
              <a:t> </a:t>
            </a:r>
            <a:r>
              <a:rPr dirty="0" err="1"/>
              <a:t>để</a:t>
            </a:r>
            <a:r>
              <a:rPr dirty="0"/>
              <a:t> </a:t>
            </a:r>
            <a:r>
              <a:rPr dirty="0" err="1"/>
              <a:t>mô</a:t>
            </a:r>
            <a:r>
              <a:rPr dirty="0"/>
              <a:t> </a:t>
            </a:r>
            <a:r>
              <a:rPr dirty="0" err="1"/>
              <a:t>hình</a:t>
            </a:r>
            <a:r>
              <a:rPr dirty="0"/>
              <a:t> </a:t>
            </a:r>
            <a:r>
              <a:rPr lang="en-VN" dirty="0"/>
              <a:t>học dc</a:t>
            </a:r>
            <a:r>
              <a:rPr dirty="0"/>
              <a:t>.</a:t>
            </a:r>
          </a:p>
          <a:p>
            <a:r>
              <a:rPr dirty="0" err="1"/>
              <a:t>Mô</a:t>
            </a:r>
            <a:r>
              <a:rPr dirty="0"/>
              <a:t> </a:t>
            </a:r>
            <a:r>
              <a:rPr dirty="0" err="1"/>
              <a:t>hình</a:t>
            </a:r>
            <a:r>
              <a:rPr dirty="0"/>
              <a:t> </a:t>
            </a:r>
            <a:r>
              <a:rPr dirty="0" err="1"/>
              <a:t>không</a:t>
            </a:r>
            <a:r>
              <a:rPr dirty="0"/>
              <a:t> </a:t>
            </a:r>
            <a:r>
              <a:rPr dirty="0" err="1"/>
              <a:t>xuất</a:t>
            </a:r>
            <a:r>
              <a:rPr dirty="0"/>
              <a:t> </a:t>
            </a:r>
            <a:r>
              <a:rPr dirty="0" err="1"/>
              <a:t>ra</a:t>
            </a:r>
            <a:r>
              <a:rPr dirty="0"/>
              <a:t> </a:t>
            </a:r>
            <a:r>
              <a:rPr dirty="0" err="1"/>
              <a:t>ngay</a:t>
            </a:r>
            <a:r>
              <a:rPr dirty="0"/>
              <a:t> '</a:t>
            </a:r>
            <a:r>
              <a:rPr dirty="0" err="1"/>
              <a:t>kháng</a:t>
            </a:r>
            <a:r>
              <a:rPr dirty="0"/>
              <a:t>' hay '</a:t>
            </a:r>
            <a:r>
              <a:rPr dirty="0" err="1"/>
              <a:t>nhạy</a:t>
            </a:r>
            <a:r>
              <a:rPr dirty="0"/>
              <a:t>', </a:t>
            </a:r>
            <a:r>
              <a:rPr dirty="0" err="1"/>
              <a:t>mà</a:t>
            </a:r>
            <a:r>
              <a:rPr dirty="0"/>
              <a:t> </a:t>
            </a:r>
            <a:r>
              <a:rPr dirty="0" err="1"/>
              <a:t>xuất</a:t>
            </a:r>
            <a:r>
              <a:rPr dirty="0"/>
              <a:t> </a:t>
            </a:r>
            <a:r>
              <a:rPr dirty="0" err="1"/>
              <a:t>một</a:t>
            </a:r>
            <a:r>
              <a:rPr dirty="0"/>
              <a:t> </a:t>
            </a:r>
            <a:r>
              <a:rPr dirty="0" err="1"/>
              <a:t>xác</a:t>
            </a:r>
            <a:r>
              <a:rPr dirty="0"/>
              <a:t> </a:t>
            </a:r>
            <a:r>
              <a:rPr dirty="0" err="1"/>
              <a:t>suất</a:t>
            </a:r>
            <a:r>
              <a:rPr dirty="0"/>
              <a:t> </a:t>
            </a:r>
            <a:r>
              <a:rPr dirty="0" err="1"/>
              <a:t>kháng</a:t>
            </a:r>
            <a:r>
              <a:rPr dirty="0"/>
              <a:t> </a:t>
            </a:r>
            <a:r>
              <a:rPr dirty="0" err="1"/>
              <a:t>nằm</a:t>
            </a:r>
            <a:r>
              <a:rPr dirty="0"/>
              <a:t> </a:t>
            </a:r>
            <a:r>
              <a:rPr dirty="0" err="1"/>
              <a:t>trong</a:t>
            </a:r>
            <a:r>
              <a:rPr dirty="0"/>
              <a:t> </a:t>
            </a:r>
            <a:r>
              <a:rPr dirty="0" err="1"/>
              <a:t>khoảng</a:t>
            </a:r>
            <a:r>
              <a:rPr dirty="0"/>
              <a:t> 0 </a:t>
            </a:r>
            <a:r>
              <a:rPr dirty="0" err="1"/>
              <a:t>đến</a:t>
            </a:r>
            <a:r>
              <a:rPr dirty="0"/>
              <a:t> 1. Với </a:t>
            </a:r>
            <a:r>
              <a:rPr dirty="0" err="1"/>
              <a:t>hồi</a:t>
            </a:r>
            <a:r>
              <a:rPr dirty="0"/>
              <a:t> </a:t>
            </a:r>
            <a:r>
              <a:rPr dirty="0" err="1"/>
              <a:t>quy</a:t>
            </a:r>
            <a:r>
              <a:rPr dirty="0"/>
              <a:t> logistic, </a:t>
            </a:r>
            <a:r>
              <a:rPr dirty="0" err="1"/>
              <a:t>xác</a:t>
            </a:r>
            <a:r>
              <a:rPr dirty="0"/>
              <a:t> </a:t>
            </a:r>
            <a:r>
              <a:rPr dirty="0" err="1"/>
              <a:t>suất</a:t>
            </a:r>
            <a:r>
              <a:rPr dirty="0"/>
              <a:t> </a:t>
            </a:r>
            <a:r>
              <a:rPr dirty="0" err="1"/>
              <a:t>đó</a:t>
            </a:r>
            <a:r>
              <a:rPr dirty="0"/>
              <a:t> </a:t>
            </a:r>
            <a:r>
              <a:rPr dirty="0" err="1"/>
              <a:t>là</a:t>
            </a:r>
            <a:r>
              <a:rPr dirty="0"/>
              <a:t> </a:t>
            </a:r>
            <a:r>
              <a:rPr dirty="0" err="1"/>
              <a:t>hàm</a:t>
            </a:r>
            <a:r>
              <a:rPr dirty="0"/>
              <a:t> sigmoid </a:t>
            </a:r>
            <a:r>
              <a:rPr dirty="0" err="1"/>
              <a:t>của</a:t>
            </a:r>
            <a:r>
              <a:rPr dirty="0"/>
              <a:t> </a:t>
            </a:r>
            <a:r>
              <a:rPr dirty="0" err="1"/>
              <a:t>tổ</a:t>
            </a:r>
            <a:r>
              <a:rPr dirty="0"/>
              <a:t> </a:t>
            </a:r>
            <a:r>
              <a:rPr dirty="0" err="1"/>
              <a:t>hợp</a:t>
            </a:r>
            <a:r>
              <a:rPr dirty="0"/>
              <a:t> </a:t>
            </a:r>
            <a:r>
              <a:rPr dirty="0" err="1"/>
              <a:t>tuyến</a:t>
            </a:r>
            <a:r>
              <a:rPr dirty="0"/>
              <a:t> </a:t>
            </a:r>
            <a:r>
              <a:rPr dirty="0" err="1"/>
              <a:t>tính</a:t>
            </a:r>
            <a:r>
              <a:rPr dirty="0"/>
              <a:t> </a:t>
            </a:r>
            <a:r>
              <a:rPr dirty="0" err="1"/>
              <a:t>các</a:t>
            </a:r>
            <a:r>
              <a:rPr dirty="0"/>
              <a:t> </a:t>
            </a:r>
            <a:r>
              <a:rPr dirty="0" err="1"/>
              <a:t>đặc</a:t>
            </a:r>
            <a:r>
              <a:rPr dirty="0"/>
              <a:t> </a:t>
            </a:r>
            <a:r>
              <a:rPr dirty="0" err="1"/>
              <a:t>trưng</a:t>
            </a:r>
            <a:r>
              <a:rPr dirty="0"/>
              <a:t>.</a:t>
            </a:r>
          </a:p>
          <a:p>
            <a:r>
              <a:rPr dirty="0" err="1"/>
              <a:t>Rồi</a:t>
            </a:r>
            <a:r>
              <a:rPr dirty="0"/>
              <a:t> </a:t>
            </a:r>
            <a:r>
              <a:rPr dirty="0" err="1"/>
              <a:t>em</a:t>
            </a:r>
            <a:r>
              <a:rPr dirty="0"/>
              <a:t> so </a:t>
            </a:r>
            <a:r>
              <a:rPr dirty="0" err="1"/>
              <a:t>xác</a:t>
            </a:r>
            <a:r>
              <a:rPr dirty="0"/>
              <a:t> </a:t>
            </a:r>
            <a:r>
              <a:rPr dirty="0" err="1"/>
              <a:t>suất</a:t>
            </a:r>
            <a:r>
              <a:rPr dirty="0"/>
              <a:t> </a:t>
            </a:r>
            <a:r>
              <a:rPr dirty="0" err="1"/>
              <a:t>với</a:t>
            </a:r>
            <a:r>
              <a:rPr dirty="0"/>
              <a:t> </a:t>
            </a:r>
            <a:r>
              <a:rPr dirty="0" err="1"/>
              <a:t>một</a:t>
            </a:r>
            <a:r>
              <a:rPr dirty="0"/>
              <a:t> </a:t>
            </a:r>
            <a:r>
              <a:rPr dirty="0" err="1"/>
              <a:t>ngưỡng</a:t>
            </a:r>
            <a:r>
              <a:rPr dirty="0"/>
              <a:t> tau: </a:t>
            </a:r>
            <a:r>
              <a:rPr dirty="0" err="1"/>
              <a:t>nếu</a:t>
            </a:r>
            <a:r>
              <a:rPr dirty="0"/>
              <a:t> </a:t>
            </a:r>
            <a:r>
              <a:rPr dirty="0" err="1"/>
              <a:t>xác</a:t>
            </a:r>
            <a:r>
              <a:rPr dirty="0"/>
              <a:t> </a:t>
            </a:r>
            <a:r>
              <a:rPr dirty="0" err="1"/>
              <a:t>suất</a:t>
            </a:r>
            <a:r>
              <a:rPr dirty="0"/>
              <a:t> </a:t>
            </a:r>
            <a:r>
              <a:rPr dirty="0" err="1"/>
              <a:t>lớn</a:t>
            </a:r>
            <a:r>
              <a:rPr dirty="0"/>
              <a:t> </a:t>
            </a:r>
            <a:r>
              <a:rPr dirty="0" err="1"/>
              <a:t>hơn</a:t>
            </a:r>
            <a:r>
              <a:rPr dirty="0"/>
              <a:t> </a:t>
            </a:r>
            <a:r>
              <a:rPr dirty="0" err="1"/>
              <a:t>hoặc</a:t>
            </a:r>
            <a:r>
              <a:rPr dirty="0"/>
              <a:t> </a:t>
            </a:r>
            <a:r>
              <a:rPr dirty="0" err="1"/>
              <a:t>bằng</a:t>
            </a:r>
            <a:r>
              <a:rPr dirty="0"/>
              <a:t> </a:t>
            </a:r>
            <a:r>
              <a:rPr dirty="0" err="1"/>
              <a:t>ngưỡng</a:t>
            </a:r>
            <a:r>
              <a:rPr dirty="0"/>
              <a:t> </a:t>
            </a:r>
            <a:r>
              <a:rPr dirty="0" err="1"/>
              <a:t>thì</a:t>
            </a:r>
            <a:r>
              <a:rPr dirty="0"/>
              <a:t> </a:t>
            </a:r>
            <a:r>
              <a:rPr dirty="0" err="1"/>
              <a:t>đoán</a:t>
            </a:r>
            <a:r>
              <a:rPr dirty="0"/>
              <a:t> </a:t>
            </a:r>
            <a:r>
              <a:rPr dirty="0" err="1"/>
              <a:t>kháng</a:t>
            </a:r>
            <a:r>
              <a:rPr dirty="0"/>
              <a:t>, </a:t>
            </a:r>
            <a:r>
              <a:rPr dirty="0" err="1"/>
              <a:t>ngược</a:t>
            </a:r>
            <a:r>
              <a:rPr dirty="0"/>
              <a:t> </a:t>
            </a:r>
            <a:r>
              <a:rPr dirty="0" err="1"/>
              <a:t>lại</a:t>
            </a:r>
            <a:r>
              <a:rPr dirty="0"/>
              <a:t> </a:t>
            </a:r>
            <a:r>
              <a:rPr dirty="0" err="1"/>
              <a:t>đoán</a:t>
            </a:r>
            <a:r>
              <a:rPr dirty="0"/>
              <a:t> </a:t>
            </a:r>
            <a:r>
              <a:rPr dirty="0" err="1"/>
              <a:t>nhạy</a:t>
            </a:r>
            <a:r>
              <a:rPr dirty="0"/>
              <a:t>. Ngưỡng </a:t>
            </a:r>
            <a:r>
              <a:rPr dirty="0" err="1"/>
              <a:t>này</a:t>
            </a:r>
            <a:r>
              <a:rPr dirty="0"/>
              <a:t> </a:t>
            </a:r>
            <a:r>
              <a:rPr dirty="0" err="1"/>
              <a:t>được</a:t>
            </a:r>
            <a:r>
              <a:rPr dirty="0"/>
              <a:t> </a:t>
            </a:r>
            <a:r>
              <a:rPr dirty="0" err="1"/>
              <a:t>chỉnh</a:t>
            </a:r>
            <a:r>
              <a:rPr dirty="0"/>
              <a:t> </a:t>
            </a:r>
            <a:r>
              <a:rPr dirty="0" err="1"/>
              <a:t>trên</a:t>
            </a:r>
            <a:r>
              <a:rPr dirty="0"/>
              <a:t> </a:t>
            </a:r>
            <a:r>
              <a:rPr dirty="0" err="1"/>
              <a:t>tập</a:t>
            </a:r>
            <a:r>
              <a:rPr dirty="0"/>
              <a:t> validation </a:t>
            </a:r>
            <a:r>
              <a:rPr dirty="0" err="1"/>
              <a:t>sao</a:t>
            </a:r>
            <a:r>
              <a:rPr dirty="0"/>
              <a:t> </a:t>
            </a:r>
            <a:r>
              <a:rPr dirty="0" err="1"/>
              <a:t>cho</a:t>
            </a:r>
            <a:r>
              <a:rPr dirty="0"/>
              <a:t> F1 </a:t>
            </a:r>
            <a:r>
              <a:rPr dirty="0" err="1"/>
              <a:t>cao</a:t>
            </a:r>
            <a:r>
              <a:rPr dirty="0"/>
              <a:t> </a:t>
            </a:r>
            <a:r>
              <a:rPr dirty="0" err="1"/>
              <a:t>nhấ</a:t>
            </a:r>
            <a:r>
              <a:rPr lang="en-VN" dirty="0"/>
              <a:t>t</a:t>
            </a:r>
            <a:endParaRPr dirty="0"/>
          </a:p>
          <a:p>
            <a:r>
              <a:rPr dirty="0" err="1"/>
              <a:t>Vì</a:t>
            </a:r>
            <a:r>
              <a:rPr dirty="0"/>
              <a:t> </a:t>
            </a:r>
            <a:r>
              <a:rPr dirty="0" err="1"/>
              <a:t>dữ</a:t>
            </a:r>
            <a:r>
              <a:rPr dirty="0"/>
              <a:t> </a:t>
            </a:r>
            <a:r>
              <a:rPr dirty="0" err="1"/>
              <a:t>liệu</a:t>
            </a:r>
            <a:r>
              <a:rPr dirty="0"/>
              <a:t> </a:t>
            </a:r>
            <a:r>
              <a:rPr dirty="0" err="1"/>
              <a:t>lệch</a:t>
            </a:r>
            <a:r>
              <a:rPr dirty="0"/>
              <a:t> </a:t>
            </a:r>
            <a:r>
              <a:rPr dirty="0" err="1"/>
              <a:t>lớp</a:t>
            </a:r>
            <a:r>
              <a:rPr dirty="0"/>
              <a:t>, </a:t>
            </a:r>
            <a:r>
              <a:rPr dirty="0" err="1"/>
              <a:t>em</a:t>
            </a:r>
            <a:r>
              <a:rPr dirty="0"/>
              <a:t> </a:t>
            </a:r>
            <a:r>
              <a:rPr dirty="0" err="1"/>
              <a:t>không</a:t>
            </a:r>
            <a:r>
              <a:rPr dirty="0"/>
              <a:t> </a:t>
            </a:r>
            <a:r>
              <a:rPr dirty="0" err="1"/>
              <a:t>dùng</a:t>
            </a:r>
            <a:r>
              <a:rPr dirty="0"/>
              <a:t> </a:t>
            </a:r>
            <a:r>
              <a:rPr dirty="0" err="1"/>
              <a:t>độ</a:t>
            </a:r>
            <a:r>
              <a:rPr dirty="0"/>
              <a:t> </a:t>
            </a:r>
            <a:r>
              <a:rPr dirty="0" err="1"/>
              <a:t>chính</a:t>
            </a:r>
            <a:r>
              <a:rPr dirty="0"/>
              <a:t> </a:t>
            </a:r>
            <a:r>
              <a:rPr dirty="0" err="1"/>
              <a:t>xác</a:t>
            </a:r>
            <a:r>
              <a:rPr dirty="0"/>
              <a:t> </a:t>
            </a:r>
            <a:r>
              <a:rPr dirty="0" err="1"/>
              <a:t>mà</a:t>
            </a:r>
            <a:r>
              <a:rPr dirty="0"/>
              <a:t> </a:t>
            </a:r>
            <a:r>
              <a:rPr dirty="0" err="1"/>
              <a:t>dùng</a:t>
            </a:r>
            <a:r>
              <a:rPr dirty="0"/>
              <a:t> </a:t>
            </a:r>
            <a:r>
              <a:rPr dirty="0" err="1"/>
              <a:t>ba</a:t>
            </a:r>
            <a:r>
              <a:rPr dirty="0"/>
              <a:t> </a:t>
            </a:r>
            <a:r>
              <a:rPr dirty="0" err="1"/>
              <a:t>chỉ</a:t>
            </a:r>
            <a:r>
              <a:rPr dirty="0"/>
              <a:t> </a:t>
            </a:r>
            <a:r>
              <a:rPr dirty="0" err="1"/>
              <a:t>số</a:t>
            </a:r>
            <a:r>
              <a:rPr dirty="0"/>
              <a:t> </a:t>
            </a:r>
            <a:r>
              <a:rPr dirty="0" err="1"/>
              <a:t>phù</a:t>
            </a:r>
            <a:r>
              <a:rPr dirty="0"/>
              <a:t> </a:t>
            </a:r>
            <a:r>
              <a:rPr dirty="0" err="1"/>
              <a:t>hợp</a:t>
            </a:r>
            <a:r>
              <a:rPr dirty="0"/>
              <a:t> </a:t>
            </a:r>
            <a:r>
              <a:rPr dirty="0" err="1"/>
              <a:t>hơn</a:t>
            </a:r>
            <a:r>
              <a:rPr dirty="0"/>
              <a:t>: F1 </a:t>
            </a:r>
            <a:r>
              <a:rPr dirty="0" err="1"/>
              <a:t>cân</a:t>
            </a:r>
            <a:r>
              <a:rPr dirty="0"/>
              <a:t> </a:t>
            </a:r>
            <a:r>
              <a:rPr dirty="0" err="1"/>
              <a:t>bằng</a:t>
            </a:r>
            <a:r>
              <a:rPr dirty="0"/>
              <a:t> </a:t>
            </a:r>
            <a:r>
              <a:rPr dirty="0" err="1"/>
              <a:t>giữa</a:t>
            </a:r>
            <a:r>
              <a:rPr dirty="0"/>
              <a:t> </a:t>
            </a:r>
            <a:r>
              <a:rPr dirty="0" err="1"/>
              <a:t>bắt</a:t>
            </a:r>
            <a:r>
              <a:rPr dirty="0"/>
              <a:t> </a:t>
            </a:r>
            <a:r>
              <a:rPr dirty="0" err="1"/>
              <a:t>đúng</a:t>
            </a:r>
            <a:r>
              <a:rPr dirty="0"/>
              <a:t> </a:t>
            </a:r>
            <a:r>
              <a:rPr dirty="0" err="1"/>
              <a:t>và</a:t>
            </a:r>
            <a:r>
              <a:rPr dirty="0"/>
              <a:t> </a:t>
            </a:r>
            <a:r>
              <a:rPr dirty="0" err="1"/>
              <a:t>không</a:t>
            </a:r>
            <a:r>
              <a:rPr dirty="0"/>
              <a:t> </a:t>
            </a:r>
            <a:r>
              <a:rPr dirty="0" err="1"/>
              <a:t>báo</a:t>
            </a:r>
            <a:r>
              <a:rPr dirty="0"/>
              <a:t> </a:t>
            </a:r>
            <a:r>
              <a:rPr dirty="0" err="1"/>
              <a:t>nhầm</a:t>
            </a:r>
            <a:r>
              <a:rPr dirty="0"/>
              <a:t>, balanced accuracy, </a:t>
            </a:r>
            <a:r>
              <a:rPr dirty="0" err="1"/>
              <a:t>và</a:t>
            </a:r>
            <a:r>
              <a:rPr dirty="0"/>
              <a:t> AUPRC.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bước</a:t>
            </a:r>
            <a:r>
              <a:rPr dirty="0"/>
              <a:t> </a:t>
            </a:r>
            <a:r>
              <a:rPr dirty="0" err="1"/>
              <a:t>chọn</a:t>
            </a:r>
            <a:r>
              <a:rPr dirty="0"/>
              <a:t> </a:t>
            </a:r>
            <a:r>
              <a:rPr dirty="0" err="1"/>
              <a:t>thích</a:t>
            </a:r>
            <a:r>
              <a:rPr dirty="0"/>
              <a:t> </a:t>
            </a:r>
            <a:r>
              <a:rPr dirty="0" err="1"/>
              <a:t>ứng</a:t>
            </a:r>
            <a:r>
              <a:rPr dirty="0"/>
              <a:t> </a:t>
            </a:r>
            <a:r>
              <a:rPr dirty="0" err="1"/>
              <a:t>và</a:t>
            </a:r>
            <a:r>
              <a:rPr dirty="0"/>
              <a:t> </a:t>
            </a:r>
            <a:r>
              <a:rPr dirty="0" err="1"/>
              <a:t>tầng</a:t>
            </a:r>
            <a:r>
              <a:rPr dirty="0"/>
              <a:t> </a:t>
            </a:r>
            <a:r>
              <a:rPr dirty="0" err="1"/>
              <a:t>kiểm</a:t>
            </a:r>
            <a:r>
              <a:rPr dirty="0"/>
              <a:t> </a:t>
            </a:r>
            <a:r>
              <a:rPr dirty="0" err="1"/>
              <a:t>tra</a:t>
            </a:r>
            <a:r>
              <a:rPr dirty="0"/>
              <a:t>.</a:t>
            </a:r>
          </a:p>
          <a:p>
            <a:r>
              <a:rPr dirty="0" err="1"/>
              <a:t>với</a:t>
            </a:r>
            <a:r>
              <a:rPr dirty="0"/>
              <a:t> </a:t>
            </a:r>
            <a:r>
              <a:rPr dirty="0" err="1"/>
              <a:t>mỗi</a:t>
            </a:r>
            <a:r>
              <a:rPr dirty="0"/>
              <a:t> </a:t>
            </a:r>
            <a:r>
              <a:rPr dirty="0" err="1"/>
              <a:t>thuốc</a:t>
            </a:r>
            <a:r>
              <a:rPr dirty="0"/>
              <a:t>, </a:t>
            </a:r>
            <a:r>
              <a:rPr dirty="0" err="1"/>
              <a:t>em</a:t>
            </a:r>
            <a:r>
              <a:rPr dirty="0"/>
              <a:t> </a:t>
            </a:r>
            <a:r>
              <a:rPr dirty="0" err="1"/>
              <a:t>thử</a:t>
            </a:r>
            <a:r>
              <a:rPr dirty="0"/>
              <a:t> </a:t>
            </a:r>
            <a:r>
              <a:rPr dirty="0" err="1"/>
              <a:t>tất</a:t>
            </a:r>
            <a:r>
              <a:rPr dirty="0"/>
              <a:t> </a:t>
            </a:r>
            <a:r>
              <a:rPr dirty="0" err="1"/>
              <a:t>cả</a:t>
            </a:r>
            <a:r>
              <a:rPr dirty="0"/>
              <a:t> </a:t>
            </a:r>
            <a:r>
              <a:rPr dirty="0" err="1"/>
              <a:t>các</a:t>
            </a:r>
            <a:r>
              <a:rPr dirty="0"/>
              <a:t> </a:t>
            </a:r>
            <a:r>
              <a:rPr dirty="0" err="1"/>
              <a:t>cặp</a:t>
            </a:r>
            <a:r>
              <a:rPr dirty="0"/>
              <a:t> module </a:t>
            </a:r>
            <a:r>
              <a:rPr dirty="0" err="1"/>
              <a:t>nhân</a:t>
            </a:r>
            <a:r>
              <a:rPr dirty="0"/>
              <a:t> </a:t>
            </a:r>
            <a:r>
              <a:rPr dirty="0" err="1"/>
              <a:t>với</a:t>
            </a:r>
            <a:r>
              <a:rPr dirty="0"/>
              <a:t> </a:t>
            </a:r>
            <a:r>
              <a:rPr dirty="0" err="1"/>
              <a:t>mô</a:t>
            </a:r>
            <a:r>
              <a:rPr dirty="0"/>
              <a:t> </a:t>
            </a:r>
            <a:r>
              <a:rPr dirty="0" err="1"/>
              <a:t>hình</a:t>
            </a:r>
            <a:r>
              <a:rPr dirty="0"/>
              <a:t> — </a:t>
            </a:r>
            <a:r>
              <a:rPr dirty="0" err="1"/>
              <a:t>khoảng</a:t>
            </a:r>
            <a:r>
              <a:rPr dirty="0"/>
              <a:t> </a:t>
            </a:r>
            <a:r>
              <a:rPr dirty="0" err="1"/>
              <a:t>ba</a:t>
            </a:r>
            <a:r>
              <a:rPr dirty="0"/>
              <a:t> </a:t>
            </a:r>
            <a:r>
              <a:rPr dirty="0" err="1"/>
              <a:t>mươi</a:t>
            </a:r>
            <a:r>
              <a:rPr dirty="0"/>
              <a:t> </a:t>
            </a:r>
            <a:r>
              <a:rPr dirty="0" err="1"/>
              <a:t>mấy</a:t>
            </a:r>
            <a:r>
              <a:rPr dirty="0"/>
              <a:t> </a:t>
            </a:r>
            <a:r>
              <a:rPr dirty="0" err="1"/>
              <a:t>cấu</a:t>
            </a:r>
            <a:r>
              <a:rPr dirty="0"/>
              <a:t> </a:t>
            </a:r>
            <a:r>
              <a:rPr dirty="0" err="1"/>
              <a:t>hình</a:t>
            </a:r>
            <a:r>
              <a:rPr dirty="0"/>
              <a:t> — </a:t>
            </a:r>
            <a:r>
              <a:rPr dirty="0" err="1"/>
              <a:t>và</a:t>
            </a:r>
            <a:r>
              <a:rPr dirty="0"/>
              <a:t> </a:t>
            </a:r>
            <a:r>
              <a:rPr dirty="0" err="1"/>
              <a:t>chọn</a:t>
            </a:r>
            <a:r>
              <a:rPr dirty="0"/>
              <a:t> </a:t>
            </a:r>
            <a:r>
              <a:rPr dirty="0" err="1"/>
              <a:t>cái</a:t>
            </a:r>
            <a:r>
              <a:rPr dirty="0"/>
              <a:t> </a:t>
            </a:r>
            <a:r>
              <a:rPr dirty="0" err="1"/>
              <a:t>có</a:t>
            </a:r>
            <a:r>
              <a:rPr dirty="0"/>
              <a:t> F1 </a:t>
            </a:r>
            <a:r>
              <a:rPr dirty="0" err="1"/>
              <a:t>trung</a:t>
            </a:r>
            <a:r>
              <a:rPr dirty="0"/>
              <a:t> </a:t>
            </a:r>
            <a:r>
              <a:rPr dirty="0" err="1"/>
              <a:t>bình</a:t>
            </a:r>
            <a:r>
              <a:rPr dirty="0"/>
              <a:t> </a:t>
            </a:r>
            <a:r>
              <a:rPr dirty="0" err="1"/>
              <a:t>cao</a:t>
            </a:r>
            <a:r>
              <a:rPr dirty="0"/>
              <a:t> </a:t>
            </a:r>
            <a:r>
              <a:rPr dirty="0" err="1"/>
              <a:t>nhất</a:t>
            </a:r>
            <a:r>
              <a:rPr dirty="0"/>
              <a:t> qua </a:t>
            </a:r>
            <a:r>
              <a:rPr dirty="0" err="1"/>
              <a:t>các</a:t>
            </a:r>
            <a:r>
              <a:rPr dirty="0"/>
              <a:t> fold. </a:t>
            </a:r>
            <a:r>
              <a:rPr dirty="0" err="1"/>
              <a:t>Vì</a:t>
            </a:r>
            <a:r>
              <a:rPr dirty="0"/>
              <a:t> </a:t>
            </a:r>
            <a:r>
              <a:rPr dirty="0" err="1"/>
              <a:t>mỗi</a:t>
            </a:r>
            <a:r>
              <a:rPr dirty="0"/>
              <a:t> </a:t>
            </a:r>
            <a:r>
              <a:rPr dirty="0" err="1"/>
              <a:t>thuốc</a:t>
            </a:r>
            <a:r>
              <a:rPr dirty="0"/>
              <a:t> </a:t>
            </a:r>
            <a:r>
              <a:rPr dirty="0" err="1"/>
              <a:t>kháng</a:t>
            </a:r>
            <a:r>
              <a:rPr dirty="0"/>
              <a:t> </a:t>
            </a:r>
            <a:r>
              <a:rPr dirty="0" err="1"/>
              <a:t>theo</a:t>
            </a:r>
            <a:r>
              <a:rPr dirty="0"/>
              <a:t> </a:t>
            </a:r>
            <a:r>
              <a:rPr dirty="0" err="1"/>
              <a:t>cơ</a:t>
            </a:r>
            <a:r>
              <a:rPr dirty="0"/>
              <a:t> </a:t>
            </a:r>
            <a:r>
              <a:rPr dirty="0" err="1"/>
              <a:t>chế</a:t>
            </a:r>
            <a:r>
              <a:rPr dirty="0"/>
              <a:t> </a:t>
            </a:r>
            <a:r>
              <a:rPr dirty="0" err="1"/>
              <a:t>khác</a:t>
            </a:r>
            <a:r>
              <a:rPr dirty="0"/>
              <a:t> </a:t>
            </a:r>
            <a:r>
              <a:rPr dirty="0" err="1"/>
              <a:t>nhau</a:t>
            </a:r>
            <a:r>
              <a:rPr dirty="0"/>
              <a:t>, </a:t>
            </a:r>
            <a:r>
              <a:rPr dirty="0" err="1"/>
              <a:t>cấu</a:t>
            </a:r>
            <a:r>
              <a:rPr dirty="0"/>
              <a:t> </a:t>
            </a:r>
            <a:r>
              <a:rPr dirty="0" err="1"/>
              <a:t>hình</a:t>
            </a:r>
            <a:r>
              <a:rPr dirty="0"/>
              <a:t> </a:t>
            </a:r>
            <a:r>
              <a:rPr dirty="0" err="1"/>
              <a:t>tốt</a:t>
            </a:r>
            <a:r>
              <a:rPr dirty="0"/>
              <a:t> </a:t>
            </a:r>
            <a:r>
              <a:rPr dirty="0" err="1"/>
              <a:t>nhất</a:t>
            </a:r>
            <a:r>
              <a:rPr dirty="0"/>
              <a:t> </a:t>
            </a:r>
            <a:r>
              <a:rPr dirty="0" err="1"/>
              <a:t>cũng</a:t>
            </a:r>
            <a:r>
              <a:rPr dirty="0"/>
              <a:t> </a:t>
            </a:r>
            <a:r>
              <a:rPr dirty="0" err="1"/>
              <a:t>khác</a:t>
            </a:r>
            <a:r>
              <a:rPr dirty="0"/>
              <a:t> </a:t>
            </a:r>
            <a:r>
              <a:rPr dirty="0" err="1"/>
              <a:t>nhau</a:t>
            </a:r>
            <a:r>
              <a:rPr dirty="0"/>
              <a:t>.</a:t>
            </a:r>
          </a:p>
          <a:p>
            <a:r>
              <a:rPr dirty="0" err="1"/>
              <a:t>Tầng</a:t>
            </a:r>
            <a:r>
              <a:rPr dirty="0"/>
              <a:t> </a:t>
            </a:r>
            <a:r>
              <a:rPr dirty="0" err="1"/>
              <a:t>kiểm</a:t>
            </a:r>
            <a:r>
              <a:rPr dirty="0"/>
              <a:t> </a:t>
            </a:r>
            <a:r>
              <a:rPr dirty="0" err="1"/>
              <a:t>tra</a:t>
            </a:r>
            <a:r>
              <a:rPr dirty="0"/>
              <a:t> </a:t>
            </a:r>
            <a:r>
              <a:rPr dirty="0" err="1"/>
              <a:t>gồm</a:t>
            </a:r>
            <a:r>
              <a:rPr dirty="0"/>
              <a:t> </a:t>
            </a:r>
            <a:r>
              <a:rPr dirty="0" err="1"/>
              <a:t>ba</a:t>
            </a:r>
            <a:r>
              <a:rPr dirty="0"/>
              <a:t> </a:t>
            </a:r>
            <a:r>
              <a:rPr dirty="0" err="1"/>
              <a:t>việc</a:t>
            </a:r>
            <a:r>
              <a:rPr dirty="0"/>
              <a:t>. </a:t>
            </a:r>
            <a:r>
              <a:rPr dirty="0" err="1"/>
              <a:t>Một</a:t>
            </a:r>
            <a:r>
              <a:rPr dirty="0"/>
              <a:t>, </a:t>
            </a:r>
            <a:r>
              <a:rPr dirty="0" err="1"/>
              <a:t>kiểm</a:t>
            </a:r>
            <a:r>
              <a:rPr dirty="0"/>
              <a:t> </a:t>
            </a:r>
            <a:r>
              <a:rPr dirty="0" err="1"/>
              <a:t>định</a:t>
            </a:r>
            <a:r>
              <a:rPr dirty="0"/>
              <a:t> </a:t>
            </a:r>
            <a:r>
              <a:rPr dirty="0" err="1"/>
              <a:t>thống</a:t>
            </a:r>
            <a:r>
              <a:rPr dirty="0"/>
              <a:t> </a:t>
            </a:r>
            <a:r>
              <a:rPr dirty="0" err="1"/>
              <a:t>kê</a:t>
            </a:r>
            <a:r>
              <a:rPr dirty="0"/>
              <a:t> </a:t>
            </a:r>
            <a:r>
              <a:rPr dirty="0" err="1"/>
              <a:t>có</a:t>
            </a:r>
            <a:r>
              <a:rPr dirty="0"/>
              <a:t> </a:t>
            </a:r>
            <a:r>
              <a:rPr dirty="0" err="1"/>
              <a:t>hiệu</a:t>
            </a:r>
            <a:r>
              <a:rPr dirty="0"/>
              <a:t> </a:t>
            </a:r>
            <a:r>
              <a:rPr dirty="0" err="1"/>
              <a:t>chỉnh</a:t>
            </a:r>
            <a:r>
              <a:rPr dirty="0"/>
              <a:t> Nadeau–Bengio. Hai, chia </a:t>
            </a:r>
            <a:r>
              <a:rPr dirty="0" err="1"/>
              <a:t>theo</a:t>
            </a:r>
            <a:r>
              <a:rPr dirty="0"/>
              <a:t> </a:t>
            </a:r>
            <a:r>
              <a:rPr dirty="0" err="1"/>
              <a:t>dòng</a:t>
            </a:r>
            <a:r>
              <a:rPr dirty="0"/>
              <a:t> — </a:t>
            </a:r>
            <a:r>
              <a:rPr dirty="0" err="1"/>
              <a:t>em</a:t>
            </a:r>
            <a:r>
              <a:rPr dirty="0"/>
              <a:t> </a:t>
            </a:r>
            <a:r>
              <a:rPr dirty="0" err="1"/>
              <a:t>tính</a:t>
            </a:r>
            <a:r>
              <a:rPr dirty="0"/>
              <a:t> </a:t>
            </a:r>
            <a:r>
              <a:rPr dirty="0" err="1"/>
              <a:t>khoảng</a:t>
            </a:r>
            <a:r>
              <a:rPr dirty="0"/>
              <a:t> </a:t>
            </a:r>
            <a:r>
              <a:rPr dirty="0" err="1"/>
              <a:t>cách</a:t>
            </a:r>
            <a:r>
              <a:rPr dirty="0"/>
              <a:t> di </a:t>
            </a:r>
            <a:r>
              <a:rPr dirty="0" err="1"/>
              <a:t>truyền</a:t>
            </a:r>
            <a:r>
              <a:rPr dirty="0"/>
              <a:t> </a:t>
            </a:r>
            <a:r>
              <a:rPr dirty="0" err="1"/>
              <a:t>giữa</a:t>
            </a:r>
            <a:r>
              <a:rPr dirty="0"/>
              <a:t> </a:t>
            </a:r>
            <a:r>
              <a:rPr dirty="0" err="1"/>
              <a:t>mọi</a:t>
            </a:r>
            <a:r>
              <a:rPr dirty="0"/>
              <a:t> </a:t>
            </a:r>
            <a:r>
              <a:rPr dirty="0" err="1"/>
              <a:t>cặp</a:t>
            </a:r>
            <a:r>
              <a:rPr dirty="0"/>
              <a:t> genome, </a:t>
            </a:r>
            <a:r>
              <a:rPr dirty="0" err="1"/>
              <a:t>tạo</a:t>
            </a:r>
            <a:r>
              <a:rPr dirty="0"/>
              <a:t> ma </a:t>
            </a:r>
            <a:r>
              <a:rPr dirty="0" err="1"/>
              <a:t>trận</a:t>
            </a:r>
            <a:r>
              <a:rPr dirty="0"/>
              <a:t> 1167 </a:t>
            </a:r>
            <a:r>
              <a:rPr dirty="0" err="1"/>
              <a:t>nhân</a:t>
            </a:r>
            <a:r>
              <a:rPr dirty="0"/>
              <a:t> 1167, </a:t>
            </a:r>
            <a:r>
              <a:rPr dirty="0" err="1"/>
              <a:t>rồi</a:t>
            </a:r>
            <a:r>
              <a:rPr dirty="0"/>
              <a:t> </a:t>
            </a:r>
            <a:r>
              <a:rPr dirty="0" err="1"/>
              <a:t>gom</a:t>
            </a:r>
            <a:r>
              <a:rPr dirty="0"/>
              <a:t> </a:t>
            </a:r>
            <a:r>
              <a:rPr dirty="0" err="1"/>
              <a:t>thành</a:t>
            </a:r>
            <a:r>
              <a:rPr dirty="0"/>
              <a:t> </a:t>
            </a:r>
            <a:r>
              <a:rPr dirty="0" err="1"/>
              <a:t>các</a:t>
            </a:r>
            <a:r>
              <a:rPr dirty="0"/>
              <a:t> </a:t>
            </a:r>
            <a:r>
              <a:rPr dirty="0" err="1"/>
              <a:t>dòng</a:t>
            </a:r>
            <a:r>
              <a:rPr dirty="0"/>
              <a:t> </a:t>
            </a:r>
            <a:r>
              <a:rPr dirty="0" err="1"/>
              <a:t>và</a:t>
            </a:r>
            <a:r>
              <a:rPr dirty="0"/>
              <a:t> chia </a:t>
            </a:r>
            <a:r>
              <a:rPr dirty="0" err="1"/>
              <a:t>theo</a:t>
            </a:r>
            <a:r>
              <a:rPr dirty="0"/>
              <a:t> </a:t>
            </a:r>
            <a:r>
              <a:rPr dirty="0" err="1"/>
              <a:t>nhóm</a:t>
            </a:r>
            <a:r>
              <a:rPr dirty="0"/>
              <a:t>. Ba, </a:t>
            </a:r>
            <a:r>
              <a:rPr dirty="0" err="1"/>
              <a:t>trích</a:t>
            </a:r>
            <a:r>
              <a:rPr dirty="0"/>
              <a:t> </a:t>
            </a:r>
            <a:r>
              <a:rPr dirty="0" err="1"/>
              <a:t>đặc</a:t>
            </a:r>
            <a:r>
              <a:rPr dirty="0"/>
              <a:t> </a:t>
            </a:r>
            <a:r>
              <a:rPr dirty="0" err="1"/>
              <a:t>trưng</a:t>
            </a:r>
            <a:r>
              <a:rPr dirty="0"/>
              <a:t> </a:t>
            </a:r>
            <a:r>
              <a:rPr dirty="0" err="1"/>
              <a:t>đột</a:t>
            </a:r>
            <a:r>
              <a:rPr dirty="0"/>
              <a:t> </a:t>
            </a:r>
            <a:r>
              <a:rPr dirty="0" err="1"/>
              <a:t>biến</a:t>
            </a:r>
            <a:r>
              <a:rPr dirty="0"/>
              <a:t> </a:t>
            </a:r>
            <a:r>
              <a:rPr dirty="0" err="1"/>
              <a:t>thật</a:t>
            </a:r>
            <a:r>
              <a:rPr dirty="0"/>
              <a:t> </a:t>
            </a:r>
            <a:r>
              <a:rPr dirty="0" err="1"/>
              <a:t>ở</a:t>
            </a:r>
            <a:r>
              <a:rPr dirty="0"/>
              <a:t> </a:t>
            </a:r>
            <a:r>
              <a:rPr dirty="0" err="1"/>
              <a:t>vùng</a:t>
            </a:r>
            <a:r>
              <a:rPr dirty="0"/>
              <a:t> QRDR, </a:t>
            </a:r>
            <a:r>
              <a:rPr dirty="0" err="1"/>
              <a:t>cho</a:t>
            </a:r>
            <a:r>
              <a:rPr dirty="0"/>
              <a:t> ma </a:t>
            </a:r>
            <a:r>
              <a:rPr dirty="0" err="1"/>
              <a:t>trận</a:t>
            </a:r>
            <a:r>
              <a:rPr dirty="0"/>
              <a:t> n </a:t>
            </a:r>
            <a:r>
              <a:rPr dirty="0" err="1"/>
              <a:t>nhân</a:t>
            </a:r>
            <a:r>
              <a:rPr dirty="0"/>
              <a:t> 4. </a:t>
            </a:r>
            <a:r>
              <a:rPr dirty="0" err="1"/>
              <a:t>tầng</a:t>
            </a:r>
            <a:r>
              <a:rPr dirty="0"/>
              <a:t> </a:t>
            </a:r>
            <a:r>
              <a:rPr dirty="0" err="1"/>
              <a:t>này</a:t>
            </a:r>
            <a:r>
              <a:rPr dirty="0"/>
              <a:t> </a:t>
            </a:r>
            <a:r>
              <a:rPr dirty="0" err="1"/>
              <a:t>làm</a:t>
            </a:r>
            <a:r>
              <a:rPr dirty="0"/>
              <a:t> </a:t>
            </a:r>
            <a:r>
              <a:rPr dirty="0" err="1"/>
              <a:t>cho</a:t>
            </a:r>
            <a:r>
              <a:rPr dirty="0"/>
              <a:t> </a:t>
            </a:r>
            <a:r>
              <a:rPr dirty="0" err="1"/>
              <a:t>kết</a:t>
            </a:r>
            <a:r>
              <a:rPr dirty="0"/>
              <a:t> </a:t>
            </a:r>
            <a:r>
              <a:rPr dirty="0" err="1"/>
              <a:t>quả</a:t>
            </a:r>
            <a:r>
              <a:rPr dirty="0"/>
              <a:t> </a:t>
            </a:r>
            <a:r>
              <a:rPr dirty="0" err="1"/>
              <a:t>của</a:t>
            </a:r>
            <a:r>
              <a:rPr dirty="0"/>
              <a:t> </a:t>
            </a:r>
            <a:r>
              <a:rPr dirty="0" err="1"/>
              <a:t>em</a:t>
            </a:r>
            <a:r>
              <a:rPr dirty="0"/>
              <a:t> </a:t>
            </a:r>
            <a:r>
              <a:rPr dirty="0" err="1"/>
              <a:t>đáng</a:t>
            </a:r>
            <a:r>
              <a:rPr dirty="0"/>
              <a:t> tin </a:t>
            </a:r>
            <a:r>
              <a:rPr dirty="0" err="1"/>
              <a:t>hơn</a:t>
            </a:r>
            <a:r>
              <a:rPr dirty="0"/>
              <a:t> </a:t>
            </a:r>
            <a:r>
              <a:rPr dirty="0" err="1"/>
              <a:t>một</a:t>
            </a:r>
            <a:r>
              <a:rPr dirty="0"/>
              <a:t> con </a:t>
            </a:r>
            <a:r>
              <a:rPr dirty="0" err="1"/>
              <a:t>số</a:t>
            </a:r>
            <a:r>
              <a:rPr dirty="0"/>
              <a:t> </a:t>
            </a:r>
            <a:r>
              <a:rPr dirty="0" err="1"/>
              <a:t>đơn</a:t>
            </a:r>
            <a:r>
              <a:rPr dirty="0"/>
              <a:t> </a:t>
            </a:r>
            <a:r>
              <a:rPr dirty="0" err="1"/>
              <a:t>lẻ</a:t>
            </a:r>
            <a:r>
              <a:rPr dirty="0"/>
              <a:t>.</a:t>
            </a:r>
            <a:br>
              <a:rPr lang="vi-VN" dirty="0"/>
            </a:br>
            <a:r>
              <a:rPr lang="en-VN" b="1" dirty="0"/>
              <a:t>QRDR</a:t>
            </a:r>
            <a:r>
              <a:rPr lang="en-VN" dirty="0"/>
              <a:t> là "vùng quyết định kháng quinolone" — một đoạn ngắn nằm trên gen mã hóa hai enzyme mà nhóm kháng sinh </a:t>
            </a:r>
            <a:r>
              <a:rPr lang="en-VN" b="1" dirty="0"/>
              <a:t>quinolone</a:t>
            </a:r>
            <a:r>
              <a:rPr lang="en-VN" dirty="0"/>
              <a:t> (ciprofloxacin) tấn công: enzyme </a:t>
            </a:r>
            <a:r>
              <a:rPr lang="en-VN" b="1" dirty="0"/>
              <a:t>DNA gyrase</a:t>
            </a:r>
            <a:r>
              <a:rPr lang="en-VN" dirty="0"/>
              <a:t> (gen </a:t>
            </a:r>
            <a:r>
              <a:rPr lang="en-VN" i="1" dirty="0"/>
              <a:t>gyrA</a:t>
            </a:r>
            <a:r>
              <a:rPr lang="en-VN" dirty="0"/>
              <a:t>) và </a:t>
            </a:r>
            <a:r>
              <a:rPr lang="en-VN" b="1" dirty="0"/>
              <a:t>topoisomerase IV</a:t>
            </a:r>
            <a:r>
              <a:rPr lang="en-VN" dirty="0"/>
              <a:t> (gen </a:t>
            </a:r>
            <a:r>
              <a:rPr lang="en-VN" i="1" dirty="0"/>
              <a:t>parC</a:t>
            </a:r>
            <a:r>
              <a:rPr lang="en-VN" dirty="0"/>
              <a:t>). Hai enzyme này giúp vi khuẩn tháo xoắn và sao chép DNA; quinolone hoạt động bằng cách bám vào chúng để chặn quá trình đó.</a:t>
            </a:r>
          </a:p>
          <a:p>
            <a:r>
              <a:rPr lang="en-VN" dirty="0"/>
              <a:t>Vấn đề là: chỉ cần vi khuẩn có </a:t>
            </a:r>
            <a:r>
              <a:rPr lang="en-VN" b="1" dirty="0"/>
              <a:t>đột biến </a:t>
            </a:r>
            <a:r>
              <a:rPr lang="en-VN" dirty="0"/>
              <a:t>tại vài axit amin cụ thể trong vùng QRDR, thuốc không còn bám tốt nữa → vi khuẩn </a:t>
            </a:r>
            <a:r>
              <a:rPr lang="en-VN" b="1" dirty="0"/>
              <a:t>kháng thuốc</a:t>
            </a:r>
            <a:r>
              <a:rPr lang="en-VN"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Câu</a:t>
            </a:r>
            <a:r>
              <a:rPr dirty="0"/>
              <a:t> </a:t>
            </a:r>
            <a:r>
              <a:rPr dirty="0" err="1"/>
              <a:t>hỏi</a:t>
            </a:r>
            <a:r>
              <a:rPr dirty="0"/>
              <a:t> </a:t>
            </a:r>
            <a:r>
              <a:rPr dirty="0" err="1"/>
              <a:t>nghiên</a:t>
            </a:r>
            <a:r>
              <a:rPr dirty="0"/>
              <a:t> </a:t>
            </a:r>
            <a:r>
              <a:rPr dirty="0" err="1"/>
              <a:t>cứu</a:t>
            </a:r>
            <a:r>
              <a:rPr dirty="0"/>
              <a:t> </a:t>
            </a:r>
            <a:r>
              <a:rPr dirty="0" err="1"/>
              <a:t>đầu</a:t>
            </a:r>
            <a:r>
              <a:rPr dirty="0"/>
              <a:t> </a:t>
            </a:r>
            <a:r>
              <a:rPr dirty="0" err="1"/>
              <a:t>tiên</a:t>
            </a:r>
            <a:r>
              <a:rPr dirty="0"/>
              <a:t>: </a:t>
            </a:r>
            <a:r>
              <a:rPr dirty="0" err="1"/>
              <a:t>loại</a:t>
            </a:r>
            <a:r>
              <a:rPr dirty="0"/>
              <a:t> </a:t>
            </a:r>
            <a:r>
              <a:rPr dirty="0" err="1"/>
              <a:t>đặc</a:t>
            </a:r>
            <a:r>
              <a:rPr dirty="0"/>
              <a:t> </a:t>
            </a:r>
            <a:r>
              <a:rPr dirty="0" err="1"/>
              <a:t>trưng</a:t>
            </a:r>
            <a:r>
              <a:rPr dirty="0"/>
              <a:t> </a:t>
            </a:r>
            <a:r>
              <a:rPr dirty="0" err="1"/>
              <a:t>nào</a:t>
            </a:r>
            <a:r>
              <a:rPr dirty="0"/>
              <a:t> </a:t>
            </a:r>
            <a:r>
              <a:rPr dirty="0" err="1"/>
              <a:t>dự</a:t>
            </a:r>
            <a:r>
              <a:rPr dirty="0"/>
              <a:t> </a:t>
            </a:r>
            <a:r>
              <a:rPr dirty="0" err="1"/>
              <a:t>đoán</a:t>
            </a:r>
            <a:r>
              <a:rPr dirty="0"/>
              <a:t> </a:t>
            </a:r>
            <a:r>
              <a:rPr dirty="0" err="1"/>
              <a:t>tốt</a:t>
            </a:r>
            <a:r>
              <a:rPr dirty="0"/>
              <a:t> </a:t>
            </a:r>
            <a:r>
              <a:rPr dirty="0" err="1"/>
              <a:t>hơn</a:t>
            </a:r>
            <a:r>
              <a:rPr dirty="0"/>
              <a:t> — accessory hay core SNP?</a:t>
            </a:r>
          </a:p>
          <a:p>
            <a:r>
              <a:rPr dirty="0" err="1"/>
              <a:t>Kết</a:t>
            </a:r>
            <a:r>
              <a:rPr dirty="0"/>
              <a:t> </a:t>
            </a:r>
            <a:r>
              <a:rPr dirty="0" err="1"/>
              <a:t>quả</a:t>
            </a:r>
            <a:r>
              <a:rPr dirty="0"/>
              <a:t> </a:t>
            </a:r>
            <a:r>
              <a:rPr dirty="0" err="1"/>
              <a:t>rõ</a:t>
            </a:r>
            <a:r>
              <a:rPr dirty="0"/>
              <a:t> </a:t>
            </a:r>
            <a:r>
              <a:rPr dirty="0" err="1"/>
              <a:t>ràng</a:t>
            </a:r>
            <a:r>
              <a:rPr dirty="0"/>
              <a:t>: accessory </a:t>
            </a:r>
            <a:r>
              <a:rPr dirty="0" err="1"/>
              <a:t>thắng</a:t>
            </a:r>
            <a:r>
              <a:rPr dirty="0"/>
              <a:t> </a:t>
            </a:r>
            <a:r>
              <a:rPr dirty="0" err="1"/>
              <a:t>ở</a:t>
            </a:r>
            <a:r>
              <a:rPr dirty="0"/>
              <a:t> </a:t>
            </a:r>
            <a:r>
              <a:rPr dirty="0" err="1"/>
              <a:t>cả</a:t>
            </a:r>
            <a:r>
              <a:rPr dirty="0"/>
              <a:t> </a:t>
            </a:r>
            <a:r>
              <a:rPr dirty="0" err="1"/>
              <a:t>năm</a:t>
            </a:r>
            <a:r>
              <a:rPr dirty="0"/>
              <a:t> </a:t>
            </a:r>
            <a:r>
              <a:rPr dirty="0" err="1"/>
              <a:t>thuốc</a:t>
            </a:r>
            <a:r>
              <a:rPr dirty="0"/>
              <a:t>, </a:t>
            </a:r>
            <a:r>
              <a:rPr dirty="0" err="1"/>
              <a:t>hơn</a:t>
            </a:r>
            <a:r>
              <a:rPr dirty="0"/>
              <a:t> </a:t>
            </a:r>
            <a:r>
              <a:rPr dirty="0" err="1"/>
              <a:t>từ</a:t>
            </a:r>
            <a:r>
              <a:rPr dirty="0"/>
              <a:t> 0.08 </a:t>
            </a:r>
            <a:r>
              <a:rPr dirty="0" err="1"/>
              <a:t>đến</a:t>
            </a:r>
            <a:r>
              <a:rPr dirty="0"/>
              <a:t> 0.32 </a:t>
            </a:r>
            <a:r>
              <a:rPr dirty="0" err="1"/>
              <a:t>điểm</a:t>
            </a:r>
            <a:r>
              <a:rPr dirty="0"/>
              <a:t> F1. Khi </a:t>
            </a:r>
            <a:r>
              <a:rPr dirty="0" err="1"/>
              <a:t>kết</a:t>
            </a:r>
            <a:r>
              <a:rPr dirty="0"/>
              <a:t> </a:t>
            </a:r>
            <a:r>
              <a:rPr dirty="0" err="1"/>
              <a:t>hợp</a:t>
            </a:r>
            <a:r>
              <a:rPr dirty="0"/>
              <a:t> </a:t>
            </a:r>
            <a:r>
              <a:rPr dirty="0" err="1"/>
              <a:t>cả</a:t>
            </a:r>
            <a:r>
              <a:rPr dirty="0"/>
              <a:t> </a:t>
            </a:r>
            <a:r>
              <a:rPr dirty="0" err="1"/>
              <a:t>hai</a:t>
            </a:r>
            <a:r>
              <a:rPr dirty="0"/>
              <a:t>, </a:t>
            </a:r>
            <a:r>
              <a:rPr dirty="0" err="1"/>
              <a:t>điểm</a:t>
            </a:r>
            <a:r>
              <a:rPr dirty="0"/>
              <a:t> </a:t>
            </a:r>
            <a:r>
              <a:rPr dirty="0" err="1"/>
              <a:t>cũng</a:t>
            </a:r>
            <a:r>
              <a:rPr dirty="0"/>
              <a:t> </a:t>
            </a:r>
            <a:r>
              <a:rPr dirty="0" err="1"/>
              <a:t>chỉ</a:t>
            </a:r>
            <a:r>
              <a:rPr dirty="0"/>
              <a:t> </a:t>
            </a:r>
            <a:r>
              <a:rPr dirty="0" err="1"/>
              <a:t>gần</a:t>
            </a:r>
            <a:r>
              <a:rPr dirty="0"/>
              <a:t> </a:t>
            </a:r>
            <a:r>
              <a:rPr dirty="0" err="1"/>
              <a:t>bằng</a:t>
            </a:r>
            <a:r>
              <a:rPr dirty="0"/>
              <a:t> accessory </a:t>
            </a:r>
            <a:r>
              <a:rPr dirty="0" err="1"/>
              <a:t>dùng</a:t>
            </a:r>
            <a:r>
              <a:rPr dirty="0"/>
              <a:t> </a:t>
            </a:r>
            <a:r>
              <a:rPr dirty="0" err="1"/>
              <a:t>một</a:t>
            </a:r>
            <a:r>
              <a:rPr dirty="0"/>
              <a:t> </a:t>
            </a:r>
            <a:r>
              <a:rPr dirty="0" err="1"/>
              <a:t>mình</a:t>
            </a:r>
            <a:r>
              <a:rPr dirty="0"/>
              <a:t>, </a:t>
            </a:r>
            <a:r>
              <a:rPr dirty="0" err="1"/>
              <a:t>nghĩa</a:t>
            </a:r>
            <a:r>
              <a:rPr dirty="0"/>
              <a:t> </a:t>
            </a:r>
            <a:r>
              <a:rPr dirty="0" err="1"/>
              <a:t>là</a:t>
            </a:r>
            <a:r>
              <a:rPr dirty="0"/>
              <a:t> core SNP </a:t>
            </a:r>
            <a:r>
              <a:rPr dirty="0" err="1"/>
              <a:t>gần</a:t>
            </a:r>
            <a:r>
              <a:rPr dirty="0"/>
              <a:t> </a:t>
            </a:r>
            <a:r>
              <a:rPr dirty="0" err="1"/>
              <a:t>như</a:t>
            </a:r>
            <a:r>
              <a:rPr dirty="0"/>
              <a:t> </a:t>
            </a:r>
            <a:r>
              <a:rPr dirty="0" err="1"/>
              <a:t>không</a:t>
            </a:r>
            <a:r>
              <a:rPr dirty="0"/>
              <a:t> </a:t>
            </a:r>
            <a:r>
              <a:rPr dirty="0" err="1"/>
              <a:t>thêm</a:t>
            </a:r>
            <a:r>
              <a:rPr dirty="0"/>
              <a:t> </a:t>
            </a:r>
            <a:r>
              <a:rPr dirty="0" err="1"/>
              <a:t>được</a:t>
            </a:r>
            <a:r>
              <a:rPr dirty="0"/>
              <a:t> </a:t>
            </a:r>
            <a:r>
              <a:rPr dirty="0" err="1"/>
              <a:t>gì</a:t>
            </a:r>
            <a:r>
              <a:rPr dirty="0"/>
              <a:t>.</a:t>
            </a:r>
          </a:p>
          <a:p>
            <a:r>
              <a:rPr dirty="0" err="1"/>
              <a:t>Kết</a:t>
            </a:r>
            <a:r>
              <a:rPr dirty="0"/>
              <a:t> </a:t>
            </a:r>
            <a:r>
              <a:rPr dirty="0" err="1"/>
              <a:t>luận</a:t>
            </a:r>
            <a:r>
              <a:rPr dirty="0"/>
              <a:t>: accessory genome </a:t>
            </a:r>
            <a:r>
              <a:rPr dirty="0" err="1"/>
              <a:t>là</a:t>
            </a:r>
            <a:r>
              <a:rPr dirty="0"/>
              <a:t> </a:t>
            </a:r>
            <a:r>
              <a:rPr dirty="0" err="1"/>
              <a:t>nguồn</a:t>
            </a:r>
            <a:r>
              <a:rPr dirty="0"/>
              <a:t> </a:t>
            </a:r>
            <a:r>
              <a:rPr dirty="0" err="1"/>
              <a:t>tín</a:t>
            </a:r>
            <a:r>
              <a:rPr dirty="0"/>
              <a:t> </a:t>
            </a:r>
            <a:r>
              <a:rPr dirty="0" err="1"/>
              <a:t>hiệu</a:t>
            </a:r>
            <a:r>
              <a:rPr dirty="0"/>
              <a:t> </a:t>
            </a:r>
            <a:r>
              <a:rPr dirty="0" err="1"/>
              <a:t>chính</a:t>
            </a:r>
            <a:r>
              <a:rPr dirty="0"/>
              <a:t> — </a:t>
            </a:r>
            <a:r>
              <a:rPr lang="en-VN" dirty="0"/>
              <a:t>giải thích dc </a:t>
            </a:r>
            <a:r>
              <a:rPr dirty="0" err="1"/>
              <a:t>về</a:t>
            </a:r>
            <a:r>
              <a:rPr dirty="0"/>
              <a:t> </a:t>
            </a:r>
            <a:r>
              <a:rPr dirty="0" err="1"/>
              <a:t>mặt</a:t>
            </a:r>
            <a:r>
              <a:rPr dirty="0"/>
              <a:t> </a:t>
            </a:r>
            <a:r>
              <a:rPr dirty="0" err="1"/>
              <a:t>sinh</a:t>
            </a:r>
            <a:r>
              <a:rPr dirty="0"/>
              <a:t> </a:t>
            </a:r>
            <a:r>
              <a:rPr dirty="0" err="1"/>
              <a:t>học</a:t>
            </a:r>
            <a:r>
              <a:rPr dirty="0"/>
              <a:t>, </a:t>
            </a:r>
            <a:r>
              <a:rPr dirty="0" err="1"/>
              <a:t>vì</a:t>
            </a:r>
            <a:r>
              <a:rPr dirty="0"/>
              <a:t> gene </a:t>
            </a:r>
            <a:r>
              <a:rPr dirty="0" err="1"/>
              <a:t>kháng</a:t>
            </a:r>
            <a:r>
              <a:rPr dirty="0"/>
              <a:t> </a:t>
            </a:r>
            <a:r>
              <a:rPr dirty="0" err="1"/>
              <a:t>thuốc</a:t>
            </a:r>
            <a:r>
              <a:rPr dirty="0"/>
              <a:t> </a:t>
            </a:r>
            <a:r>
              <a:rPr dirty="0" err="1"/>
              <a:t>thường</a:t>
            </a:r>
            <a:r>
              <a:rPr dirty="0"/>
              <a:t> </a:t>
            </a:r>
            <a:r>
              <a:rPr dirty="0" err="1"/>
              <a:t>nằm</a:t>
            </a:r>
            <a:r>
              <a:rPr dirty="0"/>
              <a:t> </a:t>
            </a:r>
            <a:r>
              <a:rPr dirty="0" err="1"/>
              <a:t>trên</a:t>
            </a:r>
            <a:r>
              <a:rPr dirty="0"/>
              <a:t> </a:t>
            </a:r>
            <a:r>
              <a:rPr dirty="0" err="1"/>
              <a:t>các</a:t>
            </a:r>
            <a:r>
              <a:rPr dirty="0"/>
              <a:t> </a:t>
            </a:r>
            <a:r>
              <a:rPr dirty="0" err="1"/>
              <a:t>phần</a:t>
            </a:r>
            <a:r>
              <a:rPr dirty="0"/>
              <a:t> </a:t>
            </a:r>
            <a:r>
              <a:rPr dirty="0" err="1"/>
              <a:t>tử</a:t>
            </a:r>
            <a:r>
              <a:rPr dirty="0"/>
              <a:t> accessory.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Đây</a:t>
            </a:r>
            <a:r>
              <a:rPr dirty="0"/>
              <a:t> </a:t>
            </a:r>
            <a:r>
              <a:rPr dirty="0" err="1"/>
              <a:t>là</a:t>
            </a:r>
            <a:r>
              <a:rPr dirty="0"/>
              <a:t> </a:t>
            </a:r>
            <a:r>
              <a:rPr dirty="0" err="1"/>
              <a:t>ý</a:t>
            </a:r>
            <a:r>
              <a:rPr dirty="0"/>
              <a:t> </a:t>
            </a:r>
            <a:r>
              <a:rPr dirty="0" err="1"/>
              <a:t>tưởng</a:t>
            </a:r>
            <a:r>
              <a:rPr dirty="0"/>
              <a:t> </a:t>
            </a:r>
            <a:r>
              <a:rPr dirty="0" err="1"/>
              <a:t>cốt</a:t>
            </a:r>
            <a:r>
              <a:rPr dirty="0"/>
              <a:t> </a:t>
            </a:r>
            <a:r>
              <a:rPr dirty="0" err="1"/>
              <a:t>lõi</a:t>
            </a:r>
            <a:r>
              <a:rPr dirty="0"/>
              <a:t>, </a:t>
            </a:r>
            <a:r>
              <a:rPr dirty="0" err="1"/>
              <a:t>gọi</a:t>
            </a:r>
            <a:r>
              <a:rPr dirty="0"/>
              <a:t> </a:t>
            </a:r>
            <a:r>
              <a:rPr dirty="0" err="1"/>
              <a:t>là</a:t>
            </a:r>
            <a:r>
              <a:rPr dirty="0"/>
              <a:t> adaptive feature fusion — </a:t>
            </a:r>
            <a:r>
              <a:rPr dirty="0" err="1"/>
              <a:t>ghép</a:t>
            </a:r>
            <a:r>
              <a:rPr dirty="0"/>
              <a:t> </a:t>
            </a:r>
            <a:r>
              <a:rPr dirty="0" err="1"/>
              <a:t>đặc</a:t>
            </a:r>
            <a:r>
              <a:rPr dirty="0"/>
              <a:t> </a:t>
            </a:r>
            <a:r>
              <a:rPr dirty="0" err="1"/>
              <a:t>trưng</a:t>
            </a:r>
            <a:r>
              <a:rPr dirty="0"/>
              <a:t>. Thay </a:t>
            </a:r>
            <a:r>
              <a:rPr dirty="0" err="1"/>
              <a:t>vì</a:t>
            </a:r>
            <a:r>
              <a:rPr dirty="0"/>
              <a:t> </a:t>
            </a:r>
            <a:r>
              <a:rPr dirty="0" err="1"/>
              <a:t>ép</a:t>
            </a:r>
            <a:r>
              <a:rPr dirty="0"/>
              <a:t> </a:t>
            </a:r>
            <a:r>
              <a:rPr dirty="0" err="1"/>
              <a:t>mọi</a:t>
            </a:r>
            <a:r>
              <a:rPr dirty="0"/>
              <a:t> </a:t>
            </a:r>
            <a:r>
              <a:rPr dirty="0" err="1"/>
              <a:t>thuốc</a:t>
            </a:r>
            <a:r>
              <a:rPr dirty="0"/>
              <a:t> </a:t>
            </a:r>
            <a:r>
              <a:rPr dirty="0" err="1"/>
              <a:t>dùng</a:t>
            </a:r>
            <a:r>
              <a:rPr dirty="0"/>
              <a:t> </a:t>
            </a:r>
            <a:r>
              <a:rPr dirty="0" err="1"/>
              <a:t>chung</a:t>
            </a:r>
            <a:r>
              <a:rPr dirty="0"/>
              <a:t> </a:t>
            </a:r>
            <a:r>
              <a:rPr dirty="0" err="1"/>
              <a:t>một</a:t>
            </a:r>
            <a:r>
              <a:rPr dirty="0"/>
              <a:t> </a:t>
            </a:r>
            <a:r>
              <a:rPr dirty="0" err="1"/>
              <a:t>bộ</a:t>
            </a:r>
            <a:r>
              <a:rPr dirty="0"/>
              <a:t> </a:t>
            </a:r>
            <a:r>
              <a:rPr dirty="0" err="1"/>
              <a:t>đặc</a:t>
            </a:r>
            <a:r>
              <a:rPr dirty="0"/>
              <a:t> </a:t>
            </a:r>
            <a:r>
              <a:rPr dirty="0" err="1"/>
              <a:t>trưng</a:t>
            </a:r>
            <a:r>
              <a:rPr dirty="0"/>
              <a:t> </a:t>
            </a:r>
            <a:r>
              <a:rPr dirty="0" err="1"/>
              <a:t>và</a:t>
            </a:r>
            <a:r>
              <a:rPr dirty="0"/>
              <a:t> </a:t>
            </a:r>
            <a:r>
              <a:rPr dirty="0" err="1"/>
              <a:t>một</a:t>
            </a:r>
            <a:r>
              <a:rPr dirty="0"/>
              <a:t> </a:t>
            </a:r>
            <a:r>
              <a:rPr dirty="0" err="1"/>
              <a:t>mô</a:t>
            </a:r>
            <a:r>
              <a:rPr dirty="0"/>
              <a:t> </a:t>
            </a:r>
            <a:r>
              <a:rPr dirty="0" err="1"/>
              <a:t>hình</a:t>
            </a:r>
            <a:r>
              <a:rPr dirty="0"/>
              <a:t>, </a:t>
            </a:r>
            <a:r>
              <a:rPr dirty="0" err="1"/>
              <a:t>em</a:t>
            </a:r>
            <a:r>
              <a:rPr dirty="0"/>
              <a:t> </a:t>
            </a:r>
            <a:r>
              <a:rPr dirty="0" err="1"/>
              <a:t>để</a:t>
            </a:r>
            <a:r>
              <a:rPr dirty="0"/>
              <a:t> </a:t>
            </a:r>
            <a:r>
              <a:rPr dirty="0" err="1"/>
              <a:t>mỗi</a:t>
            </a:r>
            <a:r>
              <a:rPr dirty="0"/>
              <a:t> </a:t>
            </a:r>
            <a:r>
              <a:rPr dirty="0" err="1"/>
              <a:t>thuốc</a:t>
            </a:r>
            <a:r>
              <a:rPr dirty="0"/>
              <a:t> </a:t>
            </a:r>
            <a:r>
              <a:rPr dirty="0" err="1"/>
              <a:t>tự</a:t>
            </a:r>
            <a:r>
              <a:rPr dirty="0"/>
              <a:t> </a:t>
            </a:r>
            <a:r>
              <a:rPr dirty="0" err="1"/>
              <a:t>chọn</a:t>
            </a:r>
            <a:r>
              <a:rPr dirty="0"/>
              <a:t> </a:t>
            </a:r>
            <a:r>
              <a:rPr dirty="0" err="1"/>
              <a:t>cặp</a:t>
            </a:r>
            <a:r>
              <a:rPr dirty="0"/>
              <a:t> module–</a:t>
            </a:r>
            <a:r>
              <a:rPr dirty="0" err="1"/>
              <a:t>mô</a:t>
            </a:r>
            <a:r>
              <a:rPr dirty="0"/>
              <a:t> </a:t>
            </a:r>
            <a:r>
              <a:rPr dirty="0" err="1"/>
              <a:t>hình</a:t>
            </a:r>
            <a:r>
              <a:rPr dirty="0"/>
              <a:t> </a:t>
            </a:r>
            <a:r>
              <a:rPr dirty="0" err="1"/>
              <a:t>phù</a:t>
            </a:r>
            <a:r>
              <a:rPr dirty="0"/>
              <a:t> </a:t>
            </a:r>
            <a:r>
              <a:rPr dirty="0" err="1"/>
              <a:t>hợp</a:t>
            </a:r>
            <a:r>
              <a:rPr dirty="0"/>
              <a:t> </a:t>
            </a:r>
            <a:r>
              <a:rPr dirty="0" err="1"/>
              <a:t>nhất</a:t>
            </a:r>
            <a:r>
              <a:rPr dirty="0"/>
              <a:t> </a:t>
            </a:r>
            <a:r>
              <a:rPr dirty="0" err="1"/>
              <a:t>với</a:t>
            </a:r>
            <a:r>
              <a:rPr dirty="0"/>
              <a:t> </a:t>
            </a:r>
            <a:r>
              <a:rPr dirty="0" err="1"/>
              <a:t>nó</a:t>
            </a:r>
            <a:r>
              <a:rPr dirty="0"/>
              <a:t>. Lý do </a:t>
            </a:r>
            <a:r>
              <a:rPr dirty="0" err="1"/>
              <a:t>đơn</a:t>
            </a:r>
            <a:r>
              <a:rPr dirty="0"/>
              <a:t> </a:t>
            </a:r>
            <a:r>
              <a:rPr dirty="0" err="1"/>
              <a:t>giản</a:t>
            </a:r>
            <a:r>
              <a:rPr dirty="0"/>
              <a:t>: </a:t>
            </a:r>
            <a:r>
              <a:rPr dirty="0" err="1"/>
              <a:t>mỗi</a:t>
            </a:r>
            <a:r>
              <a:rPr dirty="0"/>
              <a:t> </a:t>
            </a:r>
            <a:r>
              <a:rPr dirty="0" err="1"/>
              <a:t>thuốc</a:t>
            </a:r>
            <a:r>
              <a:rPr dirty="0"/>
              <a:t> </a:t>
            </a:r>
            <a:r>
              <a:rPr dirty="0" err="1"/>
              <a:t>có</a:t>
            </a:r>
            <a:r>
              <a:rPr dirty="0"/>
              <a:t> </a:t>
            </a:r>
            <a:r>
              <a:rPr dirty="0" err="1"/>
              <a:t>cơ</a:t>
            </a:r>
            <a:r>
              <a:rPr dirty="0"/>
              <a:t> </a:t>
            </a:r>
            <a:r>
              <a:rPr dirty="0" err="1"/>
              <a:t>chế</a:t>
            </a:r>
            <a:r>
              <a:rPr dirty="0"/>
              <a:t> </a:t>
            </a:r>
            <a:r>
              <a:rPr dirty="0" err="1"/>
              <a:t>kháng</a:t>
            </a:r>
            <a:r>
              <a:rPr dirty="0"/>
              <a:t> </a:t>
            </a:r>
            <a:r>
              <a:rPr dirty="0" err="1"/>
              <a:t>riêng</a:t>
            </a:r>
            <a:r>
              <a:rPr dirty="0"/>
              <a:t>, </a:t>
            </a:r>
            <a:r>
              <a:rPr dirty="0" err="1"/>
              <a:t>nên</a:t>
            </a:r>
            <a:r>
              <a:rPr dirty="0"/>
              <a:t> </a:t>
            </a:r>
            <a:r>
              <a:rPr dirty="0" err="1"/>
              <a:t>biểu</a:t>
            </a:r>
            <a:r>
              <a:rPr dirty="0"/>
              <a:t> </a:t>
            </a:r>
            <a:r>
              <a:rPr dirty="0" err="1"/>
              <a:t>diễn</a:t>
            </a:r>
            <a:r>
              <a:rPr dirty="0"/>
              <a:t> </a:t>
            </a:r>
            <a:r>
              <a:rPr dirty="0" err="1"/>
              <a:t>tốt</a:t>
            </a:r>
            <a:r>
              <a:rPr dirty="0"/>
              <a:t> </a:t>
            </a:r>
            <a:r>
              <a:rPr dirty="0" err="1"/>
              <a:t>nhất</a:t>
            </a:r>
            <a:r>
              <a:rPr dirty="0"/>
              <a:t> </a:t>
            </a:r>
            <a:r>
              <a:rPr dirty="0" err="1"/>
              <a:t>cũng</a:t>
            </a:r>
            <a:r>
              <a:rPr dirty="0"/>
              <a:t> </a:t>
            </a:r>
            <a:r>
              <a:rPr dirty="0" err="1"/>
              <a:t>nên</a:t>
            </a:r>
            <a:r>
              <a:rPr dirty="0"/>
              <a:t> </a:t>
            </a:r>
            <a:r>
              <a:rPr dirty="0" err="1"/>
              <a:t>riêng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Và</a:t>
            </a:r>
            <a:r>
              <a:rPr dirty="0"/>
              <a:t> </a:t>
            </a:r>
            <a:r>
              <a:rPr dirty="0" err="1"/>
              <a:t>đây</a:t>
            </a:r>
            <a:r>
              <a:rPr dirty="0"/>
              <a:t> </a:t>
            </a:r>
            <a:r>
              <a:rPr dirty="0" err="1"/>
              <a:t>là</a:t>
            </a:r>
            <a:r>
              <a:rPr dirty="0"/>
              <a:t> </a:t>
            </a:r>
            <a:r>
              <a:rPr dirty="0" err="1"/>
              <a:t>kết</a:t>
            </a:r>
            <a:r>
              <a:rPr dirty="0"/>
              <a:t> </a:t>
            </a:r>
            <a:r>
              <a:rPr dirty="0" err="1"/>
              <a:t>quả</a:t>
            </a:r>
            <a:r>
              <a:rPr dirty="0"/>
              <a:t> </a:t>
            </a:r>
            <a:r>
              <a:rPr dirty="0" err="1"/>
              <a:t>chính</a:t>
            </a:r>
            <a:r>
              <a:rPr dirty="0"/>
              <a:t>. Hiệu </a:t>
            </a:r>
            <a:r>
              <a:rPr dirty="0" err="1"/>
              <a:t>năng</a:t>
            </a:r>
            <a:r>
              <a:rPr dirty="0"/>
              <a:t> </a:t>
            </a:r>
            <a:r>
              <a:rPr dirty="0" err="1"/>
              <a:t>rất</a:t>
            </a:r>
            <a:r>
              <a:rPr dirty="0"/>
              <a:t> </a:t>
            </a:r>
            <a:r>
              <a:rPr dirty="0" err="1"/>
              <a:t>cao</a:t>
            </a:r>
            <a:r>
              <a:rPr dirty="0"/>
              <a:t>: F1 </a:t>
            </a:r>
            <a:r>
              <a:rPr dirty="0" err="1"/>
              <a:t>từ</a:t>
            </a:r>
            <a:r>
              <a:rPr dirty="0"/>
              <a:t> 0.886 </a:t>
            </a:r>
            <a:r>
              <a:rPr dirty="0" err="1"/>
              <a:t>đến</a:t>
            </a:r>
            <a:r>
              <a:rPr dirty="0"/>
              <a:t> 0.971, balanced accuracy </a:t>
            </a:r>
            <a:r>
              <a:rPr dirty="0" err="1"/>
              <a:t>lên</a:t>
            </a:r>
            <a:r>
              <a:rPr dirty="0"/>
              <a:t> </a:t>
            </a:r>
            <a:r>
              <a:rPr dirty="0" err="1"/>
              <a:t>tới</a:t>
            </a:r>
            <a:r>
              <a:rPr dirty="0"/>
              <a:t> 0.985.</a:t>
            </a:r>
          </a:p>
          <a:p>
            <a:r>
              <a:rPr dirty="0"/>
              <a:t>So </a:t>
            </a:r>
            <a:r>
              <a:rPr dirty="0" err="1"/>
              <a:t>với</a:t>
            </a:r>
            <a:r>
              <a:rPr dirty="0"/>
              <a:t> </a:t>
            </a:r>
            <a:r>
              <a:rPr dirty="0" err="1"/>
              <a:t>bộ</a:t>
            </a:r>
            <a:r>
              <a:rPr dirty="0"/>
              <a:t> 50 marker baseline </a:t>
            </a:r>
            <a:r>
              <a:rPr dirty="0" err="1"/>
              <a:t>rất</a:t>
            </a:r>
            <a:r>
              <a:rPr dirty="0"/>
              <a:t> </a:t>
            </a:r>
            <a:r>
              <a:rPr dirty="0" err="1"/>
              <a:t>mạnh</a:t>
            </a:r>
            <a:r>
              <a:rPr dirty="0"/>
              <a:t> — </a:t>
            </a:r>
            <a:r>
              <a:rPr dirty="0" err="1"/>
              <a:t>cách</a:t>
            </a:r>
            <a:r>
              <a:rPr dirty="0"/>
              <a:t> </a:t>
            </a:r>
            <a:r>
              <a:rPr dirty="0" err="1"/>
              <a:t>của</a:t>
            </a:r>
            <a:r>
              <a:rPr dirty="0"/>
              <a:t> </a:t>
            </a:r>
            <a:r>
              <a:rPr dirty="0" err="1"/>
              <a:t>em</a:t>
            </a:r>
            <a:r>
              <a:rPr dirty="0"/>
              <a:t> </a:t>
            </a:r>
            <a:r>
              <a:rPr dirty="0" err="1"/>
              <a:t>cải</a:t>
            </a:r>
            <a:r>
              <a:rPr dirty="0"/>
              <a:t> </a:t>
            </a:r>
            <a:r>
              <a:rPr dirty="0" err="1"/>
              <a:t>thiện</a:t>
            </a:r>
            <a:r>
              <a:rPr dirty="0"/>
              <a:t> F1 </a:t>
            </a:r>
            <a:r>
              <a:rPr dirty="0" err="1"/>
              <a:t>ở</a:t>
            </a:r>
            <a:r>
              <a:rPr dirty="0"/>
              <a:t> </a:t>
            </a:r>
            <a:r>
              <a:rPr dirty="0" err="1"/>
              <a:t>bốn</a:t>
            </a:r>
            <a:r>
              <a:rPr dirty="0"/>
              <a:t> </a:t>
            </a:r>
            <a:r>
              <a:rPr dirty="0" err="1"/>
              <a:t>trên</a:t>
            </a:r>
            <a:r>
              <a:rPr dirty="0"/>
              <a:t> </a:t>
            </a:r>
            <a:r>
              <a:rPr dirty="0" err="1"/>
              <a:t>năm</a:t>
            </a:r>
            <a:r>
              <a:rPr dirty="0"/>
              <a:t> </a:t>
            </a:r>
            <a:r>
              <a:rPr dirty="0" err="1"/>
              <a:t>thuốc</a:t>
            </a:r>
            <a:r>
              <a:rPr dirty="0"/>
              <a:t>.</a:t>
            </a:r>
          </a:p>
          <a:p>
            <a:r>
              <a:rPr dirty="0"/>
              <a:t>Quan </a:t>
            </a:r>
            <a:r>
              <a:rPr dirty="0" err="1"/>
              <a:t>trọng</a:t>
            </a:r>
            <a:r>
              <a:rPr dirty="0"/>
              <a:t> </a:t>
            </a:r>
            <a:r>
              <a:rPr dirty="0" err="1"/>
              <a:t>hơn</a:t>
            </a:r>
            <a:r>
              <a:rPr dirty="0"/>
              <a:t>: </a:t>
            </a:r>
            <a:r>
              <a:rPr dirty="0" err="1"/>
              <a:t>mỗi</a:t>
            </a:r>
            <a:r>
              <a:rPr dirty="0"/>
              <a:t> </a:t>
            </a:r>
            <a:r>
              <a:rPr dirty="0" err="1"/>
              <a:t>thuốc</a:t>
            </a:r>
            <a:r>
              <a:rPr dirty="0"/>
              <a:t> </a:t>
            </a:r>
            <a:r>
              <a:rPr dirty="0" err="1"/>
              <a:t>chọn</a:t>
            </a:r>
            <a:r>
              <a:rPr dirty="0"/>
              <a:t> </a:t>
            </a:r>
            <a:r>
              <a:rPr dirty="0" err="1"/>
              <a:t>một</a:t>
            </a:r>
            <a:r>
              <a:rPr dirty="0"/>
              <a:t> module </a:t>
            </a:r>
            <a:r>
              <a:rPr dirty="0" err="1"/>
              <a:t>khác</a:t>
            </a:r>
            <a:r>
              <a:rPr dirty="0"/>
              <a:t> </a:t>
            </a:r>
            <a:r>
              <a:rPr dirty="0" err="1"/>
              <a:t>nhau</a:t>
            </a:r>
            <a:r>
              <a:rPr dirty="0"/>
              <a:t>. AMP </a:t>
            </a:r>
            <a:r>
              <a:rPr dirty="0" err="1"/>
              <a:t>hợp</a:t>
            </a:r>
            <a:r>
              <a:rPr dirty="0"/>
              <a:t> </a:t>
            </a:r>
            <a:r>
              <a:rPr dirty="0" err="1"/>
              <a:t>với</a:t>
            </a:r>
            <a:r>
              <a:rPr dirty="0"/>
              <a:t> marker; AUG </a:t>
            </a:r>
            <a:r>
              <a:rPr dirty="0" err="1"/>
              <a:t>hợp</a:t>
            </a:r>
            <a:r>
              <a:rPr dirty="0"/>
              <a:t> </a:t>
            </a:r>
            <a:r>
              <a:rPr dirty="0" err="1"/>
              <a:t>với</a:t>
            </a:r>
            <a:r>
              <a:rPr dirty="0"/>
              <a:t> gene</a:t>
            </a:r>
            <a:r>
              <a:rPr lang="vi-VN" dirty="0"/>
              <a:t> embedd</a:t>
            </a:r>
            <a:r>
              <a:rPr dirty="0"/>
              <a:t>; AXO </a:t>
            </a:r>
            <a:r>
              <a:rPr dirty="0" err="1"/>
              <a:t>hợp</a:t>
            </a:r>
            <a:r>
              <a:rPr dirty="0"/>
              <a:t> </a:t>
            </a:r>
            <a:r>
              <a:rPr dirty="0" err="1"/>
              <a:t>với</a:t>
            </a:r>
            <a:r>
              <a:rPr dirty="0"/>
              <a:t> ensemble; CHL </a:t>
            </a:r>
            <a:r>
              <a:rPr dirty="0" err="1"/>
              <a:t>hợp</a:t>
            </a:r>
            <a:r>
              <a:rPr dirty="0"/>
              <a:t> </a:t>
            </a:r>
            <a:r>
              <a:rPr dirty="0" err="1"/>
              <a:t>với</a:t>
            </a:r>
            <a:r>
              <a:rPr dirty="0"/>
              <a:t> </a:t>
            </a:r>
            <a:r>
              <a:rPr dirty="0" err="1"/>
              <a:t>cách</a:t>
            </a:r>
            <a:r>
              <a:rPr dirty="0"/>
              <a:t> lai marker </a:t>
            </a:r>
            <a:r>
              <a:rPr lang="vi-VN" dirty="0"/>
              <a:t>+</a:t>
            </a:r>
            <a:r>
              <a:rPr dirty="0"/>
              <a:t> chi </a:t>
            </a:r>
            <a:r>
              <a:rPr dirty="0" err="1"/>
              <a:t>bình</a:t>
            </a:r>
            <a:r>
              <a:rPr dirty="0"/>
              <a:t> </a:t>
            </a:r>
            <a:r>
              <a:rPr dirty="0" err="1"/>
              <a:t>phương</a:t>
            </a:r>
            <a:r>
              <a:rPr dirty="0"/>
              <a:t>; FOX </a:t>
            </a:r>
            <a:r>
              <a:rPr dirty="0" err="1"/>
              <a:t>hợp</a:t>
            </a:r>
            <a:r>
              <a:rPr dirty="0"/>
              <a:t> </a:t>
            </a:r>
            <a:r>
              <a:rPr dirty="0" err="1"/>
              <a:t>với</a:t>
            </a:r>
            <a:r>
              <a:rPr dirty="0"/>
              <a:t> </a:t>
            </a:r>
            <a:r>
              <a:rPr dirty="0" err="1"/>
              <a:t>đồ</a:t>
            </a:r>
            <a:r>
              <a:rPr dirty="0"/>
              <a:t> </a:t>
            </a:r>
            <a:r>
              <a:rPr dirty="0" err="1"/>
              <a:t>thị</a:t>
            </a:r>
            <a:r>
              <a:rPr dirty="0"/>
              <a:t> </a:t>
            </a:r>
            <a:r>
              <a:rPr dirty="0" err="1"/>
              <a:t>tương</a:t>
            </a:r>
            <a:r>
              <a:rPr dirty="0"/>
              <a:t> </a:t>
            </a:r>
            <a:r>
              <a:rPr dirty="0" err="1"/>
              <a:t>đồng</a:t>
            </a:r>
            <a:r>
              <a:rPr dirty="0"/>
              <a:t> </a:t>
            </a:r>
            <a:r>
              <a:rPr dirty="0" err="1"/>
              <a:t>mẫu</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E96A4-3824-1EDB-648C-D1A754173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A8FEA-3544-02F5-6F52-4E592613D2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FB8CDC5-4A94-2B1B-17E0-BEA9C33BC07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C5D3EAF-A0A0-E42F-83E2-D921F7CE716A}"/>
              </a:ext>
            </a:extLst>
          </p:cNvPr>
          <p:cNvSpPr>
            <a:spLocks noGrp="1"/>
          </p:cNvSpPr>
          <p:nvPr>
            <p:ph type="sldNum" sz="quarter" idx="5"/>
          </p:nvPr>
        </p:nvSpPr>
        <p:spPr/>
      </p:sp>
    </p:spTree>
    <p:extLst>
      <p:ext uri="{BB962C8B-B14F-4D97-AF65-F5344CB8AC3E}">
        <p14:creationId xmlns:p14="http://schemas.microsoft.com/office/powerpoint/2010/main" val="1243853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em</a:t>
            </a:r>
            <a:r>
              <a:rPr dirty="0"/>
              <a:t> </a:t>
            </a:r>
            <a:r>
              <a:rPr dirty="0" err="1"/>
              <a:t>muốn</a:t>
            </a:r>
            <a:r>
              <a:rPr dirty="0"/>
              <a:t> </a:t>
            </a:r>
            <a:r>
              <a:rPr dirty="0" err="1"/>
              <a:t>kiểm</a:t>
            </a:r>
            <a:r>
              <a:rPr dirty="0"/>
              <a:t> </a:t>
            </a:r>
            <a:r>
              <a:rPr dirty="0" err="1"/>
              <a:t>tra</a:t>
            </a:r>
            <a:r>
              <a:rPr dirty="0"/>
              <a:t> </a:t>
            </a:r>
            <a:r>
              <a:rPr dirty="0" err="1"/>
              <a:t>kỹ</a:t>
            </a:r>
            <a:r>
              <a:rPr dirty="0"/>
              <a:t> </a:t>
            </a:r>
            <a:r>
              <a:rPr dirty="0" err="1"/>
              <a:t>hơn</a:t>
            </a:r>
            <a:r>
              <a:rPr dirty="0"/>
              <a:t>. </a:t>
            </a:r>
            <a:r>
              <a:rPr dirty="0" err="1"/>
              <a:t>Có</a:t>
            </a:r>
            <a:r>
              <a:rPr dirty="0"/>
              <a:t> </a:t>
            </a:r>
            <a:r>
              <a:rPr dirty="0" err="1"/>
              <a:t>bốn</a:t>
            </a:r>
            <a:r>
              <a:rPr dirty="0"/>
              <a:t> </a:t>
            </a:r>
            <a:r>
              <a:rPr dirty="0" err="1"/>
              <a:t>nhóm</a:t>
            </a:r>
            <a:r>
              <a:rPr dirty="0"/>
              <a:t>: </a:t>
            </a:r>
            <a:r>
              <a:rPr dirty="0" err="1"/>
              <a:t>kiểm</a:t>
            </a:r>
            <a:r>
              <a:rPr dirty="0"/>
              <a:t> </a:t>
            </a:r>
            <a:r>
              <a:rPr dirty="0" err="1"/>
              <a:t>định</a:t>
            </a:r>
            <a:r>
              <a:rPr dirty="0"/>
              <a:t> </a:t>
            </a:r>
            <a:r>
              <a:rPr dirty="0" err="1"/>
              <a:t>thống</a:t>
            </a:r>
            <a:r>
              <a:rPr dirty="0"/>
              <a:t> </a:t>
            </a:r>
            <a:r>
              <a:rPr dirty="0" err="1"/>
              <a:t>kê</a:t>
            </a:r>
            <a:r>
              <a:rPr dirty="0"/>
              <a:t>, chia </a:t>
            </a:r>
            <a:r>
              <a:rPr dirty="0" err="1"/>
              <a:t>theo</a:t>
            </a:r>
            <a:r>
              <a:rPr dirty="0"/>
              <a:t> </a:t>
            </a:r>
            <a:r>
              <a:rPr dirty="0" err="1"/>
              <a:t>dòng</a:t>
            </a:r>
            <a:r>
              <a:rPr dirty="0"/>
              <a:t> </a:t>
            </a:r>
            <a:r>
              <a:rPr dirty="0" err="1"/>
              <a:t>phát</a:t>
            </a:r>
            <a:r>
              <a:rPr dirty="0"/>
              <a:t> </a:t>
            </a:r>
            <a:r>
              <a:rPr dirty="0" err="1"/>
              <a:t>sinh</a:t>
            </a:r>
            <a:r>
              <a:rPr dirty="0"/>
              <a:t> </a:t>
            </a:r>
            <a:r>
              <a:rPr dirty="0" err="1"/>
              <a:t>loài</a:t>
            </a:r>
            <a:r>
              <a:rPr dirty="0"/>
              <a:t>, </a:t>
            </a:r>
            <a:r>
              <a:rPr dirty="0" err="1"/>
              <a:t>kiểm</a:t>
            </a:r>
            <a:r>
              <a:rPr dirty="0"/>
              <a:t> </a:t>
            </a:r>
            <a:r>
              <a:rPr dirty="0" err="1"/>
              <a:t>tra</a:t>
            </a:r>
            <a:r>
              <a:rPr dirty="0"/>
              <a:t> </a:t>
            </a:r>
            <a:r>
              <a:rPr dirty="0" err="1"/>
              <a:t>trên</a:t>
            </a:r>
            <a:r>
              <a:rPr dirty="0"/>
              <a:t> </a:t>
            </a:r>
            <a:r>
              <a:rPr dirty="0" err="1"/>
              <a:t>bộ</a:t>
            </a:r>
            <a:r>
              <a:rPr dirty="0"/>
              <a:t> </a:t>
            </a:r>
            <a:r>
              <a:rPr dirty="0" err="1"/>
              <a:t>dữ</a:t>
            </a:r>
            <a:r>
              <a:rPr dirty="0"/>
              <a:t> </a:t>
            </a:r>
            <a:r>
              <a:rPr dirty="0" err="1"/>
              <a:t>liệu</a:t>
            </a:r>
            <a:r>
              <a:rPr dirty="0"/>
              <a:t> </a:t>
            </a:r>
            <a:r>
              <a:rPr dirty="0" err="1"/>
              <a:t>ngoài</a:t>
            </a:r>
            <a:r>
              <a:rPr dirty="0"/>
              <a:t>, </a:t>
            </a:r>
            <a:r>
              <a:rPr dirty="0" err="1"/>
              <a:t>và</a:t>
            </a:r>
            <a:r>
              <a:rPr dirty="0"/>
              <a:t> </a:t>
            </a:r>
            <a:r>
              <a:rPr dirty="0" err="1"/>
              <a:t>phân</a:t>
            </a:r>
            <a:r>
              <a:rPr dirty="0"/>
              <a:t> </a:t>
            </a:r>
            <a:r>
              <a:rPr dirty="0" err="1"/>
              <a:t>tích</a:t>
            </a:r>
            <a:r>
              <a:rPr dirty="0"/>
              <a:t> </a:t>
            </a:r>
            <a:r>
              <a:rPr dirty="0" err="1"/>
              <a:t>đột</a:t>
            </a:r>
            <a:r>
              <a:rPr dirty="0"/>
              <a:t> </a:t>
            </a:r>
            <a:r>
              <a:rPr dirty="0" err="1"/>
              <a:t>biến</a:t>
            </a:r>
            <a:r>
              <a:rPr dirty="0"/>
              <a:t> </a:t>
            </a:r>
            <a:r>
              <a:rPr dirty="0" err="1"/>
              <a:t>thật</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Đầu</a:t>
            </a:r>
            <a:r>
              <a:rPr dirty="0"/>
              <a:t> </a:t>
            </a:r>
            <a:r>
              <a:rPr dirty="0" err="1"/>
              <a:t>tiên</a:t>
            </a:r>
            <a:r>
              <a:rPr dirty="0"/>
              <a:t> </a:t>
            </a:r>
            <a:r>
              <a:rPr dirty="0" err="1"/>
              <a:t>là</a:t>
            </a:r>
            <a:r>
              <a:rPr dirty="0"/>
              <a:t> </a:t>
            </a:r>
            <a:r>
              <a:rPr dirty="0" err="1"/>
              <a:t>độ</a:t>
            </a:r>
            <a:r>
              <a:rPr dirty="0"/>
              <a:t> </a:t>
            </a:r>
            <a:r>
              <a:rPr dirty="0" err="1"/>
              <a:t>ổn</a:t>
            </a:r>
            <a:r>
              <a:rPr dirty="0"/>
              <a:t> </a:t>
            </a:r>
            <a:r>
              <a:rPr dirty="0" err="1"/>
              <a:t>định</a:t>
            </a:r>
            <a:r>
              <a:rPr dirty="0"/>
              <a:t> </a:t>
            </a:r>
            <a:r>
              <a:rPr dirty="0" err="1"/>
              <a:t>thống</a:t>
            </a:r>
            <a:r>
              <a:rPr dirty="0"/>
              <a:t> </a:t>
            </a:r>
            <a:r>
              <a:rPr dirty="0" err="1"/>
              <a:t>kê</a:t>
            </a:r>
            <a:r>
              <a:rPr dirty="0"/>
              <a:t>. </a:t>
            </a:r>
            <a:r>
              <a:rPr dirty="0" err="1"/>
              <a:t>em</a:t>
            </a:r>
            <a:r>
              <a:rPr dirty="0"/>
              <a:t> </a:t>
            </a:r>
            <a:r>
              <a:rPr dirty="0" err="1"/>
              <a:t>chạy</a:t>
            </a:r>
            <a:r>
              <a:rPr dirty="0"/>
              <a:t> cross-validation </a:t>
            </a:r>
            <a:r>
              <a:rPr dirty="0" err="1"/>
              <a:t>lặp</a:t>
            </a:r>
            <a:r>
              <a:rPr dirty="0"/>
              <a:t> </a:t>
            </a:r>
            <a:r>
              <a:rPr dirty="0" err="1"/>
              <a:t>lại</a:t>
            </a:r>
            <a:r>
              <a:rPr dirty="0"/>
              <a:t> </a:t>
            </a:r>
            <a:r>
              <a:rPr dirty="0" err="1"/>
              <a:t>năm</a:t>
            </a:r>
            <a:r>
              <a:rPr dirty="0"/>
              <a:t> </a:t>
            </a:r>
            <a:r>
              <a:rPr dirty="0" err="1"/>
              <a:t>lần</a:t>
            </a:r>
            <a:r>
              <a:rPr dirty="0"/>
              <a:t> </a:t>
            </a:r>
            <a:r>
              <a:rPr dirty="0" err="1"/>
              <a:t>năm</a:t>
            </a:r>
            <a:r>
              <a:rPr dirty="0"/>
              <a:t> fold. Em </a:t>
            </a:r>
            <a:r>
              <a:rPr dirty="0" err="1"/>
              <a:t>dùng</a:t>
            </a:r>
            <a:r>
              <a:rPr dirty="0"/>
              <a:t> t-test </a:t>
            </a:r>
            <a:r>
              <a:rPr dirty="0" err="1"/>
              <a:t>có</a:t>
            </a:r>
            <a:r>
              <a:rPr dirty="0"/>
              <a:t> </a:t>
            </a:r>
            <a:r>
              <a:rPr dirty="0" err="1"/>
              <a:t>hiệu</a:t>
            </a:r>
            <a:r>
              <a:rPr dirty="0"/>
              <a:t> </a:t>
            </a:r>
            <a:r>
              <a:rPr dirty="0" err="1"/>
              <a:t>chỉnh</a:t>
            </a:r>
            <a:r>
              <a:rPr dirty="0"/>
              <a:t> Nadeau–Bengio</a:t>
            </a:r>
            <a:r>
              <a:rPr lang="vi-VN" dirty="0"/>
              <a:t> (</a:t>
            </a:r>
            <a:r>
              <a:rPr lang="en-VN" dirty="0"/>
              <a:t>thêm một hệ số hiệu chỉnh vào phương sai ntest/ntrain) bù cho phần chồng lấn giữa các fold</a:t>
            </a:r>
            <a:r>
              <a:rPr dirty="0"/>
              <a:t> </a:t>
            </a:r>
            <a:r>
              <a:rPr dirty="0" err="1"/>
              <a:t>để</a:t>
            </a:r>
            <a:r>
              <a:rPr dirty="0"/>
              <a:t> so </a:t>
            </a:r>
            <a:r>
              <a:rPr dirty="0" err="1"/>
              <a:t>sánh</a:t>
            </a:r>
            <a:r>
              <a:rPr dirty="0"/>
              <a:t> </a:t>
            </a:r>
            <a:r>
              <a:rPr dirty="0" err="1"/>
              <a:t>cho</a:t>
            </a:r>
            <a:r>
              <a:rPr dirty="0"/>
              <a:t> </a:t>
            </a:r>
            <a:r>
              <a:rPr dirty="0" err="1"/>
              <a:t>công</a:t>
            </a:r>
            <a:r>
              <a:rPr dirty="0"/>
              <a:t> </a:t>
            </a:r>
            <a:r>
              <a:rPr dirty="0" err="1"/>
              <a:t>bằng</a:t>
            </a:r>
            <a:r>
              <a:rPr dirty="0"/>
              <a:t> — </a:t>
            </a:r>
            <a:r>
              <a:rPr dirty="0" err="1"/>
              <a:t>vì</a:t>
            </a:r>
            <a:r>
              <a:rPr dirty="0"/>
              <a:t> </a:t>
            </a:r>
            <a:r>
              <a:rPr dirty="0" err="1"/>
              <a:t>các</a:t>
            </a:r>
            <a:r>
              <a:rPr dirty="0"/>
              <a:t> fold </a:t>
            </a:r>
            <a:r>
              <a:rPr dirty="0" err="1"/>
              <a:t>chồng</a:t>
            </a:r>
            <a:r>
              <a:rPr dirty="0"/>
              <a:t> </a:t>
            </a:r>
            <a:r>
              <a:rPr dirty="0" err="1"/>
              <a:t>lấn</a:t>
            </a:r>
            <a:r>
              <a:rPr dirty="0"/>
              <a:t> </a:t>
            </a:r>
            <a:r>
              <a:rPr dirty="0" err="1"/>
              <a:t>nhau</a:t>
            </a:r>
            <a:r>
              <a:rPr dirty="0"/>
              <a:t> </a:t>
            </a:r>
            <a:r>
              <a:rPr dirty="0" err="1"/>
              <a:t>nên</a:t>
            </a:r>
            <a:r>
              <a:rPr dirty="0"/>
              <a:t> t-test </a:t>
            </a:r>
            <a:r>
              <a:rPr dirty="0" err="1"/>
              <a:t>thường</a:t>
            </a:r>
            <a:r>
              <a:rPr dirty="0"/>
              <a:t> </a:t>
            </a:r>
            <a:r>
              <a:rPr dirty="0" err="1"/>
              <a:t>sẽ</a:t>
            </a:r>
            <a:r>
              <a:rPr dirty="0"/>
              <a:t> </a:t>
            </a:r>
            <a:r>
              <a:rPr dirty="0" err="1"/>
              <a:t>quá</a:t>
            </a:r>
            <a:r>
              <a:rPr dirty="0"/>
              <a:t> </a:t>
            </a:r>
            <a:r>
              <a:rPr dirty="0" err="1"/>
              <a:t>lạc</a:t>
            </a:r>
            <a:r>
              <a:rPr dirty="0"/>
              <a:t> </a:t>
            </a:r>
            <a:r>
              <a:rPr dirty="0" err="1"/>
              <a:t>quan</a:t>
            </a:r>
            <a:r>
              <a:rPr dirty="0"/>
              <a:t>, </a:t>
            </a:r>
            <a:r>
              <a:rPr dirty="0" err="1"/>
              <a:t>bản</a:t>
            </a:r>
            <a:r>
              <a:rPr dirty="0"/>
              <a:t> </a:t>
            </a:r>
            <a:r>
              <a:rPr dirty="0" err="1"/>
              <a:t>hiệu</a:t>
            </a:r>
            <a:r>
              <a:rPr dirty="0"/>
              <a:t> </a:t>
            </a:r>
            <a:r>
              <a:rPr dirty="0" err="1"/>
              <a:t>chỉnh</a:t>
            </a:r>
            <a:r>
              <a:rPr dirty="0"/>
              <a:t> </a:t>
            </a:r>
            <a:r>
              <a:rPr dirty="0" err="1"/>
              <a:t>khắc</a:t>
            </a:r>
            <a:r>
              <a:rPr dirty="0"/>
              <a:t> </a:t>
            </a:r>
            <a:r>
              <a:rPr dirty="0" err="1"/>
              <a:t>phục</a:t>
            </a:r>
            <a:r>
              <a:rPr dirty="0"/>
              <a:t> </a:t>
            </a:r>
            <a:r>
              <a:rPr dirty="0" err="1"/>
              <a:t>điều</a:t>
            </a:r>
            <a:r>
              <a:rPr dirty="0"/>
              <a:t> </a:t>
            </a:r>
            <a:r>
              <a:rPr dirty="0" err="1"/>
              <a:t>đó</a:t>
            </a:r>
            <a:r>
              <a:rPr dirty="0"/>
              <a:t>. Em </a:t>
            </a:r>
            <a:r>
              <a:rPr dirty="0" err="1"/>
              <a:t>cũng</a:t>
            </a:r>
            <a:r>
              <a:rPr dirty="0"/>
              <a:t> </a:t>
            </a:r>
            <a:r>
              <a:rPr dirty="0" err="1"/>
              <a:t>làm</a:t>
            </a:r>
            <a:r>
              <a:rPr dirty="0"/>
              <a:t> </a:t>
            </a:r>
            <a:r>
              <a:rPr dirty="0" err="1"/>
              <a:t>một</a:t>
            </a:r>
            <a:r>
              <a:rPr dirty="0"/>
              <a:t> </a:t>
            </a:r>
            <a:r>
              <a:rPr dirty="0" err="1"/>
              <a:t>phép</a:t>
            </a:r>
            <a:r>
              <a:rPr dirty="0"/>
              <a:t> </a:t>
            </a:r>
            <a:r>
              <a:rPr dirty="0" err="1"/>
              <a:t>thử</a:t>
            </a:r>
            <a:r>
              <a:rPr dirty="0"/>
              <a:t> </a:t>
            </a:r>
            <a:r>
              <a:rPr dirty="0" err="1"/>
              <a:t>quan</a:t>
            </a:r>
            <a:r>
              <a:rPr dirty="0"/>
              <a:t> </a:t>
            </a:r>
            <a:r>
              <a:rPr dirty="0" err="1"/>
              <a:t>trọng</a:t>
            </a:r>
            <a:r>
              <a:rPr dirty="0"/>
              <a:t>: </a:t>
            </a:r>
            <a:r>
              <a:rPr dirty="0" err="1"/>
              <a:t>xáo</a:t>
            </a:r>
            <a:r>
              <a:rPr dirty="0"/>
              <a:t> </a:t>
            </a:r>
            <a:r>
              <a:rPr dirty="0" err="1"/>
              <a:t>trộn</a:t>
            </a:r>
            <a:r>
              <a:rPr dirty="0"/>
              <a:t> </a:t>
            </a:r>
            <a:r>
              <a:rPr dirty="0" err="1"/>
              <a:t>nhãn</a:t>
            </a:r>
            <a:r>
              <a:rPr dirty="0"/>
              <a:t> </a:t>
            </a:r>
            <a:r>
              <a:rPr dirty="0" err="1"/>
              <a:t>ngẫu</a:t>
            </a:r>
            <a:r>
              <a:rPr dirty="0"/>
              <a:t> </a:t>
            </a:r>
            <a:r>
              <a:rPr dirty="0" err="1"/>
              <a:t>nhiên</a:t>
            </a:r>
            <a:r>
              <a:rPr dirty="0"/>
              <a:t>, </a:t>
            </a:r>
            <a:r>
              <a:rPr dirty="0" err="1"/>
              <a:t>và</a:t>
            </a:r>
            <a:r>
              <a:rPr dirty="0"/>
              <a:t> </a:t>
            </a:r>
            <a:r>
              <a:rPr dirty="0" err="1"/>
              <a:t>khi</a:t>
            </a:r>
            <a:r>
              <a:rPr dirty="0"/>
              <a:t> </a:t>
            </a:r>
            <a:r>
              <a:rPr dirty="0" err="1"/>
              <a:t>đó</a:t>
            </a:r>
            <a:r>
              <a:rPr dirty="0"/>
              <a:t> </a:t>
            </a:r>
            <a:r>
              <a:rPr dirty="0" err="1"/>
              <a:t>mô</a:t>
            </a:r>
            <a:r>
              <a:rPr dirty="0"/>
              <a:t> </a:t>
            </a:r>
            <a:r>
              <a:rPr dirty="0" err="1"/>
              <a:t>hình</a:t>
            </a:r>
            <a:r>
              <a:rPr dirty="0"/>
              <a:t> </a:t>
            </a:r>
            <a:r>
              <a:rPr dirty="0" err="1"/>
              <a:t>chỉ</a:t>
            </a:r>
            <a:r>
              <a:rPr dirty="0"/>
              <a:t> </a:t>
            </a:r>
            <a:r>
              <a:rPr dirty="0" err="1"/>
              <a:t>đạt</a:t>
            </a:r>
            <a:r>
              <a:rPr dirty="0"/>
              <a:t> </a:t>
            </a:r>
            <a:r>
              <a:rPr dirty="0" err="1"/>
              <a:t>khoảng</a:t>
            </a:r>
            <a:r>
              <a:rPr dirty="0"/>
              <a:t> 0.5 —</a:t>
            </a:r>
            <a:r>
              <a:rPr dirty="0" err="1"/>
              <a:t>chứng</a:t>
            </a:r>
            <a:r>
              <a:rPr dirty="0"/>
              <a:t> </a:t>
            </a:r>
            <a:r>
              <a:rPr dirty="0" err="1"/>
              <a:t>tỏ</a:t>
            </a:r>
            <a:r>
              <a:rPr dirty="0"/>
              <a:t> </a:t>
            </a:r>
            <a:r>
              <a:rPr dirty="0" err="1"/>
              <a:t>mô</a:t>
            </a:r>
            <a:r>
              <a:rPr dirty="0"/>
              <a:t> </a:t>
            </a:r>
            <a:r>
              <a:rPr dirty="0" err="1"/>
              <a:t>hình</a:t>
            </a:r>
            <a:r>
              <a:rPr dirty="0"/>
              <a:t> </a:t>
            </a:r>
            <a:r>
              <a:rPr dirty="0" err="1"/>
              <a:t>không</a:t>
            </a:r>
            <a:r>
              <a:rPr dirty="0"/>
              <a:t> </a:t>
            </a:r>
            <a:r>
              <a:rPr dirty="0" err="1"/>
              <a:t>bị</a:t>
            </a:r>
            <a:r>
              <a:rPr dirty="0"/>
              <a:t> </a:t>
            </a:r>
            <a:r>
              <a:rPr dirty="0" err="1"/>
              <a:t>rò</a:t>
            </a:r>
            <a:r>
              <a:rPr dirty="0"/>
              <a:t> </a:t>
            </a:r>
            <a:r>
              <a:rPr dirty="0" err="1"/>
              <a:t>rỉ</a:t>
            </a:r>
            <a:r>
              <a:rPr dirty="0"/>
              <a:t> </a:t>
            </a:r>
            <a:r>
              <a:rPr dirty="0" err="1"/>
              <a:t>dữ</a:t>
            </a:r>
            <a:r>
              <a:rPr dirty="0"/>
              <a:t> </a:t>
            </a:r>
            <a:r>
              <a:rPr dirty="0" err="1"/>
              <a:t>liệu</a:t>
            </a:r>
            <a:r>
              <a:rPr dirty="0"/>
              <a:t>, </a:t>
            </a:r>
            <a:r>
              <a:rPr dirty="0" err="1"/>
              <a:t>nó</a:t>
            </a:r>
            <a:r>
              <a:rPr dirty="0"/>
              <a:t> </a:t>
            </a:r>
            <a:r>
              <a:rPr dirty="0" err="1"/>
              <a:t>học</a:t>
            </a:r>
            <a:r>
              <a:rPr dirty="0"/>
              <a:t> </a:t>
            </a:r>
            <a:r>
              <a:rPr dirty="0" err="1"/>
              <a:t>thật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Các </a:t>
            </a:r>
            <a:r>
              <a:rPr dirty="0" err="1"/>
              <a:t>chủng</a:t>
            </a:r>
            <a:r>
              <a:rPr dirty="0"/>
              <a:t> </a:t>
            </a:r>
            <a:r>
              <a:rPr dirty="0" err="1"/>
              <a:t>cùng</a:t>
            </a:r>
            <a:r>
              <a:rPr dirty="0"/>
              <a:t> </a:t>
            </a:r>
            <a:r>
              <a:rPr dirty="0" err="1"/>
              <a:t>một</a:t>
            </a:r>
            <a:r>
              <a:rPr dirty="0"/>
              <a:t> </a:t>
            </a:r>
            <a:r>
              <a:rPr dirty="0" err="1"/>
              <a:t>dòng</a:t>
            </a:r>
            <a:r>
              <a:rPr dirty="0"/>
              <a:t> </a:t>
            </a:r>
            <a:r>
              <a:rPr dirty="0" err="1"/>
              <a:t>họ</a:t>
            </a:r>
            <a:r>
              <a:rPr dirty="0"/>
              <a:t> </a:t>
            </a:r>
            <a:r>
              <a:rPr dirty="0" err="1"/>
              <a:t>rất</a:t>
            </a:r>
            <a:r>
              <a:rPr dirty="0"/>
              <a:t> </a:t>
            </a:r>
            <a:r>
              <a:rPr dirty="0" err="1"/>
              <a:t>giống</a:t>
            </a:r>
            <a:r>
              <a:rPr dirty="0"/>
              <a:t> </a:t>
            </a:r>
            <a:r>
              <a:rPr dirty="0" err="1"/>
              <a:t>nhau</a:t>
            </a:r>
            <a:r>
              <a:rPr dirty="0"/>
              <a:t>. </a:t>
            </a:r>
            <a:r>
              <a:rPr dirty="0" err="1"/>
              <a:t>Nếu</a:t>
            </a:r>
            <a:r>
              <a:rPr dirty="0"/>
              <a:t> chia </a:t>
            </a:r>
            <a:r>
              <a:rPr dirty="0" err="1"/>
              <a:t>ngẫu</a:t>
            </a:r>
            <a:r>
              <a:rPr dirty="0"/>
              <a:t> </a:t>
            </a:r>
            <a:r>
              <a:rPr dirty="0" err="1"/>
              <a:t>nhiên</a:t>
            </a:r>
            <a:r>
              <a:rPr dirty="0"/>
              <a:t>, </a:t>
            </a:r>
            <a:r>
              <a:rPr dirty="0" err="1"/>
              <a:t>cùng</a:t>
            </a:r>
            <a:r>
              <a:rPr dirty="0"/>
              <a:t> </a:t>
            </a:r>
            <a:r>
              <a:rPr dirty="0" err="1"/>
              <a:t>một</a:t>
            </a:r>
            <a:r>
              <a:rPr dirty="0"/>
              <a:t> </a:t>
            </a:r>
            <a:r>
              <a:rPr dirty="0" err="1"/>
              <a:t>dòng</a:t>
            </a:r>
            <a:r>
              <a:rPr dirty="0"/>
              <a:t> </a:t>
            </a:r>
            <a:r>
              <a:rPr dirty="0" err="1"/>
              <a:t>có</a:t>
            </a:r>
            <a:r>
              <a:rPr dirty="0"/>
              <a:t> </a:t>
            </a:r>
            <a:r>
              <a:rPr dirty="0" err="1"/>
              <a:t>thể</a:t>
            </a:r>
            <a:r>
              <a:rPr dirty="0"/>
              <a:t> </a:t>
            </a:r>
            <a:r>
              <a:rPr dirty="0" err="1"/>
              <a:t>xuất</a:t>
            </a:r>
            <a:r>
              <a:rPr dirty="0"/>
              <a:t> </a:t>
            </a:r>
            <a:r>
              <a:rPr dirty="0" err="1"/>
              <a:t>hiện</a:t>
            </a:r>
            <a:r>
              <a:rPr dirty="0"/>
              <a:t> </a:t>
            </a:r>
            <a:r>
              <a:rPr dirty="0" err="1"/>
              <a:t>ở</a:t>
            </a:r>
            <a:r>
              <a:rPr dirty="0"/>
              <a:t> </a:t>
            </a:r>
            <a:r>
              <a:rPr dirty="0" err="1"/>
              <a:t>cả</a:t>
            </a:r>
            <a:r>
              <a:rPr dirty="0"/>
              <a:t> train </a:t>
            </a:r>
            <a:r>
              <a:rPr dirty="0" err="1"/>
              <a:t>và</a:t>
            </a:r>
            <a:r>
              <a:rPr dirty="0"/>
              <a:t> test, </a:t>
            </a:r>
            <a:r>
              <a:rPr dirty="0" err="1"/>
              <a:t>và</a:t>
            </a:r>
            <a:r>
              <a:rPr dirty="0"/>
              <a:t> </a:t>
            </a:r>
            <a:r>
              <a:rPr dirty="0" err="1"/>
              <a:t>mô</a:t>
            </a:r>
            <a:r>
              <a:rPr dirty="0"/>
              <a:t> </a:t>
            </a:r>
            <a:r>
              <a:rPr dirty="0" err="1"/>
              <a:t>hình</a:t>
            </a:r>
            <a:r>
              <a:rPr dirty="0"/>
              <a:t> </a:t>
            </a:r>
            <a:r>
              <a:rPr dirty="0" err="1"/>
              <a:t>có</a:t>
            </a:r>
            <a:r>
              <a:rPr dirty="0"/>
              <a:t> </a:t>
            </a:r>
            <a:r>
              <a:rPr dirty="0" err="1"/>
              <a:t>thể</a:t>
            </a:r>
            <a:r>
              <a:rPr dirty="0"/>
              <a:t> '</a:t>
            </a:r>
            <a:r>
              <a:rPr dirty="0" err="1"/>
              <a:t>ăn</a:t>
            </a:r>
            <a:r>
              <a:rPr dirty="0"/>
              <a:t> </a:t>
            </a:r>
            <a:r>
              <a:rPr dirty="0" err="1"/>
              <a:t>gian</a:t>
            </a:r>
            <a:r>
              <a:rPr dirty="0"/>
              <a:t>' </a:t>
            </a:r>
            <a:r>
              <a:rPr dirty="0" err="1"/>
              <a:t>bằng</a:t>
            </a:r>
            <a:r>
              <a:rPr dirty="0"/>
              <a:t> </a:t>
            </a:r>
            <a:r>
              <a:rPr dirty="0" err="1"/>
              <a:t>cách</a:t>
            </a:r>
            <a:r>
              <a:rPr dirty="0"/>
              <a:t> </a:t>
            </a:r>
            <a:r>
              <a:rPr dirty="0" err="1"/>
              <a:t>nhận</a:t>
            </a:r>
            <a:r>
              <a:rPr dirty="0"/>
              <a:t> </a:t>
            </a:r>
            <a:r>
              <a:rPr dirty="0" err="1"/>
              <a:t>ra</a:t>
            </a:r>
            <a:r>
              <a:rPr dirty="0"/>
              <a:t> </a:t>
            </a:r>
            <a:r>
              <a:rPr dirty="0" err="1"/>
              <a:t>dòng</a:t>
            </a:r>
            <a:r>
              <a:rPr dirty="0"/>
              <a:t> </a:t>
            </a:r>
            <a:r>
              <a:rPr dirty="0" err="1"/>
              <a:t>thay</a:t>
            </a:r>
            <a:r>
              <a:rPr dirty="0"/>
              <a:t> </a:t>
            </a:r>
            <a:r>
              <a:rPr dirty="0" err="1"/>
              <a:t>vì</a:t>
            </a:r>
            <a:r>
              <a:rPr dirty="0"/>
              <a:t> </a:t>
            </a:r>
            <a:r>
              <a:rPr dirty="0" err="1"/>
              <a:t>học</a:t>
            </a:r>
            <a:r>
              <a:rPr dirty="0"/>
              <a:t> </a:t>
            </a:r>
            <a:r>
              <a:rPr dirty="0" err="1"/>
              <a:t>cơ</a:t>
            </a:r>
            <a:r>
              <a:rPr dirty="0"/>
              <a:t> </a:t>
            </a:r>
            <a:r>
              <a:rPr dirty="0" err="1"/>
              <a:t>chế</a:t>
            </a:r>
            <a:r>
              <a:rPr dirty="0"/>
              <a:t> </a:t>
            </a:r>
            <a:r>
              <a:rPr dirty="0" err="1"/>
              <a:t>kháng</a:t>
            </a:r>
            <a:r>
              <a:rPr dirty="0"/>
              <a:t> </a:t>
            </a:r>
            <a:r>
              <a:rPr dirty="0" err="1"/>
              <a:t>thật</a:t>
            </a:r>
            <a:r>
              <a:rPr dirty="0"/>
              <a:t>.</a:t>
            </a:r>
          </a:p>
          <a:p>
            <a:r>
              <a:rPr dirty="0" err="1"/>
              <a:t>Nên</a:t>
            </a:r>
            <a:r>
              <a:rPr dirty="0"/>
              <a:t> </a:t>
            </a:r>
            <a:r>
              <a:rPr dirty="0" err="1"/>
              <a:t>em</a:t>
            </a:r>
            <a:r>
              <a:rPr dirty="0"/>
              <a:t> chia </a:t>
            </a:r>
            <a:r>
              <a:rPr dirty="0" err="1"/>
              <a:t>sao</a:t>
            </a:r>
            <a:r>
              <a:rPr dirty="0"/>
              <a:t> </a:t>
            </a:r>
            <a:r>
              <a:rPr dirty="0" err="1"/>
              <a:t>cho</a:t>
            </a:r>
            <a:r>
              <a:rPr dirty="0"/>
              <a:t> </a:t>
            </a:r>
            <a:r>
              <a:rPr dirty="0" err="1"/>
              <a:t>cùng</a:t>
            </a:r>
            <a:r>
              <a:rPr dirty="0"/>
              <a:t> </a:t>
            </a:r>
            <a:r>
              <a:rPr dirty="0" err="1"/>
              <a:t>một</a:t>
            </a:r>
            <a:r>
              <a:rPr dirty="0"/>
              <a:t> </a:t>
            </a:r>
            <a:r>
              <a:rPr dirty="0" err="1"/>
              <a:t>dòng</a:t>
            </a:r>
            <a:r>
              <a:rPr dirty="0"/>
              <a:t> </a:t>
            </a:r>
            <a:r>
              <a:rPr dirty="0" err="1"/>
              <a:t>chỉ</a:t>
            </a:r>
            <a:r>
              <a:rPr dirty="0"/>
              <a:t> </a:t>
            </a:r>
            <a:r>
              <a:rPr dirty="0" err="1"/>
              <a:t>nằm</a:t>
            </a:r>
            <a:r>
              <a:rPr dirty="0"/>
              <a:t> </a:t>
            </a:r>
            <a:r>
              <a:rPr dirty="0" err="1"/>
              <a:t>ở</a:t>
            </a:r>
            <a:r>
              <a:rPr dirty="0"/>
              <a:t> </a:t>
            </a:r>
            <a:r>
              <a:rPr dirty="0" err="1"/>
              <a:t>một</a:t>
            </a:r>
            <a:r>
              <a:rPr dirty="0"/>
              <a:t> </a:t>
            </a:r>
            <a:r>
              <a:rPr dirty="0" err="1"/>
              <a:t>bên</a:t>
            </a:r>
            <a:r>
              <a:rPr dirty="0"/>
              <a:t>. Khi </a:t>
            </a:r>
            <a:r>
              <a:rPr dirty="0" err="1"/>
              <a:t>làm</a:t>
            </a:r>
            <a:r>
              <a:rPr dirty="0"/>
              <a:t> </a:t>
            </a:r>
            <a:r>
              <a:rPr dirty="0" err="1"/>
              <a:t>vậy</a:t>
            </a:r>
            <a:r>
              <a:rPr dirty="0"/>
              <a:t>: AXO, FOX, </a:t>
            </a:r>
            <a:r>
              <a:rPr dirty="0" err="1"/>
              <a:t>và</a:t>
            </a:r>
            <a:r>
              <a:rPr dirty="0"/>
              <a:t> </a:t>
            </a:r>
            <a:r>
              <a:rPr dirty="0" err="1"/>
              <a:t>thuốc</a:t>
            </a:r>
            <a:r>
              <a:rPr dirty="0"/>
              <a:t> TET </a:t>
            </a:r>
            <a:r>
              <a:rPr dirty="0" err="1"/>
              <a:t>ở</a:t>
            </a:r>
            <a:r>
              <a:rPr dirty="0"/>
              <a:t> </a:t>
            </a:r>
            <a:r>
              <a:rPr dirty="0" err="1"/>
              <a:t>bộ</a:t>
            </a:r>
            <a:r>
              <a:rPr dirty="0"/>
              <a:t> </a:t>
            </a:r>
            <a:r>
              <a:rPr dirty="0" err="1"/>
              <a:t>ngoài</a:t>
            </a:r>
            <a:r>
              <a:rPr dirty="0"/>
              <a:t> </a:t>
            </a:r>
            <a:r>
              <a:rPr dirty="0" err="1"/>
              <a:t>vẫn</a:t>
            </a:r>
            <a:r>
              <a:rPr dirty="0"/>
              <a:t> </a:t>
            </a:r>
            <a:r>
              <a:rPr dirty="0" err="1"/>
              <a:t>giữ</a:t>
            </a:r>
            <a:r>
              <a:rPr dirty="0"/>
              <a:t> </a:t>
            </a:r>
            <a:r>
              <a:rPr dirty="0" err="1"/>
              <a:t>điểm</a:t>
            </a:r>
            <a:r>
              <a:rPr dirty="0"/>
              <a:t> </a:t>
            </a:r>
            <a:r>
              <a:rPr dirty="0" err="1"/>
              <a:t>cao</a:t>
            </a:r>
            <a:r>
              <a:rPr dirty="0"/>
              <a:t> — </a:t>
            </a:r>
            <a:r>
              <a:rPr dirty="0" err="1"/>
              <a:t>chứng</a:t>
            </a:r>
            <a:r>
              <a:rPr dirty="0"/>
              <a:t> </a:t>
            </a:r>
            <a:r>
              <a:rPr dirty="0" err="1"/>
              <a:t>tỏ</a:t>
            </a:r>
            <a:r>
              <a:rPr dirty="0"/>
              <a:t> </a:t>
            </a:r>
            <a:r>
              <a:rPr dirty="0" err="1"/>
              <a:t>tín</a:t>
            </a:r>
            <a:r>
              <a:rPr dirty="0"/>
              <a:t> </a:t>
            </a:r>
            <a:r>
              <a:rPr dirty="0" err="1"/>
              <a:t>hiệu</a:t>
            </a:r>
            <a:r>
              <a:rPr dirty="0"/>
              <a:t> </a:t>
            </a:r>
            <a:r>
              <a:rPr dirty="0" err="1"/>
              <a:t>của</a:t>
            </a:r>
            <a:r>
              <a:rPr dirty="0"/>
              <a:t> </a:t>
            </a:r>
            <a:r>
              <a:rPr dirty="0" err="1"/>
              <a:t>chúng</a:t>
            </a:r>
            <a:r>
              <a:rPr dirty="0"/>
              <a:t> </a:t>
            </a:r>
            <a:r>
              <a:rPr dirty="0" err="1"/>
              <a:t>mang</a:t>
            </a:r>
            <a:r>
              <a:rPr dirty="0"/>
              <a:t> </a:t>
            </a:r>
            <a:r>
              <a:rPr dirty="0" err="1"/>
              <a:t>tính</a:t>
            </a:r>
            <a:r>
              <a:rPr dirty="0"/>
              <a:t> </a:t>
            </a:r>
            <a:r>
              <a:rPr dirty="0" err="1"/>
              <a:t>cơ</a:t>
            </a:r>
            <a:r>
              <a:rPr dirty="0"/>
              <a:t> </a:t>
            </a:r>
            <a:r>
              <a:rPr dirty="0" err="1"/>
              <a:t>chế</a:t>
            </a:r>
            <a:r>
              <a:rPr dirty="0"/>
              <a:t> </a:t>
            </a:r>
            <a:r>
              <a:rPr dirty="0" err="1"/>
              <a:t>và</a:t>
            </a:r>
            <a:r>
              <a:rPr dirty="0"/>
              <a:t> </a:t>
            </a:r>
            <a:r>
              <a:rPr dirty="0" err="1"/>
              <a:t>tổng</a:t>
            </a:r>
            <a:r>
              <a:rPr dirty="0"/>
              <a:t> </a:t>
            </a:r>
            <a:r>
              <a:rPr dirty="0" err="1"/>
              <a:t>quát</a:t>
            </a:r>
            <a:r>
              <a:rPr dirty="0"/>
              <a:t> </a:t>
            </a:r>
            <a:r>
              <a:rPr dirty="0" err="1"/>
              <a:t>hoá</a:t>
            </a:r>
            <a:r>
              <a:rPr dirty="0"/>
              <a:t> </a:t>
            </a:r>
            <a:r>
              <a:rPr dirty="0" err="1"/>
              <a:t>tốt</a:t>
            </a:r>
            <a:r>
              <a:rPr dirty="0"/>
              <a:t> qua </a:t>
            </a:r>
            <a:r>
              <a:rPr dirty="0" err="1"/>
              <a:t>dòng</a:t>
            </a:r>
            <a:r>
              <a:rPr dirty="0"/>
              <a:t>. </a:t>
            </a:r>
            <a:r>
              <a:rPr dirty="0" err="1"/>
              <a:t>Một</a:t>
            </a:r>
            <a:r>
              <a:rPr dirty="0"/>
              <a:t> </a:t>
            </a:r>
            <a:r>
              <a:rPr dirty="0" err="1"/>
              <a:t>số</a:t>
            </a:r>
            <a:r>
              <a:rPr dirty="0"/>
              <a:t> </a:t>
            </a:r>
            <a:r>
              <a:rPr dirty="0" err="1"/>
              <a:t>thuốc</a:t>
            </a:r>
            <a:r>
              <a:rPr dirty="0"/>
              <a:t> </a:t>
            </a:r>
            <a:r>
              <a:rPr dirty="0" err="1"/>
              <a:t>khác</a:t>
            </a:r>
            <a:r>
              <a:rPr dirty="0"/>
              <a:t> </a:t>
            </a:r>
            <a:r>
              <a:rPr dirty="0" err="1"/>
              <a:t>thì</a:t>
            </a:r>
            <a:r>
              <a:rPr dirty="0"/>
              <a:t> </a:t>
            </a:r>
            <a:r>
              <a:rPr dirty="0" err="1"/>
              <a:t>tụt</a:t>
            </a:r>
            <a:r>
              <a:rPr dirty="0"/>
              <a:t> </a:t>
            </a:r>
            <a:r>
              <a:rPr dirty="0" err="1"/>
              <a:t>điểm</a:t>
            </a:r>
            <a:r>
              <a:rPr dirty="0"/>
              <a:t>, </a:t>
            </a:r>
            <a:r>
              <a:rPr dirty="0" err="1"/>
              <a:t>tức</a:t>
            </a:r>
            <a:r>
              <a:rPr dirty="0"/>
              <a:t> </a:t>
            </a:r>
            <a:r>
              <a:rPr dirty="0" err="1"/>
              <a:t>phụ</a:t>
            </a:r>
            <a:r>
              <a:rPr dirty="0"/>
              <a:t> </a:t>
            </a:r>
            <a:r>
              <a:rPr dirty="0" err="1"/>
              <a:t>thuộc</a:t>
            </a:r>
            <a:r>
              <a:rPr dirty="0"/>
              <a:t> </a:t>
            </a:r>
            <a:r>
              <a:rPr dirty="0" err="1"/>
              <a:t>vào</a:t>
            </a:r>
            <a:r>
              <a:rPr dirty="0"/>
              <a:t> </a:t>
            </a:r>
            <a:r>
              <a:rPr dirty="0" err="1"/>
              <a:t>dòng</a:t>
            </a:r>
            <a:r>
              <a:rPr dirty="0"/>
              <a:t> </a:t>
            </a:r>
            <a:r>
              <a:rPr dirty="0" err="1"/>
              <a:t>nhiều</a:t>
            </a:r>
            <a:r>
              <a:rPr dirty="0"/>
              <a:t> </a:t>
            </a:r>
            <a:r>
              <a:rPr dirty="0" err="1"/>
              <a:t>hơn</a:t>
            </a:r>
            <a:r>
              <a:rPr dirty="0"/>
              <a:t>. </a:t>
            </a:r>
            <a:r>
              <a:rPr dirty="0" err="1"/>
              <a:t>những</a:t>
            </a:r>
            <a:r>
              <a:rPr dirty="0"/>
              <a:t> </a:t>
            </a:r>
            <a:r>
              <a:rPr dirty="0" err="1"/>
              <a:t>thuốc</a:t>
            </a:r>
            <a:r>
              <a:rPr dirty="0"/>
              <a:t> </a:t>
            </a:r>
            <a:r>
              <a:rPr dirty="0" err="1"/>
              <a:t>đó</a:t>
            </a:r>
            <a:r>
              <a:rPr dirty="0"/>
              <a:t> </a:t>
            </a:r>
            <a:r>
              <a:rPr dirty="0" err="1"/>
              <a:t>cần</a:t>
            </a:r>
            <a:r>
              <a:rPr dirty="0"/>
              <a:t> </a:t>
            </a:r>
            <a:r>
              <a:rPr dirty="0" err="1"/>
              <a:t>thêm</a:t>
            </a:r>
            <a:r>
              <a:rPr dirty="0"/>
              <a:t> </a:t>
            </a:r>
            <a:r>
              <a:rPr dirty="0" err="1"/>
              <a:t>dữ</a:t>
            </a:r>
            <a:r>
              <a:rPr dirty="0"/>
              <a:t> </a:t>
            </a:r>
            <a:r>
              <a:rPr dirty="0" err="1"/>
              <a:t>liệu</a:t>
            </a:r>
            <a:r>
              <a:rPr dirty="0"/>
              <a:t> </a:t>
            </a:r>
            <a:r>
              <a:rPr dirty="0" err="1"/>
              <a:t>đa</a:t>
            </a:r>
            <a:r>
              <a:rPr dirty="0"/>
              <a:t> </a:t>
            </a:r>
            <a:r>
              <a:rPr dirty="0" err="1"/>
              <a:t>dạng</a:t>
            </a:r>
            <a:r>
              <a:rPr dirty="0"/>
              <a:t> </a:t>
            </a:r>
            <a:r>
              <a:rPr dirty="0" err="1"/>
              <a:t>trước</a:t>
            </a:r>
            <a:r>
              <a:rPr dirty="0"/>
              <a:t> </a:t>
            </a:r>
            <a:r>
              <a:rPr dirty="0" err="1"/>
              <a:t>khi</a:t>
            </a:r>
            <a:r>
              <a:rPr dirty="0"/>
              <a:t> </a:t>
            </a:r>
            <a:r>
              <a:rPr dirty="0" err="1"/>
              <a:t>dùng</a:t>
            </a:r>
            <a:r>
              <a:rPr dirty="0"/>
              <a:t> </a:t>
            </a:r>
            <a:r>
              <a:rPr dirty="0" err="1"/>
              <a:t>trên</a:t>
            </a:r>
            <a:r>
              <a:rPr dirty="0"/>
              <a:t> </a:t>
            </a:r>
            <a:r>
              <a:rPr dirty="0" err="1"/>
              <a:t>dòng</a:t>
            </a:r>
            <a:r>
              <a:rPr dirty="0"/>
              <a:t> </a:t>
            </a:r>
            <a:r>
              <a:rPr dirty="0" err="1"/>
              <a:t>mới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Tiếp</a:t>
            </a:r>
            <a:r>
              <a:rPr dirty="0"/>
              <a:t> </a:t>
            </a:r>
            <a:r>
              <a:rPr dirty="0" err="1"/>
              <a:t>theo</a:t>
            </a:r>
            <a:r>
              <a:rPr dirty="0"/>
              <a:t>, </a:t>
            </a:r>
            <a:r>
              <a:rPr dirty="0" err="1"/>
              <a:t>em</a:t>
            </a:r>
            <a:r>
              <a:rPr dirty="0"/>
              <a:t> </a:t>
            </a:r>
            <a:r>
              <a:rPr dirty="0" err="1"/>
              <a:t>kiểm</a:t>
            </a:r>
            <a:r>
              <a:rPr dirty="0"/>
              <a:t> </a:t>
            </a:r>
            <a:r>
              <a:rPr dirty="0" err="1"/>
              <a:t>tra</a:t>
            </a:r>
            <a:r>
              <a:rPr dirty="0"/>
              <a:t> </a:t>
            </a:r>
            <a:r>
              <a:rPr dirty="0" err="1"/>
              <a:t>trên</a:t>
            </a:r>
            <a:r>
              <a:rPr dirty="0"/>
              <a:t> </a:t>
            </a:r>
            <a:r>
              <a:rPr dirty="0" err="1"/>
              <a:t>bộ</a:t>
            </a:r>
            <a:r>
              <a:rPr dirty="0"/>
              <a:t> </a:t>
            </a:r>
            <a:r>
              <a:rPr dirty="0" err="1"/>
              <a:t>dữ</a:t>
            </a:r>
            <a:r>
              <a:rPr dirty="0"/>
              <a:t> </a:t>
            </a:r>
            <a:r>
              <a:rPr dirty="0" err="1"/>
              <a:t>liệu</a:t>
            </a:r>
            <a:r>
              <a:rPr dirty="0"/>
              <a:t> </a:t>
            </a:r>
            <a:r>
              <a:rPr dirty="0" err="1"/>
              <a:t>hoàn</a:t>
            </a:r>
            <a:r>
              <a:rPr dirty="0"/>
              <a:t> </a:t>
            </a:r>
            <a:r>
              <a:rPr dirty="0" err="1"/>
              <a:t>toàn</a:t>
            </a:r>
            <a:r>
              <a:rPr dirty="0"/>
              <a:t> </a:t>
            </a:r>
            <a:r>
              <a:rPr dirty="0" err="1"/>
              <a:t>bên</a:t>
            </a:r>
            <a:r>
              <a:rPr dirty="0"/>
              <a:t> </a:t>
            </a:r>
            <a:r>
              <a:rPr dirty="0" err="1"/>
              <a:t>ngoài</a:t>
            </a:r>
            <a:r>
              <a:rPr dirty="0"/>
              <a:t> </a:t>
            </a:r>
            <a:r>
              <a:rPr dirty="0" err="1"/>
              <a:t>từ</a:t>
            </a:r>
            <a:r>
              <a:rPr dirty="0"/>
              <a:t> BV-BRC, </a:t>
            </a:r>
            <a:r>
              <a:rPr dirty="0" err="1"/>
              <a:t>với</a:t>
            </a:r>
            <a:r>
              <a:rPr dirty="0"/>
              <a:t> </a:t>
            </a:r>
            <a:r>
              <a:rPr dirty="0" err="1"/>
              <a:t>năm</a:t>
            </a:r>
            <a:r>
              <a:rPr dirty="0"/>
              <a:t> </a:t>
            </a:r>
            <a:r>
              <a:rPr dirty="0" err="1"/>
              <a:t>thuốc</a:t>
            </a:r>
            <a:r>
              <a:rPr dirty="0"/>
              <a:t> </a:t>
            </a:r>
            <a:r>
              <a:rPr dirty="0" err="1"/>
              <a:t>mới</a:t>
            </a:r>
            <a:r>
              <a:rPr dirty="0"/>
              <a:t>. </a:t>
            </a:r>
            <a:endParaRPr lang="vi-VN" dirty="0"/>
          </a:p>
          <a:p>
            <a:r>
              <a:rPr lang="vi-VN" dirty="0"/>
              <a:t>một genome xuất hiện nhiều dòng — mỗi dòng ứng với một thuốc. Từ bảng này lấy nhãn kháng/nhạy cho 5 thuốc ngoại bộ (TET,CIP, STR, GEN, NAL); còn đặc trưng được truy vấn riêng qua API BV-BRC rồi ghép theo genome_id.</a:t>
            </a:r>
            <a:endParaRPr lang="en-VN" dirty="0"/>
          </a:p>
          <a:p>
            <a:r>
              <a:rPr dirty="0" err="1"/>
              <a:t>Điểm</a:t>
            </a:r>
            <a:r>
              <a:rPr dirty="0"/>
              <a:t> F1 </a:t>
            </a:r>
            <a:r>
              <a:rPr dirty="0" err="1"/>
              <a:t>mạnh</a:t>
            </a:r>
            <a:r>
              <a:rPr dirty="0"/>
              <a:t> </a:t>
            </a:r>
            <a:r>
              <a:rPr dirty="0" err="1"/>
              <a:t>ở</a:t>
            </a:r>
            <a:r>
              <a:rPr dirty="0"/>
              <a:t> TET, CIP </a:t>
            </a:r>
            <a:r>
              <a:rPr dirty="0" err="1"/>
              <a:t>và</a:t>
            </a:r>
            <a:r>
              <a:rPr dirty="0"/>
              <a:t> GEN; </a:t>
            </a:r>
            <a:r>
              <a:rPr dirty="0" err="1"/>
              <a:t>riêng</a:t>
            </a:r>
            <a:r>
              <a:rPr dirty="0"/>
              <a:t> NAL </a:t>
            </a:r>
            <a:r>
              <a:rPr dirty="0" err="1"/>
              <a:t>là</a:t>
            </a:r>
            <a:r>
              <a:rPr dirty="0"/>
              <a:t> </a:t>
            </a:r>
            <a:r>
              <a:rPr dirty="0" err="1"/>
              <a:t>khó</a:t>
            </a:r>
            <a:r>
              <a:rPr dirty="0"/>
              <a:t> </a:t>
            </a:r>
            <a:r>
              <a:rPr dirty="0" err="1"/>
              <a:t>nhất</a:t>
            </a:r>
            <a:r>
              <a:rPr dirty="0"/>
              <a:t>. Điểm </a:t>
            </a:r>
            <a:r>
              <a:rPr dirty="0" err="1"/>
              <a:t>cộng</a:t>
            </a:r>
            <a:r>
              <a:rPr dirty="0"/>
              <a:t> </a:t>
            </a:r>
            <a:r>
              <a:rPr dirty="0" err="1"/>
              <a:t>về</a:t>
            </a:r>
            <a:r>
              <a:rPr dirty="0"/>
              <a:t> </a:t>
            </a:r>
            <a:r>
              <a:rPr dirty="0" err="1"/>
              <a:t>phương</a:t>
            </a:r>
            <a:r>
              <a:rPr dirty="0"/>
              <a:t> </a:t>
            </a:r>
            <a:r>
              <a:rPr dirty="0" err="1"/>
              <a:t>pháp</a:t>
            </a:r>
            <a:r>
              <a:rPr dirty="0"/>
              <a:t>: </a:t>
            </a:r>
            <a:r>
              <a:rPr dirty="0" err="1"/>
              <a:t>em</a:t>
            </a:r>
            <a:r>
              <a:rPr dirty="0"/>
              <a:t> </a:t>
            </a:r>
            <a:r>
              <a:rPr dirty="0" err="1"/>
              <a:t>dùng</a:t>
            </a:r>
            <a:r>
              <a:rPr dirty="0"/>
              <a:t> </a:t>
            </a:r>
            <a:r>
              <a:rPr dirty="0" err="1"/>
              <a:t>tỷ</a:t>
            </a:r>
            <a:r>
              <a:rPr dirty="0"/>
              <a:t> </a:t>
            </a:r>
            <a:r>
              <a:rPr dirty="0" err="1"/>
              <a:t>lệ</a:t>
            </a:r>
            <a:r>
              <a:rPr dirty="0"/>
              <a:t> </a:t>
            </a:r>
            <a:r>
              <a:rPr dirty="0" err="1"/>
              <a:t>kháng</a:t>
            </a:r>
            <a:r>
              <a:rPr dirty="0"/>
              <a:t> </a:t>
            </a:r>
            <a:r>
              <a:rPr dirty="0" err="1"/>
              <a:t>đúng</a:t>
            </a:r>
            <a:r>
              <a:rPr dirty="0"/>
              <a:t> </a:t>
            </a:r>
            <a:r>
              <a:rPr dirty="0" err="1"/>
              <a:t>như</a:t>
            </a:r>
            <a:r>
              <a:rPr dirty="0"/>
              <a:t> </a:t>
            </a:r>
            <a:r>
              <a:rPr dirty="0" err="1"/>
              <a:t>ngoài</a:t>
            </a:r>
            <a:r>
              <a:rPr dirty="0"/>
              <a:t> </a:t>
            </a:r>
            <a:r>
              <a:rPr dirty="0" err="1"/>
              <a:t>thực</a:t>
            </a:r>
            <a:r>
              <a:rPr dirty="0"/>
              <a:t> </a:t>
            </a:r>
            <a:r>
              <a:rPr dirty="0" err="1"/>
              <a:t>tế</a:t>
            </a:r>
            <a:r>
              <a:rPr dirty="0"/>
              <a:t>, </a:t>
            </a:r>
            <a:r>
              <a:rPr dirty="0" err="1"/>
              <a:t>và</a:t>
            </a:r>
            <a:r>
              <a:rPr dirty="0"/>
              <a:t> chia </a:t>
            </a:r>
            <a:r>
              <a:rPr dirty="0" err="1"/>
              <a:t>theo</a:t>
            </a:r>
            <a:r>
              <a:rPr dirty="0"/>
              <a:t> </a:t>
            </a:r>
            <a:r>
              <a:rPr dirty="0" err="1"/>
              <a:t>nhóm</a:t>
            </a:r>
            <a:r>
              <a:rPr dirty="0"/>
              <a:t> MLST </a:t>
            </a:r>
            <a:r>
              <a:rPr dirty="0" err="1"/>
              <a:t>để</a:t>
            </a:r>
            <a:r>
              <a:rPr dirty="0"/>
              <a:t> </a:t>
            </a:r>
            <a:r>
              <a:rPr dirty="0" err="1"/>
              <a:t>đánh</a:t>
            </a:r>
            <a:r>
              <a:rPr dirty="0"/>
              <a:t> </a:t>
            </a:r>
            <a:r>
              <a:rPr dirty="0" err="1"/>
              <a:t>giá</a:t>
            </a:r>
            <a:r>
              <a:rPr dirty="0"/>
              <a:t> </a:t>
            </a:r>
            <a:r>
              <a:rPr dirty="0" err="1"/>
              <a:t>chặt</a:t>
            </a:r>
            <a:r>
              <a:rPr dirty="0"/>
              <a:t> </a:t>
            </a:r>
            <a:r>
              <a:rPr dirty="0" err="1"/>
              <a:t>chẽ</a:t>
            </a:r>
            <a:r>
              <a:rPr dirty="0"/>
              <a:t>. TET </a:t>
            </a:r>
            <a:r>
              <a:rPr dirty="0" err="1"/>
              <a:t>vẫn</a:t>
            </a:r>
            <a:r>
              <a:rPr dirty="0"/>
              <a:t> </a:t>
            </a:r>
            <a:r>
              <a:rPr dirty="0" err="1"/>
              <a:t>bền</a:t>
            </a:r>
            <a:r>
              <a:rPr dirty="0"/>
              <a:t> </a:t>
            </a:r>
            <a:r>
              <a:rPr dirty="0" err="1"/>
              <a:t>dưới</a:t>
            </a:r>
            <a:r>
              <a:rPr dirty="0"/>
              <a:t> </a:t>
            </a:r>
            <a:r>
              <a:rPr dirty="0" err="1"/>
              <a:t>cách</a:t>
            </a:r>
            <a:r>
              <a:rPr dirty="0"/>
              <a:t> chia </a:t>
            </a:r>
            <a:r>
              <a:rPr dirty="0" err="1"/>
              <a:t>này</a:t>
            </a:r>
            <a:r>
              <a:rPr dirty="0"/>
              <a:t>, </a:t>
            </a:r>
            <a:r>
              <a:rPr dirty="0" err="1"/>
              <a:t>khẳng</a:t>
            </a:r>
            <a:r>
              <a:rPr dirty="0"/>
              <a:t> </a:t>
            </a:r>
            <a:r>
              <a:rPr dirty="0" err="1"/>
              <a:t>định</a:t>
            </a:r>
            <a:r>
              <a:rPr dirty="0"/>
              <a:t> </a:t>
            </a:r>
            <a:r>
              <a:rPr dirty="0" err="1"/>
              <a:t>tín</a:t>
            </a:r>
            <a:r>
              <a:rPr dirty="0"/>
              <a:t> </a:t>
            </a:r>
            <a:r>
              <a:rPr dirty="0" err="1"/>
              <a:t>hiệu</a:t>
            </a:r>
            <a:r>
              <a:rPr dirty="0"/>
              <a:t> </a:t>
            </a:r>
            <a:r>
              <a:rPr dirty="0" err="1"/>
              <a:t>mang</a:t>
            </a:r>
            <a:r>
              <a:rPr dirty="0"/>
              <a:t> </a:t>
            </a:r>
            <a:r>
              <a:rPr dirty="0" err="1"/>
              <a:t>tính</a:t>
            </a:r>
            <a:r>
              <a:rPr dirty="0"/>
              <a:t> </a:t>
            </a:r>
            <a:r>
              <a:rPr dirty="0" err="1"/>
              <a:t>cơ</a:t>
            </a:r>
            <a:r>
              <a:rPr dirty="0"/>
              <a:t> </a:t>
            </a:r>
            <a:r>
              <a:rPr dirty="0" err="1"/>
              <a:t>chế</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a:t>
            </a:r>
            <a:r>
              <a:rPr dirty="0" err="1"/>
              <a:t>về</a:t>
            </a:r>
            <a:r>
              <a:rPr dirty="0"/>
              <a:t> </a:t>
            </a:r>
            <a:r>
              <a:rPr dirty="0" err="1"/>
              <a:t>khả</a:t>
            </a:r>
            <a:r>
              <a:rPr dirty="0"/>
              <a:t> </a:t>
            </a:r>
            <a:r>
              <a:rPr dirty="0" err="1"/>
              <a:t>năng</a:t>
            </a:r>
            <a:r>
              <a:rPr dirty="0"/>
              <a:t> </a:t>
            </a:r>
            <a:r>
              <a:rPr dirty="0" err="1"/>
              <a:t>dùng</a:t>
            </a:r>
            <a:r>
              <a:rPr dirty="0"/>
              <a:t> </a:t>
            </a:r>
            <a:r>
              <a:rPr dirty="0" err="1"/>
              <a:t>thật</a:t>
            </a:r>
            <a:r>
              <a:rPr dirty="0"/>
              <a:t> </a:t>
            </a:r>
            <a:r>
              <a:rPr dirty="0" err="1"/>
              <a:t>trong</a:t>
            </a:r>
            <a:r>
              <a:rPr dirty="0"/>
              <a:t> </a:t>
            </a:r>
            <a:r>
              <a:rPr dirty="0" err="1"/>
              <a:t>thực</a:t>
            </a:r>
            <a:r>
              <a:rPr dirty="0"/>
              <a:t> </a:t>
            </a:r>
            <a:r>
              <a:rPr dirty="0" err="1"/>
              <a:t>tế</a:t>
            </a:r>
            <a:r>
              <a:rPr dirty="0"/>
              <a:t>. </a:t>
            </a:r>
            <a:r>
              <a:rPr dirty="0" err="1"/>
              <a:t>Một</a:t>
            </a:r>
            <a:r>
              <a:rPr dirty="0"/>
              <a:t> </a:t>
            </a:r>
            <a:r>
              <a:rPr dirty="0" err="1"/>
              <a:t>mô</a:t>
            </a:r>
            <a:r>
              <a:rPr dirty="0"/>
              <a:t> </a:t>
            </a:r>
            <a:r>
              <a:rPr dirty="0" err="1"/>
              <a:t>hình</a:t>
            </a:r>
            <a:r>
              <a:rPr dirty="0"/>
              <a:t> </a:t>
            </a:r>
            <a:r>
              <a:rPr dirty="0" err="1"/>
              <a:t>tốt</a:t>
            </a:r>
            <a:r>
              <a:rPr dirty="0"/>
              <a:t> </a:t>
            </a:r>
            <a:r>
              <a:rPr dirty="0" err="1"/>
              <a:t>không</a:t>
            </a:r>
            <a:r>
              <a:rPr dirty="0"/>
              <a:t> </a:t>
            </a:r>
            <a:r>
              <a:rPr dirty="0" err="1"/>
              <a:t>chỉ</a:t>
            </a:r>
            <a:r>
              <a:rPr dirty="0"/>
              <a:t> </a:t>
            </a:r>
            <a:r>
              <a:rPr dirty="0" err="1"/>
              <a:t>đoán</a:t>
            </a:r>
            <a:r>
              <a:rPr dirty="0"/>
              <a:t> </a:t>
            </a:r>
            <a:r>
              <a:rPr dirty="0" err="1"/>
              <a:t>đúng</a:t>
            </a:r>
            <a:r>
              <a:rPr dirty="0"/>
              <a:t> </a:t>
            </a:r>
            <a:r>
              <a:rPr dirty="0" err="1"/>
              <a:t>mà</a:t>
            </a:r>
            <a:r>
              <a:rPr dirty="0"/>
              <a:t> </a:t>
            </a:r>
            <a:r>
              <a:rPr dirty="0" err="1"/>
              <a:t>xác</a:t>
            </a:r>
            <a:r>
              <a:rPr dirty="0"/>
              <a:t> </a:t>
            </a:r>
            <a:r>
              <a:rPr dirty="0" err="1"/>
              <a:t>suất</a:t>
            </a:r>
            <a:r>
              <a:rPr dirty="0"/>
              <a:t> </a:t>
            </a:r>
            <a:r>
              <a:rPr dirty="0" err="1"/>
              <a:t>nó</a:t>
            </a:r>
            <a:r>
              <a:rPr dirty="0"/>
              <a:t> </a:t>
            </a:r>
            <a:r>
              <a:rPr dirty="0" err="1"/>
              <a:t>đưa</a:t>
            </a:r>
            <a:r>
              <a:rPr dirty="0"/>
              <a:t> </a:t>
            </a:r>
            <a:r>
              <a:rPr dirty="0" err="1"/>
              <a:t>ra</a:t>
            </a:r>
            <a:r>
              <a:rPr dirty="0"/>
              <a:t> </a:t>
            </a:r>
            <a:r>
              <a:rPr dirty="0" err="1"/>
              <a:t>phải</a:t>
            </a:r>
            <a:r>
              <a:rPr dirty="0"/>
              <a:t> </a:t>
            </a:r>
            <a:r>
              <a:rPr dirty="0" err="1"/>
              <a:t>đáng</a:t>
            </a:r>
            <a:r>
              <a:rPr dirty="0"/>
              <a:t> tin. Sau </a:t>
            </a:r>
            <a:r>
              <a:rPr dirty="0" err="1"/>
              <a:t>khi</a:t>
            </a:r>
            <a:r>
              <a:rPr dirty="0"/>
              <a:t> </a:t>
            </a:r>
            <a:r>
              <a:rPr dirty="0" err="1"/>
              <a:t>hiệu</a:t>
            </a:r>
            <a:r>
              <a:rPr dirty="0"/>
              <a:t> </a:t>
            </a:r>
            <a:r>
              <a:rPr dirty="0" err="1"/>
              <a:t>chỉnh</a:t>
            </a:r>
            <a:r>
              <a:rPr dirty="0"/>
              <a:t> </a:t>
            </a:r>
            <a:r>
              <a:rPr dirty="0" err="1"/>
              <a:t>bằng</a:t>
            </a:r>
            <a:r>
              <a:rPr dirty="0"/>
              <a:t> </a:t>
            </a:r>
            <a:r>
              <a:rPr dirty="0" err="1"/>
              <a:t>phương</a:t>
            </a:r>
            <a:r>
              <a:rPr dirty="0"/>
              <a:t> </a:t>
            </a:r>
            <a:r>
              <a:rPr dirty="0" err="1"/>
              <a:t>pháp</a:t>
            </a:r>
            <a:r>
              <a:rPr dirty="0"/>
              <a:t> isotonic, </a:t>
            </a:r>
            <a:r>
              <a:rPr dirty="0" err="1"/>
              <a:t>sai</a:t>
            </a:r>
            <a:r>
              <a:rPr dirty="0"/>
              <a:t> </a:t>
            </a:r>
            <a:r>
              <a:rPr dirty="0" err="1"/>
              <a:t>số</a:t>
            </a:r>
            <a:r>
              <a:rPr dirty="0"/>
              <a:t> </a:t>
            </a:r>
            <a:r>
              <a:rPr dirty="0" err="1"/>
              <a:t>của</a:t>
            </a:r>
            <a:r>
              <a:rPr dirty="0"/>
              <a:t> </a:t>
            </a:r>
            <a:r>
              <a:rPr dirty="0" err="1"/>
              <a:t>xác</a:t>
            </a:r>
            <a:r>
              <a:rPr dirty="0"/>
              <a:t> </a:t>
            </a:r>
            <a:r>
              <a:rPr dirty="0" err="1"/>
              <a:t>suất</a:t>
            </a:r>
            <a:r>
              <a:rPr dirty="0"/>
              <a:t> </a:t>
            </a:r>
            <a:r>
              <a:rPr dirty="0" err="1"/>
              <a:t>chỉ</a:t>
            </a:r>
            <a:r>
              <a:rPr dirty="0"/>
              <a:t> </a:t>
            </a:r>
            <a:r>
              <a:rPr dirty="0" err="1"/>
              <a:t>còn</a:t>
            </a:r>
            <a:r>
              <a:rPr dirty="0"/>
              <a:t> </a:t>
            </a:r>
            <a:r>
              <a:rPr dirty="0" err="1"/>
              <a:t>khoảng</a:t>
            </a:r>
            <a:r>
              <a:rPr dirty="0"/>
              <a:t> 0.005 </a:t>
            </a:r>
            <a:r>
              <a:rPr dirty="0" err="1"/>
              <a:t>đến</a:t>
            </a:r>
            <a:r>
              <a:rPr dirty="0"/>
              <a:t> 0.01 — </a:t>
            </a:r>
            <a:r>
              <a:rPr dirty="0" err="1"/>
              <a:t>rất</a:t>
            </a:r>
            <a:r>
              <a:rPr dirty="0"/>
              <a:t> </a:t>
            </a:r>
            <a:r>
              <a:rPr dirty="0" err="1"/>
              <a:t>nhỏ</a:t>
            </a:r>
            <a:r>
              <a:rPr dirty="0"/>
              <a:t>. </a:t>
            </a:r>
            <a:r>
              <a:rPr dirty="0" err="1"/>
              <a:t>Giá</a:t>
            </a:r>
            <a:r>
              <a:rPr dirty="0"/>
              <a:t> </a:t>
            </a:r>
            <a:r>
              <a:rPr dirty="0" err="1"/>
              <a:t>trị</a:t>
            </a:r>
            <a:r>
              <a:rPr dirty="0"/>
              <a:t> NPV</a:t>
            </a:r>
            <a:r>
              <a:rPr lang="vi-VN" dirty="0"/>
              <a:t> (</a:t>
            </a:r>
            <a:r>
              <a:rPr lang="en-VN" dirty="0"/>
              <a:t>% ca "không kháng" được dự đoán là nhạy mà ĐÚNG)</a:t>
            </a:r>
            <a:r>
              <a:rPr dirty="0"/>
              <a:t> </a:t>
            </a:r>
            <a:r>
              <a:rPr lang="en-VN" dirty="0">
                <a:effectLst/>
              </a:rPr>
              <a:t>TN/FN+TN</a:t>
            </a:r>
            <a:r>
              <a:rPr lang="en-VN" dirty="0"/>
              <a:t>​ </a:t>
            </a:r>
            <a:r>
              <a:rPr dirty="0" err="1"/>
              <a:t>đạt</a:t>
            </a:r>
            <a:r>
              <a:rPr dirty="0"/>
              <a:t> </a:t>
            </a:r>
            <a:r>
              <a:rPr dirty="0" err="1"/>
              <a:t>từ</a:t>
            </a:r>
            <a:r>
              <a:rPr dirty="0"/>
              <a:t> 0.98 </a:t>
            </a:r>
            <a:r>
              <a:rPr dirty="0" err="1"/>
              <a:t>đến</a:t>
            </a:r>
            <a:r>
              <a:rPr dirty="0"/>
              <a:t> </a:t>
            </a:r>
            <a:r>
              <a:rPr dirty="0" err="1"/>
              <a:t>gần</a:t>
            </a:r>
            <a:r>
              <a:rPr dirty="0"/>
              <a:t> </a:t>
            </a:r>
            <a:r>
              <a:rPr dirty="0" err="1"/>
              <a:t>một</a:t>
            </a:r>
            <a:r>
              <a:rPr dirty="0"/>
              <a:t>, </a:t>
            </a:r>
            <a:r>
              <a:rPr dirty="0" err="1"/>
              <a:t>nghĩa</a:t>
            </a:r>
            <a:r>
              <a:rPr dirty="0"/>
              <a:t> </a:t>
            </a:r>
            <a:r>
              <a:rPr dirty="0" err="1"/>
              <a:t>là</a:t>
            </a:r>
            <a:r>
              <a:rPr dirty="0"/>
              <a:t> </a:t>
            </a:r>
            <a:r>
              <a:rPr dirty="0" err="1"/>
              <a:t>khi</a:t>
            </a:r>
            <a:r>
              <a:rPr dirty="0"/>
              <a:t> </a:t>
            </a:r>
            <a:r>
              <a:rPr dirty="0" err="1"/>
              <a:t>mô</a:t>
            </a:r>
            <a:r>
              <a:rPr dirty="0"/>
              <a:t> </a:t>
            </a:r>
            <a:r>
              <a:rPr dirty="0" err="1"/>
              <a:t>hình</a:t>
            </a:r>
            <a:r>
              <a:rPr dirty="0"/>
              <a:t> </a:t>
            </a:r>
            <a:r>
              <a:rPr dirty="0" err="1"/>
              <a:t>nói</a:t>
            </a:r>
            <a:r>
              <a:rPr dirty="0"/>
              <a:t> '</a:t>
            </a:r>
            <a:r>
              <a:rPr dirty="0" err="1"/>
              <a:t>nhạy</a:t>
            </a:r>
            <a:r>
              <a:rPr dirty="0"/>
              <a:t>' </a:t>
            </a:r>
            <a:r>
              <a:rPr dirty="0" err="1"/>
              <a:t>thì</a:t>
            </a:r>
            <a:r>
              <a:rPr dirty="0"/>
              <a:t> </a:t>
            </a:r>
            <a:r>
              <a:rPr dirty="0" err="1"/>
              <a:t>gần</a:t>
            </a:r>
            <a:r>
              <a:rPr dirty="0"/>
              <a:t> </a:t>
            </a:r>
            <a:r>
              <a:rPr dirty="0" err="1"/>
              <a:t>như</a:t>
            </a:r>
            <a:r>
              <a:rPr dirty="0"/>
              <a:t> </a:t>
            </a:r>
            <a:r>
              <a:rPr dirty="0" err="1"/>
              <a:t>chắc</a:t>
            </a:r>
            <a:r>
              <a:rPr dirty="0"/>
              <a:t> </a:t>
            </a:r>
            <a:r>
              <a:rPr dirty="0" err="1"/>
              <a:t>chắn</a:t>
            </a:r>
            <a:r>
              <a:rPr dirty="0"/>
              <a:t> </a:t>
            </a:r>
            <a:r>
              <a:rPr dirty="0" err="1"/>
              <a:t>đúng</a:t>
            </a:r>
            <a:r>
              <a:rPr dirty="0"/>
              <a:t> —</a:t>
            </a:r>
            <a:r>
              <a:rPr dirty="0" err="1"/>
              <a:t>công</a:t>
            </a:r>
            <a:r>
              <a:rPr dirty="0"/>
              <a:t> </a:t>
            </a:r>
            <a:r>
              <a:rPr dirty="0" err="1"/>
              <a:t>cụ</a:t>
            </a:r>
            <a:r>
              <a:rPr dirty="0"/>
              <a:t> </a:t>
            </a:r>
            <a:r>
              <a:rPr dirty="0" err="1"/>
              <a:t>sàng</a:t>
            </a:r>
            <a:r>
              <a:rPr dirty="0"/>
              <a:t> </a:t>
            </a:r>
            <a:r>
              <a:rPr dirty="0" err="1"/>
              <a:t>lọc</a:t>
            </a:r>
            <a:r>
              <a:rPr dirty="0"/>
              <a:t> </a:t>
            </a:r>
            <a:r>
              <a:rPr dirty="0" err="1"/>
              <a:t>để</a:t>
            </a:r>
            <a:r>
              <a:rPr dirty="0"/>
              <a:t> </a:t>
            </a:r>
            <a:r>
              <a:rPr dirty="0" err="1"/>
              <a:t>loại</a:t>
            </a:r>
            <a:r>
              <a:rPr dirty="0"/>
              <a:t> </a:t>
            </a:r>
            <a:r>
              <a:rPr dirty="0" err="1"/>
              <a:t>trừ</a:t>
            </a:r>
            <a:r>
              <a:rPr dirty="0"/>
              <a:t> </a:t>
            </a:r>
            <a:r>
              <a:rPr dirty="0" err="1"/>
              <a:t>nhanh</a:t>
            </a:r>
            <a:r>
              <a:rPr dirty="0"/>
              <a:t>. </a:t>
            </a:r>
            <a:r>
              <a:rPr dirty="0" err="1"/>
              <a:t>Đường</a:t>
            </a:r>
            <a:r>
              <a:rPr dirty="0"/>
              <a:t> decision curve </a:t>
            </a:r>
            <a:r>
              <a:rPr dirty="0" err="1"/>
              <a:t>cũng</a:t>
            </a:r>
            <a:r>
              <a:rPr dirty="0"/>
              <a:t> </a:t>
            </a:r>
            <a:r>
              <a:rPr dirty="0" err="1"/>
              <a:t>cho</a:t>
            </a:r>
            <a:r>
              <a:rPr dirty="0"/>
              <a:t> </a:t>
            </a:r>
            <a:r>
              <a:rPr dirty="0" err="1"/>
              <a:t>thấy</a:t>
            </a:r>
            <a:r>
              <a:rPr dirty="0"/>
              <a:t> </a:t>
            </a:r>
            <a:r>
              <a:rPr dirty="0" err="1"/>
              <a:t>có</a:t>
            </a:r>
            <a:r>
              <a:rPr dirty="0"/>
              <a:t> </a:t>
            </a:r>
            <a:r>
              <a:rPr dirty="0" err="1"/>
              <a:t>lợi</a:t>
            </a:r>
            <a:r>
              <a:rPr dirty="0"/>
              <a:t> </a:t>
            </a:r>
            <a:r>
              <a:rPr dirty="0" err="1"/>
              <a:t>ích</a:t>
            </a:r>
            <a:r>
              <a:rPr dirty="0"/>
              <a:t> </a:t>
            </a:r>
            <a:r>
              <a:rPr dirty="0" err="1"/>
              <a:t>ròng</a:t>
            </a:r>
            <a:r>
              <a:rPr dirty="0"/>
              <a:t> </a:t>
            </a:r>
            <a:r>
              <a:rPr dirty="0" err="1"/>
              <a:t>ở</a:t>
            </a:r>
            <a:r>
              <a:rPr dirty="0"/>
              <a:t> </a:t>
            </a:r>
            <a:r>
              <a:rPr dirty="0" err="1"/>
              <a:t>mọi</a:t>
            </a:r>
            <a:r>
              <a:rPr dirty="0"/>
              <a:t> </a:t>
            </a:r>
            <a:r>
              <a:rPr dirty="0" err="1"/>
              <a:t>ngưỡng</a:t>
            </a:r>
            <a:r>
              <a:rPr dirty="0"/>
              <a:t>.</a:t>
            </a:r>
            <a:endParaRPr lang="vi-VN" dirty="0"/>
          </a:p>
          <a:p>
            <a:endParaRPr lang="en-VN" dirty="0"/>
          </a:p>
          <a:p>
            <a:r>
              <a:rPr lang="en-VN" b="1" dirty="0"/>
              <a:t>MLST </a:t>
            </a:r>
            <a:r>
              <a:rPr lang="en-VN" dirty="0"/>
              <a:t>Multi-Locus Sequence Typing là một phương pháp </a:t>
            </a:r>
            <a:r>
              <a:rPr lang="en-VN" b="1" dirty="0"/>
              <a:t>phân loại chủng vi khuẩn theo dòng phả hệ</a:t>
            </a:r>
            <a:r>
              <a:rPr lang="en-VN" dirty="0"/>
              <a:t> dựa trên trình tự của một số ít </a:t>
            </a:r>
            <a:r>
              <a:rPr lang="en-VN" b="1" dirty="0"/>
              <a:t>housekeeping genes </a:t>
            </a:r>
            <a:r>
              <a:rPr lang="en-VN" dirty="0"/>
              <a:t>— những gen thiết yếu, có mặt ở mọi chủng và biến đổi chậm.</a:t>
            </a:r>
          </a:p>
          <a:p>
            <a:endParaRPr lang="en-VN" dirty="0"/>
          </a:p>
          <a:p>
            <a:r>
              <a:rPr lang="en-US" dirty="0"/>
              <a:t>I</a:t>
            </a:r>
            <a:r>
              <a:rPr lang="en-VN" dirty="0"/>
              <a:t>sotonic:</a:t>
            </a:r>
            <a:br>
              <a:rPr lang="en-VN" dirty="0"/>
            </a:br>
            <a:r>
              <a:rPr lang="en-VN" dirty="0"/>
              <a:t>nếu mô hình cho điểm cao hơn thì xác suất thật hiệu chỉnh cũng phải cao hơn (hoặc bằng), không bao giờ giảm Cách nó làm: sắp xếp các mẫu theo điểm thô, rồi tìm một đường bậc thang (step function) khớp tốt nhất với tỷ lệ kháng thực tế mà vẫn giữ được tính không giảm. Ví dụ nó có thể học ra "điểm thô 0.9 → xác suất thật 0.62".</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Phần</a:t>
            </a:r>
            <a:r>
              <a:rPr dirty="0"/>
              <a:t> </a:t>
            </a:r>
            <a:r>
              <a:rPr dirty="0" err="1"/>
              <a:t>kiểm</a:t>
            </a:r>
            <a:r>
              <a:rPr dirty="0"/>
              <a:t> </a:t>
            </a:r>
            <a:r>
              <a:rPr dirty="0" err="1"/>
              <a:t>chứng</a:t>
            </a:r>
            <a:r>
              <a:rPr dirty="0"/>
              <a:t> </a:t>
            </a:r>
            <a:r>
              <a:rPr dirty="0" err="1"/>
              <a:t>cuối</a:t>
            </a:r>
            <a:r>
              <a:rPr dirty="0"/>
              <a:t>, </a:t>
            </a:r>
            <a:r>
              <a:rPr dirty="0" err="1"/>
              <a:t>dành</a:t>
            </a:r>
            <a:r>
              <a:rPr dirty="0"/>
              <a:t> </a:t>
            </a:r>
            <a:r>
              <a:rPr dirty="0" err="1"/>
              <a:t>cho</a:t>
            </a:r>
            <a:r>
              <a:rPr dirty="0"/>
              <a:t> </a:t>
            </a:r>
            <a:r>
              <a:rPr dirty="0" err="1"/>
              <a:t>nhóm</a:t>
            </a:r>
            <a:r>
              <a:rPr dirty="0"/>
              <a:t> </a:t>
            </a:r>
            <a:r>
              <a:rPr dirty="0" err="1"/>
              <a:t>thuốc</a:t>
            </a:r>
            <a:r>
              <a:rPr dirty="0"/>
              <a:t> quinolone. Thay </a:t>
            </a:r>
            <a:r>
              <a:rPr dirty="0" err="1"/>
              <a:t>vì</a:t>
            </a:r>
            <a:r>
              <a:rPr dirty="0"/>
              <a:t> </a:t>
            </a:r>
            <a:r>
              <a:rPr dirty="0" err="1"/>
              <a:t>chỉ</a:t>
            </a:r>
            <a:r>
              <a:rPr dirty="0"/>
              <a:t> </a:t>
            </a:r>
            <a:r>
              <a:rPr dirty="0" err="1"/>
              <a:t>dùng</a:t>
            </a:r>
            <a:r>
              <a:rPr dirty="0"/>
              <a:t> </a:t>
            </a:r>
            <a:r>
              <a:rPr dirty="0" err="1"/>
              <a:t>sự</a:t>
            </a:r>
            <a:r>
              <a:rPr dirty="0"/>
              <a:t> </a:t>
            </a:r>
            <a:r>
              <a:rPr dirty="0" err="1"/>
              <a:t>có</a:t>
            </a:r>
            <a:r>
              <a:rPr dirty="0"/>
              <a:t> </a:t>
            </a:r>
            <a:r>
              <a:rPr dirty="0" err="1"/>
              <a:t>mặt</a:t>
            </a:r>
            <a:r>
              <a:rPr dirty="0"/>
              <a:t> </a:t>
            </a:r>
            <a:r>
              <a:rPr dirty="0" err="1"/>
              <a:t>của</a:t>
            </a:r>
            <a:r>
              <a:rPr dirty="0"/>
              <a:t> gene, </a:t>
            </a:r>
            <a:r>
              <a:rPr dirty="0" err="1"/>
              <a:t>em</a:t>
            </a:r>
            <a:r>
              <a:rPr dirty="0"/>
              <a:t> </a:t>
            </a:r>
            <a:r>
              <a:rPr dirty="0" err="1"/>
              <a:t>gọi</a:t>
            </a:r>
            <a:r>
              <a:rPr dirty="0"/>
              <a:t> </a:t>
            </a:r>
            <a:r>
              <a:rPr dirty="0" err="1"/>
              <a:t>đột</a:t>
            </a:r>
            <a:r>
              <a:rPr dirty="0"/>
              <a:t> </a:t>
            </a:r>
            <a:r>
              <a:rPr dirty="0" err="1"/>
              <a:t>biến</a:t>
            </a:r>
            <a:r>
              <a:rPr dirty="0"/>
              <a:t> </a:t>
            </a:r>
            <a:r>
              <a:rPr dirty="0" err="1"/>
              <a:t>thật</a:t>
            </a:r>
            <a:r>
              <a:rPr dirty="0"/>
              <a:t> </a:t>
            </a:r>
            <a:r>
              <a:rPr dirty="0" err="1"/>
              <a:t>ở</a:t>
            </a:r>
            <a:r>
              <a:rPr dirty="0"/>
              <a:t> </a:t>
            </a:r>
            <a:r>
              <a:rPr dirty="0" err="1"/>
              <a:t>hai</a:t>
            </a:r>
            <a:r>
              <a:rPr dirty="0"/>
              <a:t> gene </a:t>
            </a:r>
            <a:r>
              <a:rPr dirty="0" err="1"/>
              <a:t>gyrA</a:t>
            </a:r>
            <a:r>
              <a:rPr dirty="0"/>
              <a:t> </a:t>
            </a:r>
            <a:r>
              <a:rPr dirty="0" err="1"/>
              <a:t>và</a:t>
            </a:r>
            <a:r>
              <a:rPr dirty="0"/>
              <a:t> </a:t>
            </a:r>
            <a:r>
              <a:rPr dirty="0" err="1"/>
              <a:t>parC</a:t>
            </a:r>
            <a:r>
              <a:rPr dirty="0"/>
              <a:t>, </a:t>
            </a:r>
            <a:r>
              <a:rPr dirty="0" err="1"/>
              <a:t>tại</a:t>
            </a:r>
            <a:r>
              <a:rPr dirty="0"/>
              <a:t> </a:t>
            </a:r>
            <a:r>
              <a:rPr dirty="0" err="1"/>
              <a:t>đúng</a:t>
            </a:r>
            <a:r>
              <a:rPr dirty="0"/>
              <a:t> </a:t>
            </a:r>
            <a:r>
              <a:rPr dirty="0" err="1"/>
              <a:t>các</a:t>
            </a:r>
            <a:r>
              <a:rPr dirty="0"/>
              <a:t> </a:t>
            </a:r>
            <a:r>
              <a:rPr dirty="0" err="1"/>
              <a:t>vị</a:t>
            </a:r>
            <a:r>
              <a:rPr dirty="0"/>
              <a:t> </a:t>
            </a:r>
            <a:r>
              <a:rPr dirty="0" err="1"/>
              <a:t>trí</a:t>
            </a:r>
            <a:r>
              <a:rPr dirty="0"/>
              <a:t> </a:t>
            </a:r>
            <a:r>
              <a:rPr dirty="0" err="1"/>
              <a:t>đã</a:t>
            </a:r>
            <a:r>
              <a:rPr dirty="0"/>
              <a:t> </a:t>
            </a:r>
            <a:r>
              <a:rPr dirty="0" err="1"/>
              <a:t>được</a:t>
            </a:r>
            <a:r>
              <a:rPr dirty="0"/>
              <a:t> </a:t>
            </a:r>
            <a:r>
              <a:rPr lang="en-VN" dirty="0"/>
              <a:t>ncuu</a:t>
            </a:r>
            <a:r>
              <a:rPr dirty="0"/>
              <a:t>. </a:t>
            </a:r>
            <a:r>
              <a:rPr dirty="0" err="1"/>
              <a:t>Kết</a:t>
            </a:r>
            <a:r>
              <a:rPr dirty="0"/>
              <a:t> </a:t>
            </a:r>
            <a:r>
              <a:rPr dirty="0" err="1"/>
              <a:t>quả</a:t>
            </a:r>
            <a:r>
              <a:rPr dirty="0"/>
              <a:t> </a:t>
            </a:r>
            <a:r>
              <a:rPr dirty="0" err="1"/>
              <a:t>rất</a:t>
            </a:r>
            <a:r>
              <a:rPr dirty="0"/>
              <a:t> </a:t>
            </a:r>
            <a:r>
              <a:rPr dirty="0" err="1"/>
              <a:t>rõ</a:t>
            </a:r>
            <a:r>
              <a:rPr dirty="0"/>
              <a:t>: </a:t>
            </a:r>
            <a:r>
              <a:rPr dirty="0" err="1"/>
              <a:t>khi</a:t>
            </a:r>
            <a:r>
              <a:rPr dirty="0"/>
              <a:t> </a:t>
            </a:r>
            <a:r>
              <a:rPr dirty="0" err="1"/>
              <a:t>có</a:t>
            </a:r>
            <a:r>
              <a:rPr dirty="0"/>
              <a:t> </a:t>
            </a:r>
            <a:r>
              <a:rPr dirty="0" err="1"/>
              <a:t>đột</a:t>
            </a:r>
            <a:r>
              <a:rPr dirty="0"/>
              <a:t> </a:t>
            </a:r>
            <a:r>
              <a:rPr dirty="0" err="1"/>
              <a:t>biến</a:t>
            </a:r>
            <a:r>
              <a:rPr dirty="0"/>
              <a:t>, </a:t>
            </a:r>
            <a:r>
              <a:rPr dirty="0" err="1"/>
              <a:t>tỷ</a:t>
            </a:r>
            <a:r>
              <a:rPr dirty="0"/>
              <a:t> </a:t>
            </a:r>
            <a:r>
              <a:rPr dirty="0" err="1"/>
              <a:t>lệ</a:t>
            </a:r>
            <a:r>
              <a:rPr dirty="0"/>
              <a:t> </a:t>
            </a:r>
            <a:r>
              <a:rPr dirty="0" err="1"/>
              <a:t>kháng</a:t>
            </a:r>
            <a:r>
              <a:rPr dirty="0"/>
              <a:t> </a:t>
            </a:r>
            <a:r>
              <a:rPr dirty="0" err="1"/>
              <a:t>từ</a:t>
            </a:r>
            <a:r>
              <a:rPr dirty="0"/>
              <a:t> 75 </a:t>
            </a:r>
            <a:r>
              <a:rPr dirty="0" err="1"/>
              <a:t>đến</a:t>
            </a:r>
            <a:r>
              <a:rPr dirty="0"/>
              <a:t> 88 </a:t>
            </a:r>
            <a:r>
              <a:rPr dirty="0" err="1"/>
              <a:t>phần</a:t>
            </a:r>
            <a:r>
              <a:rPr dirty="0"/>
              <a:t> </a:t>
            </a:r>
            <a:r>
              <a:rPr dirty="0" err="1"/>
              <a:t>trăm</a:t>
            </a:r>
            <a:r>
              <a:rPr dirty="0"/>
              <a:t>; </a:t>
            </a:r>
            <a:r>
              <a:rPr dirty="0" err="1"/>
              <a:t>khi</a:t>
            </a:r>
            <a:r>
              <a:rPr dirty="0"/>
              <a:t> </a:t>
            </a:r>
            <a:r>
              <a:rPr dirty="0" err="1"/>
              <a:t>không</a:t>
            </a:r>
            <a:r>
              <a:rPr dirty="0"/>
              <a:t> </a:t>
            </a:r>
            <a:r>
              <a:rPr dirty="0" err="1"/>
              <a:t>có</a:t>
            </a:r>
            <a:r>
              <a:rPr dirty="0"/>
              <a:t> </a:t>
            </a:r>
            <a:r>
              <a:rPr dirty="0" err="1"/>
              <a:t>đột</a:t>
            </a:r>
            <a:r>
              <a:rPr dirty="0"/>
              <a:t> </a:t>
            </a:r>
            <a:r>
              <a:rPr dirty="0" err="1"/>
              <a:t>biến</a:t>
            </a:r>
            <a:r>
              <a:rPr dirty="0"/>
              <a:t>, </a:t>
            </a:r>
            <a:r>
              <a:rPr dirty="0" err="1"/>
              <a:t>tỷ</a:t>
            </a:r>
            <a:r>
              <a:rPr dirty="0"/>
              <a:t> </a:t>
            </a:r>
            <a:r>
              <a:rPr dirty="0" err="1"/>
              <a:t>lệ</a:t>
            </a:r>
            <a:r>
              <a:rPr dirty="0"/>
              <a:t> </a:t>
            </a:r>
            <a:r>
              <a:rPr dirty="0" err="1"/>
              <a:t>kháng</a:t>
            </a:r>
            <a:r>
              <a:rPr dirty="0"/>
              <a:t> </a:t>
            </a:r>
            <a:r>
              <a:rPr dirty="0" err="1"/>
              <a:t>chỉ</a:t>
            </a:r>
            <a:r>
              <a:rPr dirty="0"/>
              <a:t> 4 </a:t>
            </a:r>
            <a:r>
              <a:rPr dirty="0" err="1"/>
              <a:t>đến</a:t>
            </a:r>
            <a:r>
              <a:rPr dirty="0"/>
              <a:t> 15 </a:t>
            </a:r>
            <a:r>
              <a:rPr dirty="0" err="1"/>
              <a:t>phần</a:t>
            </a:r>
            <a:r>
              <a:rPr dirty="0"/>
              <a:t> </a:t>
            </a:r>
            <a:r>
              <a:rPr dirty="0" err="1"/>
              <a:t>trăm</a:t>
            </a:r>
            <a:r>
              <a:rPr dirty="0"/>
              <a:t>. Vậy </a:t>
            </a:r>
            <a:r>
              <a:rPr dirty="0" err="1"/>
              <a:t>đặc</a:t>
            </a:r>
            <a:r>
              <a:rPr dirty="0"/>
              <a:t> </a:t>
            </a:r>
            <a:r>
              <a:rPr dirty="0" err="1"/>
              <a:t>trưng</a:t>
            </a:r>
            <a:r>
              <a:rPr dirty="0"/>
              <a:t> </a:t>
            </a:r>
            <a:r>
              <a:rPr dirty="0" err="1"/>
              <a:t>dựa</a:t>
            </a:r>
            <a:r>
              <a:rPr dirty="0"/>
              <a:t> </a:t>
            </a:r>
            <a:r>
              <a:rPr dirty="0" err="1"/>
              <a:t>trên</a:t>
            </a:r>
            <a:r>
              <a:rPr dirty="0"/>
              <a:t> </a:t>
            </a:r>
            <a:r>
              <a:rPr dirty="0" err="1"/>
              <a:t>cơ</a:t>
            </a:r>
            <a:r>
              <a:rPr dirty="0"/>
              <a:t> </a:t>
            </a:r>
            <a:r>
              <a:rPr dirty="0" err="1"/>
              <a:t>chế</a:t>
            </a:r>
            <a:r>
              <a:rPr dirty="0"/>
              <a:t> </a:t>
            </a:r>
            <a:r>
              <a:rPr dirty="0" err="1"/>
              <a:t>đột</a:t>
            </a:r>
            <a:r>
              <a:rPr dirty="0"/>
              <a:t> </a:t>
            </a:r>
            <a:r>
              <a:rPr dirty="0" err="1"/>
              <a:t>biến</a:t>
            </a:r>
            <a:r>
              <a:rPr dirty="0"/>
              <a:t> </a:t>
            </a:r>
            <a:r>
              <a:rPr dirty="0" err="1"/>
              <a:t>vừa</a:t>
            </a:r>
            <a:r>
              <a:rPr dirty="0"/>
              <a:t> </a:t>
            </a:r>
            <a:r>
              <a:rPr dirty="0" err="1"/>
              <a:t>dễ</a:t>
            </a:r>
            <a:r>
              <a:rPr dirty="0"/>
              <a:t> </a:t>
            </a:r>
            <a:r>
              <a:rPr dirty="0" err="1"/>
              <a:t>giải</a:t>
            </a:r>
            <a:r>
              <a:rPr dirty="0"/>
              <a:t> </a:t>
            </a:r>
            <a:r>
              <a:rPr dirty="0" err="1"/>
              <a:t>thích</a:t>
            </a:r>
            <a:r>
              <a:rPr dirty="0"/>
              <a:t>, </a:t>
            </a:r>
            <a:r>
              <a:rPr lang="en-VN" dirty="0"/>
              <a:t>ok </a:t>
            </a:r>
            <a:r>
              <a:rPr dirty="0" err="1"/>
              <a:t>để</a:t>
            </a:r>
            <a:r>
              <a:rPr dirty="0"/>
              <a:t> </a:t>
            </a:r>
            <a:r>
              <a:rPr dirty="0" err="1"/>
              <a:t>dự</a:t>
            </a:r>
            <a:r>
              <a:rPr dirty="0"/>
              <a:t> </a:t>
            </a:r>
            <a:r>
              <a:rPr dirty="0" err="1"/>
              <a:t>đoán</a:t>
            </a:r>
            <a:r>
              <a:rPr dirty="0"/>
              <a:t> </a:t>
            </a:r>
            <a:r>
              <a:rPr dirty="0" err="1"/>
              <a:t>kháng</a:t>
            </a:r>
            <a:r>
              <a:rPr dirty="0"/>
              <a:t> quinolone.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Em </a:t>
            </a:r>
            <a:r>
              <a:rPr dirty="0" err="1"/>
              <a:t>xin</a:t>
            </a:r>
            <a:r>
              <a:rPr dirty="0"/>
              <a:t> </a:t>
            </a:r>
            <a:r>
              <a:rPr dirty="0" err="1"/>
              <a:t>tóm</a:t>
            </a:r>
            <a:r>
              <a:rPr dirty="0"/>
              <a:t> </a:t>
            </a:r>
            <a:r>
              <a:rPr dirty="0" err="1"/>
              <a:t>tắt</a:t>
            </a:r>
            <a:r>
              <a:rPr dirty="0"/>
              <a:t>. </a:t>
            </a:r>
            <a:r>
              <a:rPr dirty="0" err="1"/>
              <a:t>Một</a:t>
            </a:r>
            <a:r>
              <a:rPr dirty="0"/>
              <a:t>, accessory genome </a:t>
            </a:r>
            <a:r>
              <a:rPr dirty="0" err="1"/>
              <a:t>là</a:t>
            </a:r>
            <a:r>
              <a:rPr dirty="0"/>
              <a:t> </a:t>
            </a:r>
            <a:r>
              <a:rPr dirty="0" err="1"/>
              <a:t>nguồn</a:t>
            </a:r>
            <a:r>
              <a:rPr dirty="0"/>
              <a:t> </a:t>
            </a:r>
            <a:r>
              <a:rPr dirty="0" err="1"/>
              <a:t>tín</a:t>
            </a:r>
            <a:r>
              <a:rPr dirty="0"/>
              <a:t> </a:t>
            </a:r>
            <a:r>
              <a:rPr dirty="0" err="1"/>
              <a:t>hiệu</a:t>
            </a:r>
            <a:r>
              <a:rPr dirty="0"/>
              <a:t> </a:t>
            </a:r>
            <a:r>
              <a:rPr dirty="0" err="1"/>
              <a:t>chính</a:t>
            </a:r>
            <a:r>
              <a:rPr dirty="0"/>
              <a:t>. Hai, adaptive fusion </a:t>
            </a:r>
            <a:r>
              <a:rPr dirty="0" err="1"/>
              <a:t>đạt</a:t>
            </a:r>
            <a:r>
              <a:rPr dirty="0"/>
              <a:t> </a:t>
            </a:r>
            <a:r>
              <a:rPr dirty="0" err="1"/>
              <a:t>hiệu</a:t>
            </a:r>
            <a:r>
              <a:rPr dirty="0"/>
              <a:t> </a:t>
            </a:r>
            <a:r>
              <a:rPr dirty="0" err="1"/>
              <a:t>năng</a:t>
            </a:r>
            <a:r>
              <a:rPr dirty="0"/>
              <a:t> </a:t>
            </a:r>
            <a:r>
              <a:rPr dirty="0" err="1"/>
              <a:t>cao</a:t>
            </a:r>
            <a:r>
              <a:rPr dirty="0"/>
              <a:t> </a:t>
            </a:r>
            <a:r>
              <a:rPr dirty="0" err="1"/>
              <a:t>và</a:t>
            </a:r>
            <a:r>
              <a:rPr dirty="0"/>
              <a:t> </a:t>
            </a:r>
            <a:r>
              <a:rPr dirty="0" err="1"/>
              <a:t>cải</a:t>
            </a:r>
            <a:r>
              <a:rPr dirty="0"/>
              <a:t> </a:t>
            </a:r>
            <a:r>
              <a:rPr dirty="0" err="1"/>
              <a:t>thiện</a:t>
            </a:r>
            <a:r>
              <a:rPr dirty="0"/>
              <a:t> F1 </a:t>
            </a:r>
            <a:r>
              <a:rPr dirty="0" err="1"/>
              <a:t>ở</a:t>
            </a:r>
            <a:r>
              <a:rPr dirty="0"/>
              <a:t> </a:t>
            </a:r>
            <a:r>
              <a:rPr dirty="0" err="1"/>
              <a:t>bốn</a:t>
            </a:r>
            <a:r>
              <a:rPr dirty="0"/>
              <a:t> </a:t>
            </a:r>
            <a:r>
              <a:rPr dirty="0" err="1"/>
              <a:t>trên</a:t>
            </a:r>
            <a:r>
              <a:rPr dirty="0"/>
              <a:t> </a:t>
            </a:r>
            <a:r>
              <a:rPr dirty="0" err="1"/>
              <a:t>năm</a:t>
            </a:r>
            <a:r>
              <a:rPr dirty="0"/>
              <a:t> </a:t>
            </a:r>
            <a:r>
              <a:rPr dirty="0" err="1"/>
              <a:t>thuốc</a:t>
            </a:r>
            <a:r>
              <a:rPr dirty="0"/>
              <a:t>, </a:t>
            </a:r>
            <a:r>
              <a:rPr dirty="0" err="1"/>
              <a:t>mỗi</a:t>
            </a:r>
            <a:r>
              <a:rPr dirty="0"/>
              <a:t> </a:t>
            </a:r>
            <a:r>
              <a:rPr dirty="0" err="1"/>
              <a:t>thuốc</a:t>
            </a:r>
            <a:r>
              <a:rPr dirty="0"/>
              <a:t> </a:t>
            </a:r>
            <a:r>
              <a:rPr dirty="0" err="1"/>
              <a:t>chọn</a:t>
            </a:r>
            <a:r>
              <a:rPr dirty="0"/>
              <a:t> </a:t>
            </a:r>
            <a:r>
              <a:rPr dirty="0" err="1"/>
              <a:t>một</a:t>
            </a:r>
            <a:r>
              <a:rPr dirty="0"/>
              <a:t> module </a:t>
            </a:r>
            <a:r>
              <a:rPr dirty="0" err="1"/>
              <a:t>riêng</a:t>
            </a:r>
            <a:r>
              <a:rPr dirty="0"/>
              <a:t>. Ba, </a:t>
            </a:r>
            <a:r>
              <a:rPr dirty="0" err="1"/>
              <a:t>em</a:t>
            </a:r>
            <a:r>
              <a:rPr dirty="0"/>
              <a:t> </a:t>
            </a:r>
            <a:r>
              <a:rPr dirty="0" err="1"/>
              <a:t>kiểm</a:t>
            </a:r>
            <a:r>
              <a:rPr dirty="0"/>
              <a:t> </a:t>
            </a:r>
            <a:r>
              <a:rPr dirty="0" err="1"/>
              <a:t>chứng</a:t>
            </a:r>
            <a:r>
              <a:rPr dirty="0"/>
              <a:t> </a:t>
            </a:r>
            <a:r>
              <a:rPr dirty="0" err="1"/>
              <a:t>rất</a:t>
            </a:r>
            <a:r>
              <a:rPr dirty="0"/>
              <a:t> </a:t>
            </a:r>
            <a:r>
              <a:rPr dirty="0" err="1"/>
              <a:t>kỹ</a:t>
            </a:r>
            <a:r>
              <a:rPr dirty="0"/>
              <a:t>: </a:t>
            </a:r>
            <a:r>
              <a:rPr dirty="0" err="1"/>
              <a:t>thống</a:t>
            </a:r>
            <a:r>
              <a:rPr dirty="0"/>
              <a:t> </a:t>
            </a:r>
            <a:r>
              <a:rPr dirty="0" err="1"/>
              <a:t>kê</a:t>
            </a:r>
            <a:r>
              <a:rPr dirty="0"/>
              <a:t>, chia </a:t>
            </a:r>
            <a:r>
              <a:rPr dirty="0" err="1"/>
              <a:t>theo</a:t>
            </a:r>
            <a:r>
              <a:rPr dirty="0"/>
              <a:t> </a:t>
            </a:r>
            <a:r>
              <a:rPr dirty="0" err="1"/>
              <a:t>dòng</a:t>
            </a:r>
            <a:r>
              <a:rPr dirty="0"/>
              <a:t>, </a:t>
            </a:r>
            <a:r>
              <a:rPr dirty="0" err="1"/>
              <a:t>bộ</a:t>
            </a:r>
            <a:r>
              <a:rPr dirty="0"/>
              <a:t> </a:t>
            </a:r>
            <a:r>
              <a:rPr dirty="0" err="1"/>
              <a:t>ngoài</a:t>
            </a:r>
            <a:r>
              <a:rPr dirty="0"/>
              <a:t>, </a:t>
            </a:r>
            <a:r>
              <a:rPr dirty="0" err="1"/>
              <a:t>hiệu</a:t>
            </a:r>
            <a:r>
              <a:rPr dirty="0"/>
              <a:t> </a:t>
            </a:r>
            <a:r>
              <a:rPr dirty="0" err="1"/>
              <a:t>chỉnh</a:t>
            </a:r>
            <a:r>
              <a:rPr dirty="0"/>
              <a:t> </a:t>
            </a:r>
            <a:r>
              <a:rPr dirty="0" err="1"/>
              <a:t>xác</a:t>
            </a:r>
            <a:r>
              <a:rPr dirty="0"/>
              <a:t> </a:t>
            </a:r>
            <a:r>
              <a:rPr dirty="0" err="1"/>
              <a:t>suất</a:t>
            </a:r>
            <a:r>
              <a:rPr dirty="0"/>
              <a:t> </a:t>
            </a:r>
            <a:r>
              <a:rPr dirty="0" err="1"/>
              <a:t>và</a:t>
            </a:r>
            <a:r>
              <a:rPr dirty="0"/>
              <a:t> </a:t>
            </a:r>
            <a:r>
              <a:rPr dirty="0" err="1"/>
              <a:t>đột</a:t>
            </a:r>
            <a:r>
              <a:rPr dirty="0"/>
              <a:t> </a:t>
            </a:r>
            <a:r>
              <a:rPr dirty="0" err="1"/>
              <a:t>biến</a:t>
            </a:r>
            <a:r>
              <a:rPr dirty="0"/>
              <a:t>.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a:t>
            </a:r>
            <a:r>
              <a:rPr dirty="0" err="1"/>
              <a:t>này</a:t>
            </a:r>
            <a:r>
              <a:rPr dirty="0"/>
              <a:t> so </a:t>
            </a:r>
            <a:r>
              <a:rPr dirty="0" err="1"/>
              <a:t>sánh</a:t>
            </a:r>
            <a:r>
              <a:rPr dirty="0"/>
              <a:t> </a:t>
            </a:r>
            <a:r>
              <a:rPr dirty="0" err="1"/>
              <a:t>trực</a:t>
            </a:r>
            <a:r>
              <a:rPr dirty="0"/>
              <a:t> </a:t>
            </a:r>
            <a:r>
              <a:rPr dirty="0" err="1"/>
              <a:t>tiếp</a:t>
            </a:r>
            <a:r>
              <a:rPr dirty="0"/>
              <a:t> </a:t>
            </a:r>
            <a:r>
              <a:rPr dirty="0" err="1"/>
              <a:t>với</a:t>
            </a:r>
            <a:r>
              <a:rPr dirty="0"/>
              <a:t> </a:t>
            </a:r>
            <a:r>
              <a:rPr dirty="0" err="1"/>
              <a:t>bài</a:t>
            </a:r>
            <a:r>
              <a:rPr dirty="0"/>
              <a:t> </a:t>
            </a:r>
            <a:r>
              <a:rPr dirty="0" err="1"/>
              <a:t>báo</a:t>
            </a:r>
            <a:r>
              <a:rPr dirty="0"/>
              <a:t> </a:t>
            </a:r>
            <a:r>
              <a:rPr dirty="0" err="1"/>
              <a:t>gốc</a:t>
            </a:r>
            <a:r>
              <a:rPr dirty="0"/>
              <a:t>. </a:t>
            </a:r>
            <a:r>
              <a:rPr dirty="0" err="1"/>
              <a:t>Cùng</a:t>
            </a:r>
            <a:r>
              <a:rPr dirty="0"/>
              <a:t> </a:t>
            </a:r>
            <a:r>
              <a:rPr dirty="0" err="1"/>
              <a:t>dữ</a:t>
            </a:r>
            <a:r>
              <a:rPr dirty="0"/>
              <a:t> </a:t>
            </a:r>
            <a:r>
              <a:rPr dirty="0" err="1"/>
              <a:t>liệu</a:t>
            </a:r>
            <a:r>
              <a:rPr dirty="0"/>
              <a:t>, </a:t>
            </a:r>
            <a:r>
              <a:rPr dirty="0" err="1"/>
              <a:t>cùng</a:t>
            </a:r>
            <a:r>
              <a:rPr dirty="0"/>
              <a:t> </a:t>
            </a:r>
            <a:r>
              <a:rPr dirty="0" err="1"/>
              <a:t>bài</a:t>
            </a:r>
            <a:r>
              <a:rPr dirty="0"/>
              <a:t> </a:t>
            </a:r>
            <a:r>
              <a:rPr dirty="0" err="1"/>
              <a:t>toán</a:t>
            </a:r>
            <a:r>
              <a:rPr dirty="0"/>
              <a:t>, </a:t>
            </a:r>
            <a:r>
              <a:rPr dirty="0" err="1"/>
              <a:t>nhưng</a:t>
            </a:r>
            <a:r>
              <a:rPr dirty="0"/>
              <a:t> </a:t>
            </a:r>
            <a:r>
              <a:rPr dirty="0" err="1"/>
              <a:t>em</a:t>
            </a:r>
            <a:r>
              <a:rPr dirty="0"/>
              <a:t> </a:t>
            </a:r>
            <a:r>
              <a:rPr dirty="0" err="1"/>
              <a:t>bổ</a:t>
            </a:r>
            <a:r>
              <a:rPr dirty="0"/>
              <a:t> sung </a:t>
            </a:r>
            <a:r>
              <a:rPr dirty="0" err="1"/>
              <a:t>khá</a:t>
            </a:r>
            <a:r>
              <a:rPr dirty="0"/>
              <a:t> </a:t>
            </a:r>
            <a:r>
              <a:rPr dirty="0" err="1"/>
              <a:t>nhiều</a:t>
            </a:r>
            <a:r>
              <a:rPr dirty="0"/>
              <a:t>. Bài </a:t>
            </a:r>
            <a:r>
              <a:rPr dirty="0" err="1"/>
              <a:t>gốc</a:t>
            </a:r>
            <a:r>
              <a:rPr dirty="0"/>
              <a:t> </a:t>
            </a:r>
            <a:r>
              <a:rPr dirty="0" err="1"/>
              <a:t>dùng</a:t>
            </a:r>
            <a:r>
              <a:rPr dirty="0"/>
              <a:t> </a:t>
            </a:r>
            <a:r>
              <a:rPr dirty="0" err="1"/>
              <a:t>một</a:t>
            </a:r>
            <a:r>
              <a:rPr dirty="0"/>
              <a:t> </a:t>
            </a:r>
            <a:r>
              <a:rPr dirty="0" err="1"/>
              <a:t>bộ</a:t>
            </a:r>
            <a:r>
              <a:rPr dirty="0"/>
              <a:t> gene </a:t>
            </a:r>
            <a:r>
              <a:rPr dirty="0" err="1"/>
              <a:t>cố</a:t>
            </a:r>
            <a:r>
              <a:rPr dirty="0"/>
              <a:t> </a:t>
            </a:r>
            <a:r>
              <a:rPr dirty="0" err="1"/>
              <a:t>định</a:t>
            </a:r>
            <a:r>
              <a:rPr dirty="0"/>
              <a:t> — </a:t>
            </a:r>
            <a:r>
              <a:rPr dirty="0" err="1"/>
              <a:t>em</a:t>
            </a:r>
            <a:r>
              <a:rPr dirty="0"/>
              <a:t> </a:t>
            </a:r>
            <a:r>
              <a:rPr dirty="0" err="1"/>
              <a:t>chọn</a:t>
            </a:r>
            <a:r>
              <a:rPr dirty="0"/>
              <a:t> </a:t>
            </a:r>
            <a:r>
              <a:rPr dirty="0" err="1"/>
              <a:t>đặc</a:t>
            </a:r>
            <a:r>
              <a:rPr dirty="0"/>
              <a:t> </a:t>
            </a:r>
            <a:r>
              <a:rPr dirty="0" err="1"/>
              <a:t>trưng</a:t>
            </a:r>
            <a:r>
              <a:rPr dirty="0"/>
              <a:t> </a:t>
            </a:r>
            <a:r>
              <a:rPr dirty="0" err="1"/>
              <a:t>linh</a:t>
            </a:r>
            <a:r>
              <a:rPr dirty="0"/>
              <a:t> </a:t>
            </a:r>
            <a:r>
              <a:rPr dirty="0" err="1"/>
              <a:t>hoạt</a:t>
            </a:r>
            <a:r>
              <a:rPr dirty="0"/>
              <a:t> </a:t>
            </a:r>
            <a:r>
              <a:rPr dirty="0" err="1"/>
              <a:t>theo</a:t>
            </a:r>
            <a:r>
              <a:rPr dirty="0"/>
              <a:t> </a:t>
            </a:r>
            <a:r>
              <a:rPr dirty="0" err="1"/>
              <a:t>từng</a:t>
            </a:r>
            <a:r>
              <a:rPr dirty="0"/>
              <a:t> </a:t>
            </a:r>
            <a:r>
              <a:rPr dirty="0" err="1"/>
              <a:t>thuốc</a:t>
            </a:r>
            <a:r>
              <a:rPr dirty="0"/>
              <a:t>. Bài </a:t>
            </a:r>
            <a:r>
              <a:rPr dirty="0" err="1"/>
              <a:t>gốc</a:t>
            </a:r>
            <a:r>
              <a:rPr dirty="0"/>
              <a:t> </a:t>
            </a:r>
            <a:r>
              <a:rPr dirty="0" err="1"/>
              <a:t>làm</a:t>
            </a:r>
            <a:r>
              <a:rPr dirty="0"/>
              <a:t> </a:t>
            </a:r>
            <a:r>
              <a:rPr dirty="0" err="1"/>
              <a:t>năm</a:t>
            </a:r>
            <a:r>
              <a:rPr dirty="0"/>
              <a:t> </a:t>
            </a:r>
            <a:r>
              <a:rPr dirty="0" err="1"/>
              <a:t>thuốc</a:t>
            </a:r>
            <a:r>
              <a:rPr dirty="0"/>
              <a:t> — </a:t>
            </a:r>
            <a:r>
              <a:rPr dirty="0" err="1"/>
              <a:t>em</a:t>
            </a:r>
            <a:r>
              <a:rPr dirty="0"/>
              <a:t> </a:t>
            </a:r>
            <a:r>
              <a:rPr dirty="0" err="1"/>
              <a:t>thêm</a:t>
            </a:r>
            <a:r>
              <a:rPr dirty="0"/>
              <a:t> </a:t>
            </a:r>
            <a:r>
              <a:rPr dirty="0" err="1"/>
              <a:t>năm</a:t>
            </a:r>
            <a:r>
              <a:rPr dirty="0"/>
              <a:t> </a:t>
            </a:r>
            <a:r>
              <a:rPr dirty="0" err="1"/>
              <a:t>thuốc</a:t>
            </a:r>
            <a:r>
              <a:rPr dirty="0"/>
              <a:t> </a:t>
            </a:r>
            <a:r>
              <a:rPr dirty="0" err="1"/>
              <a:t>ngoài</a:t>
            </a:r>
            <a:r>
              <a:rPr dirty="0"/>
              <a:t>. </a:t>
            </a:r>
            <a:r>
              <a:rPr dirty="0" err="1"/>
              <a:t>Bài</a:t>
            </a:r>
            <a:r>
              <a:rPr dirty="0"/>
              <a:t> </a:t>
            </a:r>
            <a:r>
              <a:rPr dirty="0" err="1"/>
              <a:t>gốc</a:t>
            </a:r>
            <a:r>
              <a:rPr dirty="0"/>
              <a:t> </a:t>
            </a:r>
            <a:r>
              <a:rPr dirty="0" err="1"/>
              <a:t>đánh</a:t>
            </a:r>
            <a:r>
              <a:rPr dirty="0"/>
              <a:t> </a:t>
            </a:r>
            <a:r>
              <a:rPr dirty="0" err="1"/>
              <a:t>giá</a:t>
            </a:r>
            <a:r>
              <a:rPr dirty="0"/>
              <a:t> </a:t>
            </a:r>
            <a:r>
              <a:rPr dirty="0" err="1"/>
              <a:t>một</a:t>
            </a:r>
            <a:r>
              <a:rPr dirty="0"/>
              <a:t> </a:t>
            </a:r>
            <a:r>
              <a:rPr dirty="0" err="1"/>
              <a:t>lần</a:t>
            </a:r>
            <a:r>
              <a:rPr dirty="0"/>
              <a:t> — </a:t>
            </a:r>
            <a:r>
              <a:rPr dirty="0" err="1"/>
              <a:t>em</a:t>
            </a:r>
            <a:r>
              <a:rPr dirty="0"/>
              <a:t> </a:t>
            </a:r>
            <a:r>
              <a:rPr dirty="0" err="1"/>
              <a:t>chạy</a:t>
            </a:r>
            <a:r>
              <a:rPr dirty="0"/>
              <a:t> </a:t>
            </a:r>
            <a:r>
              <a:rPr lang="en-VN" dirty="0"/>
              <a:t>k fold </a:t>
            </a:r>
            <a:r>
              <a:rPr dirty="0" err="1"/>
              <a:t>và</a:t>
            </a:r>
            <a:r>
              <a:rPr dirty="0"/>
              <a:t> </a:t>
            </a:r>
            <a:r>
              <a:rPr dirty="0" err="1"/>
              <a:t>có</a:t>
            </a:r>
            <a:r>
              <a:rPr dirty="0"/>
              <a:t> </a:t>
            </a:r>
            <a:r>
              <a:rPr dirty="0" err="1"/>
              <a:t>kiểm</a:t>
            </a:r>
            <a:r>
              <a:rPr dirty="0"/>
              <a:t> </a:t>
            </a:r>
            <a:r>
              <a:rPr dirty="0" err="1"/>
              <a:t>định</a:t>
            </a:r>
            <a:r>
              <a:rPr dirty="0"/>
              <a:t> </a:t>
            </a:r>
            <a:r>
              <a:rPr dirty="0" err="1"/>
              <a:t>thống</a:t>
            </a:r>
            <a:r>
              <a:rPr dirty="0"/>
              <a:t> </a:t>
            </a:r>
            <a:r>
              <a:rPr dirty="0" err="1"/>
              <a:t>kê</a:t>
            </a:r>
            <a:r>
              <a:rPr dirty="0"/>
              <a:t>.</a:t>
            </a:r>
            <a:r>
              <a:rPr lang="vi-VN" dirty="0"/>
              <a:t> </a:t>
            </a:r>
            <a:r>
              <a:rPr dirty="0" err="1"/>
              <a:t>còn</a:t>
            </a:r>
            <a:r>
              <a:rPr dirty="0"/>
              <a:t> </a:t>
            </a:r>
            <a:r>
              <a:rPr dirty="0" err="1"/>
              <a:t>thêm</a:t>
            </a:r>
            <a:r>
              <a:rPr dirty="0"/>
              <a:t> chia </a:t>
            </a:r>
            <a:r>
              <a:rPr dirty="0" err="1"/>
              <a:t>theo</a:t>
            </a:r>
            <a:r>
              <a:rPr dirty="0"/>
              <a:t> </a:t>
            </a:r>
            <a:r>
              <a:rPr dirty="0" err="1"/>
              <a:t>dòng</a:t>
            </a:r>
            <a:r>
              <a:rPr dirty="0"/>
              <a:t>, </a:t>
            </a:r>
            <a:r>
              <a:rPr dirty="0" err="1"/>
              <a:t>hiệu</a:t>
            </a:r>
            <a:r>
              <a:rPr dirty="0"/>
              <a:t> </a:t>
            </a:r>
            <a:r>
              <a:rPr dirty="0" err="1"/>
              <a:t>chỉnh</a:t>
            </a:r>
            <a:r>
              <a:rPr dirty="0"/>
              <a:t> </a:t>
            </a:r>
            <a:r>
              <a:rPr dirty="0" err="1"/>
              <a:t>xác</a:t>
            </a:r>
            <a:r>
              <a:rPr dirty="0"/>
              <a:t> </a:t>
            </a:r>
            <a:r>
              <a:rPr dirty="0" err="1"/>
              <a:t>suất</a:t>
            </a:r>
            <a:r>
              <a:rPr dirty="0"/>
              <a:t>, </a:t>
            </a:r>
            <a:r>
              <a:rPr dirty="0" err="1"/>
              <a:t>và</a:t>
            </a:r>
            <a:r>
              <a:rPr dirty="0"/>
              <a:t> </a:t>
            </a:r>
            <a:r>
              <a:rPr dirty="0" err="1"/>
              <a:t>phân</a:t>
            </a:r>
            <a:r>
              <a:rPr dirty="0"/>
              <a:t> </a:t>
            </a:r>
            <a:r>
              <a:rPr dirty="0" err="1"/>
              <a:t>tích</a:t>
            </a:r>
            <a:r>
              <a:rPr dirty="0"/>
              <a:t> </a:t>
            </a:r>
            <a:r>
              <a:rPr dirty="0" err="1"/>
              <a:t>đột</a:t>
            </a:r>
            <a:r>
              <a:rPr dirty="0"/>
              <a:t> </a:t>
            </a:r>
            <a:r>
              <a:rPr dirty="0" err="1"/>
              <a:t>biến</a:t>
            </a:r>
            <a:r>
              <a:rPr dirty="0"/>
              <a:t> </a:t>
            </a:r>
            <a:r>
              <a:rPr dirty="0" err="1"/>
              <a:t>thật</a:t>
            </a:r>
            <a:r>
              <a:rPr dirty="0"/>
              <a:t>. </a:t>
            </a:r>
            <a:r>
              <a:rPr lang="en-US" dirty="0"/>
              <a:t>S</a:t>
            </a:r>
            <a:r>
              <a:rPr lang="en-VN" dirty="0"/>
              <a:t>o với bài gốc</a:t>
            </a:r>
            <a:r>
              <a:rPr dirty="0"/>
              <a:t>, </a:t>
            </a:r>
            <a:r>
              <a:rPr dirty="0" err="1"/>
              <a:t>em</a:t>
            </a:r>
            <a:r>
              <a:rPr dirty="0"/>
              <a:t> </a:t>
            </a:r>
            <a:r>
              <a:rPr dirty="0" err="1"/>
              <a:t>kế</a:t>
            </a:r>
            <a:r>
              <a:rPr dirty="0"/>
              <a:t> </a:t>
            </a:r>
            <a:r>
              <a:rPr dirty="0" err="1"/>
              <a:t>thừa</a:t>
            </a:r>
            <a:r>
              <a:rPr dirty="0"/>
              <a:t> </a:t>
            </a:r>
            <a:r>
              <a:rPr dirty="0" err="1"/>
              <a:t>bài</a:t>
            </a:r>
            <a:r>
              <a:rPr dirty="0"/>
              <a:t> </a:t>
            </a:r>
            <a:r>
              <a:rPr dirty="0" err="1"/>
              <a:t>gốc</a:t>
            </a:r>
            <a:r>
              <a:rPr dirty="0"/>
              <a:t> </a:t>
            </a:r>
            <a:r>
              <a:rPr dirty="0" err="1"/>
              <a:t>và</a:t>
            </a:r>
            <a:r>
              <a:rPr dirty="0"/>
              <a:t> </a:t>
            </a:r>
            <a:r>
              <a:rPr dirty="0" err="1"/>
              <a:t>làm</a:t>
            </a:r>
            <a:r>
              <a:rPr dirty="0"/>
              <a:t> </a:t>
            </a:r>
            <a:r>
              <a:rPr dirty="0" err="1"/>
              <a:t>cho</a:t>
            </a:r>
            <a:r>
              <a:rPr dirty="0"/>
              <a:t> </a:t>
            </a:r>
            <a:r>
              <a:rPr dirty="0" err="1"/>
              <a:t>nó</a:t>
            </a:r>
            <a:r>
              <a:rPr dirty="0"/>
              <a:t> </a:t>
            </a:r>
            <a:r>
              <a:rPr dirty="0" err="1"/>
              <a:t>đầy</a:t>
            </a:r>
            <a:r>
              <a:rPr dirty="0"/>
              <a:t> </a:t>
            </a:r>
            <a:r>
              <a:rPr dirty="0" err="1"/>
              <a:t>đủ</a:t>
            </a:r>
            <a:r>
              <a:rPr dirty="0"/>
              <a:t>, </a:t>
            </a:r>
            <a:r>
              <a:rPr dirty="0" err="1"/>
              <a:t>chắc</a:t>
            </a:r>
            <a:r>
              <a:rPr dirty="0"/>
              <a:t> </a:t>
            </a:r>
            <a:r>
              <a:rPr dirty="0" err="1"/>
              <a:t>chắn</a:t>
            </a:r>
            <a:r>
              <a:rPr dirty="0"/>
              <a:t> </a:t>
            </a:r>
            <a:r>
              <a:rPr dirty="0" err="1"/>
              <a:t>hơn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em</a:t>
            </a:r>
            <a:r>
              <a:rPr dirty="0"/>
              <a:t> </a:t>
            </a:r>
            <a:r>
              <a:rPr dirty="0" err="1"/>
              <a:t>xin</a:t>
            </a:r>
            <a:r>
              <a:rPr dirty="0"/>
              <a:t> </a:t>
            </a:r>
            <a:r>
              <a:rPr dirty="0" err="1"/>
              <a:t>nói</a:t>
            </a:r>
            <a:r>
              <a:rPr dirty="0"/>
              <a:t> </a:t>
            </a:r>
            <a:r>
              <a:rPr dirty="0" err="1"/>
              <a:t>về</a:t>
            </a:r>
            <a:r>
              <a:rPr dirty="0"/>
              <a:t> </a:t>
            </a:r>
            <a:r>
              <a:rPr dirty="0" err="1"/>
              <a:t>hạn</a:t>
            </a:r>
            <a:r>
              <a:rPr dirty="0"/>
              <a:t> </a:t>
            </a:r>
            <a:r>
              <a:rPr dirty="0" err="1"/>
              <a:t>chế</a:t>
            </a:r>
            <a:r>
              <a:rPr dirty="0"/>
              <a:t>. </a:t>
            </a:r>
            <a:r>
              <a:rPr dirty="0" err="1"/>
              <a:t>Bộ</a:t>
            </a:r>
            <a:r>
              <a:rPr dirty="0"/>
              <a:t> </a:t>
            </a:r>
            <a:r>
              <a:rPr dirty="0" err="1"/>
              <a:t>dữ</a:t>
            </a:r>
            <a:r>
              <a:rPr dirty="0"/>
              <a:t> </a:t>
            </a:r>
            <a:r>
              <a:rPr dirty="0" err="1"/>
              <a:t>liệu</a:t>
            </a:r>
            <a:r>
              <a:rPr dirty="0"/>
              <a:t> </a:t>
            </a:r>
            <a:r>
              <a:rPr dirty="0" err="1"/>
              <a:t>gốc</a:t>
            </a:r>
            <a:r>
              <a:rPr dirty="0"/>
              <a:t> </a:t>
            </a:r>
            <a:r>
              <a:rPr dirty="0" err="1"/>
              <a:t>chỉ</a:t>
            </a:r>
            <a:r>
              <a:rPr dirty="0"/>
              <a:t> </a:t>
            </a:r>
            <a:r>
              <a:rPr dirty="0" err="1"/>
              <a:t>có</a:t>
            </a:r>
            <a:r>
              <a:rPr dirty="0"/>
              <a:t> </a:t>
            </a:r>
            <a:r>
              <a:rPr dirty="0" err="1"/>
              <a:t>năm</a:t>
            </a:r>
            <a:r>
              <a:rPr dirty="0"/>
              <a:t> </a:t>
            </a:r>
            <a:r>
              <a:rPr dirty="0" err="1"/>
              <a:t>thuốc</a:t>
            </a:r>
            <a:r>
              <a:rPr dirty="0"/>
              <a:t> </a:t>
            </a:r>
            <a:r>
              <a:rPr dirty="0" err="1"/>
              <a:t>và</a:t>
            </a:r>
            <a:r>
              <a:rPr dirty="0"/>
              <a:t> </a:t>
            </a:r>
            <a:r>
              <a:rPr dirty="0" err="1"/>
              <a:t>gần</a:t>
            </a:r>
            <a:r>
              <a:rPr dirty="0"/>
              <a:t> </a:t>
            </a:r>
            <a:r>
              <a:rPr dirty="0" err="1"/>
              <a:t>như</a:t>
            </a:r>
            <a:r>
              <a:rPr dirty="0"/>
              <a:t> </a:t>
            </a:r>
            <a:r>
              <a:rPr dirty="0" err="1"/>
              <a:t>thuộc</a:t>
            </a:r>
            <a:r>
              <a:rPr dirty="0"/>
              <a:t> </a:t>
            </a:r>
            <a:r>
              <a:rPr dirty="0" err="1"/>
              <a:t>cùng</a:t>
            </a:r>
            <a:r>
              <a:rPr dirty="0"/>
              <a:t> </a:t>
            </a:r>
            <a:r>
              <a:rPr dirty="0" err="1"/>
              <a:t>một</a:t>
            </a:r>
            <a:r>
              <a:rPr dirty="0"/>
              <a:t> </a:t>
            </a:r>
            <a:r>
              <a:rPr dirty="0" err="1"/>
              <a:t>dòng</a:t>
            </a:r>
            <a:r>
              <a:rPr dirty="0"/>
              <a:t>, </a:t>
            </a:r>
            <a:r>
              <a:rPr dirty="0" err="1"/>
              <a:t>nên</a:t>
            </a:r>
            <a:r>
              <a:rPr dirty="0"/>
              <a:t> </a:t>
            </a:r>
            <a:r>
              <a:rPr dirty="0" err="1"/>
              <a:t>chưa</a:t>
            </a:r>
            <a:r>
              <a:rPr dirty="0"/>
              <a:t> </a:t>
            </a:r>
            <a:r>
              <a:rPr dirty="0" err="1"/>
              <a:t>đủ</a:t>
            </a:r>
            <a:r>
              <a:rPr dirty="0"/>
              <a:t> </a:t>
            </a:r>
            <a:r>
              <a:rPr dirty="0" err="1"/>
              <a:t>đa</a:t>
            </a:r>
            <a:r>
              <a:rPr dirty="0"/>
              <a:t> </a:t>
            </a:r>
            <a:r>
              <a:rPr dirty="0" err="1"/>
              <a:t>dạng</a:t>
            </a:r>
            <a:r>
              <a:rPr dirty="0"/>
              <a:t>. </a:t>
            </a:r>
            <a:r>
              <a:rPr dirty="0" err="1"/>
              <a:t>Phần</a:t>
            </a:r>
            <a:r>
              <a:rPr dirty="0"/>
              <a:t> </a:t>
            </a:r>
            <a:r>
              <a:rPr dirty="0" err="1"/>
              <a:t>bộ</a:t>
            </a:r>
            <a:r>
              <a:rPr dirty="0"/>
              <a:t> </a:t>
            </a:r>
            <a:r>
              <a:rPr dirty="0" err="1"/>
              <a:t>ngoài</a:t>
            </a:r>
            <a:r>
              <a:rPr dirty="0"/>
              <a:t> </a:t>
            </a:r>
            <a:r>
              <a:rPr dirty="0" err="1"/>
              <a:t>dùng</a:t>
            </a:r>
            <a:r>
              <a:rPr dirty="0"/>
              <a:t> </a:t>
            </a:r>
            <a:r>
              <a:rPr dirty="0" err="1"/>
              <a:t>đặc</a:t>
            </a:r>
            <a:r>
              <a:rPr dirty="0"/>
              <a:t> </a:t>
            </a:r>
            <a:r>
              <a:rPr dirty="0" err="1"/>
              <a:t>trưng</a:t>
            </a:r>
            <a:r>
              <a:rPr dirty="0"/>
              <a:t> </a:t>
            </a:r>
            <a:r>
              <a:rPr dirty="0" err="1"/>
              <a:t>chú</a:t>
            </a:r>
            <a:r>
              <a:rPr dirty="0"/>
              <a:t> </a:t>
            </a:r>
            <a:r>
              <a:rPr dirty="0" err="1"/>
              <a:t>giải</a:t>
            </a:r>
            <a:r>
              <a:rPr dirty="0"/>
              <a:t> </a:t>
            </a:r>
            <a:r>
              <a:rPr dirty="0" err="1"/>
              <a:t>sẵn</a:t>
            </a:r>
            <a:r>
              <a:rPr dirty="0"/>
              <a:t>, </a:t>
            </a:r>
            <a:r>
              <a:rPr dirty="0" err="1"/>
              <a:t>chưa</a:t>
            </a:r>
            <a:r>
              <a:rPr dirty="0"/>
              <a:t> </a:t>
            </a:r>
            <a:r>
              <a:rPr dirty="0" err="1"/>
              <a:t>phải</a:t>
            </a:r>
            <a:r>
              <a:rPr dirty="0"/>
              <a:t> pipeline </a:t>
            </a:r>
            <a:r>
              <a:rPr dirty="0" err="1"/>
              <a:t>đi</a:t>
            </a:r>
            <a:r>
              <a:rPr dirty="0"/>
              <a:t> </a:t>
            </a:r>
            <a:r>
              <a:rPr dirty="0" err="1"/>
              <a:t>từ</a:t>
            </a:r>
            <a:r>
              <a:rPr dirty="0"/>
              <a:t> </a:t>
            </a:r>
            <a:r>
              <a:rPr dirty="0" err="1"/>
              <a:t>trình</a:t>
            </a:r>
            <a:r>
              <a:rPr dirty="0"/>
              <a:t> </a:t>
            </a:r>
            <a:r>
              <a:rPr dirty="0" err="1"/>
              <a:t>tự</a:t>
            </a:r>
            <a:r>
              <a:rPr dirty="0"/>
              <a:t> </a:t>
            </a:r>
            <a:r>
              <a:rPr dirty="0" err="1"/>
              <a:t>thô</a:t>
            </a:r>
            <a:r>
              <a:rPr dirty="0"/>
              <a:t> </a:t>
            </a:r>
            <a:r>
              <a:rPr dirty="0" err="1"/>
              <a:t>đầy</a:t>
            </a:r>
            <a:r>
              <a:rPr dirty="0"/>
              <a:t> </a:t>
            </a:r>
            <a:r>
              <a:rPr dirty="0" err="1"/>
              <a:t>đủ</a:t>
            </a:r>
            <a:r>
              <a:rPr dirty="0"/>
              <a:t>. </a:t>
            </a:r>
            <a:r>
              <a:rPr dirty="0" err="1"/>
              <a:t>Và</a:t>
            </a:r>
            <a:r>
              <a:rPr dirty="0"/>
              <a:t> </a:t>
            </a:r>
            <a:r>
              <a:rPr dirty="0" err="1"/>
              <a:t>phần</a:t>
            </a:r>
            <a:r>
              <a:rPr dirty="0"/>
              <a:t> </a:t>
            </a:r>
            <a:r>
              <a:rPr dirty="0" err="1"/>
              <a:t>phân</a:t>
            </a:r>
            <a:r>
              <a:rPr dirty="0"/>
              <a:t> </a:t>
            </a:r>
            <a:r>
              <a:rPr dirty="0" err="1"/>
              <a:t>tích</a:t>
            </a:r>
            <a:r>
              <a:rPr dirty="0"/>
              <a:t> </a:t>
            </a:r>
            <a:r>
              <a:rPr dirty="0" err="1"/>
              <a:t>đột</a:t>
            </a:r>
            <a:r>
              <a:rPr dirty="0"/>
              <a:t> </a:t>
            </a:r>
            <a:r>
              <a:rPr dirty="0" err="1"/>
              <a:t>biến</a:t>
            </a:r>
            <a:r>
              <a:rPr dirty="0"/>
              <a:t> </a:t>
            </a:r>
            <a:r>
              <a:rPr dirty="0" err="1"/>
              <a:t>mới</a:t>
            </a:r>
            <a:r>
              <a:rPr dirty="0"/>
              <a:t> </a:t>
            </a:r>
            <a:r>
              <a:rPr dirty="0" err="1"/>
              <a:t>làm</a:t>
            </a:r>
            <a:r>
              <a:rPr dirty="0"/>
              <a:t> </a:t>
            </a:r>
            <a:r>
              <a:rPr dirty="0" err="1"/>
              <a:t>ở</a:t>
            </a:r>
            <a:r>
              <a:rPr dirty="0"/>
              <a:t> </a:t>
            </a:r>
            <a:r>
              <a:rPr dirty="0" err="1"/>
              <a:t>vùng</a:t>
            </a:r>
            <a:r>
              <a:rPr dirty="0"/>
              <a:t> QRDR </a:t>
            </a:r>
            <a:r>
              <a:rPr dirty="0" err="1"/>
              <a:t>của</a:t>
            </a:r>
            <a:r>
              <a:rPr dirty="0"/>
              <a:t> </a:t>
            </a:r>
            <a:r>
              <a:rPr dirty="0" err="1"/>
              <a:t>hai</a:t>
            </a:r>
            <a:r>
              <a:rPr dirty="0"/>
              <a:t> gene </a:t>
            </a:r>
            <a:r>
              <a:rPr dirty="0" err="1"/>
              <a:t>gyrA</a:t>
            </a:r>
            <a:r>
              <a:rPr dirty="0"/>
              <a:t> </a:t>
            </a:r>
            <a:r>
              <a:rPr dirty="0" err="1"/>
              <a:t>và</a:t>
            </a:r>
            <a:r>
              <a:rPr dirty="0"/>
              <a:t> </a:t>
            </a:r>
            <a:r>
              <a:rPr dirty="0" err="1"/>
              <a:t>parC</a:t>
            </a:r>
            <a:r>
              <a:rPr dirty="0"/>
              <a:t>. </a:t>
            </a:r>
            <a:r>
              <a:rPr dirty="0" err="1"/>
              <a:t>Đây</a:t>
            </a:r>
            <a:r>
              <a:rPr dirty="0"/>
              <a:t> </a:t>
            </a:r>
            <a:r>
              <a:rPr dirty="0" err="1"/>
              <a:t>là</a:t>
            </a:r>
            <a:r>
              <a:rPr dirty="0"/>
              <a:t> </a:t>
            </a:r>
            <a:r>
              <a:rPr dirty="0" err="1"/>
              <a:t>những</a:t>
            </a:r>
            <a:r>
              <a:rPr dirty="0"/>
              <a:t> </a:t>
            </a:r>
            <a:r>
              <a:rPr dirty="0" err="1"/>
              <a:t>điểm</a:t>
            </a:r>
            <a:r>
              <a:rPr dirty="0"/>
              <a:t> </a:t>
            </a:r>
            <a:r>
              <a:rPr dirty="0" err="1"/>
              <a:t>em</a:t>
            </a:r>
            <a:r>
              <a:rPr dirty="0"/>
              <a:t> </a:t>
            </a:r>
            <a:r>
              <a:rPr dirty="0" err="1"/>
              <a:t>sẽ</a:t>
            </a:r>
            <a:r>
              <a:rPr dirty="0"/>
              <a:t> </a:t>
            </a:r>
            <a:r>
              <a:rPr dirty="0" err="1"/>
              <a:t>cải</a:t>
            </a:r>
            <a:r>
              <a:rPr dirty="0"/>
              <a:t> </a:t>
            </a:r>
            <a:r>
              <a:rPr dirty="0" err="1"/>
              <a:t>thiện</a:t>
            </a:r>
            <a:r>
              <a:rPr dirty="0"/>
              <a:t> </a:t>
            </a:r>
            <a:r>
              <a:rPr dirty="0" err="1"/>
              <a:t>tiếp</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Trong </a:t>
            </a:r>
            <a:r>
              <a:rPr dirty="0" err="1"/>
              <a:t>tương</a:t>
            </a:r>
            <a:r>
              <a:rPr dirty="0"/>
              <a:t> lai, </a:t>
            </a:r>
            <a:r>
              <a:rPr dirty="0" err="1"/>
              <a:t>em</a:t>
            </a:r>
            <a:r>
              <a:rPr dirty="0"/>
              <a:t> </a:t>
            </a:r>
            <a:r>
              <a:rPr dirty="0" err="1"/>
              <a:t>muốn</a:t>
            </a:r>
            <a:r>
              <a:rPr dirty="0"/>
              <a:t> </a:t>
            </a:r>
            <a:r>
              <a:rPr dirty="0" err="1"/>
              <a:t>mở</a:t>
            </a:r>
            <a:r>
              <a:rPr dirty="0"/>
              <a:t> </a:t>
            </a:r>
            <a:r>
              <a:rPr dirty="0" err="1"/>
              <a:t>rộng</a:t>
            </a:r>
            <a:r>
              <a:rPr dirty="0"/>
              <a:t> </a:t>
            </a:r>
            <a:r>
              <a:rPr dirty="0" err="1"/>
              <a:t>phân</a:t>
            </a:r>
            <a:r>
              <a:rPr dirty="0"/>
              <a:t> </a:t>
            </a:r>
            <a:r>
              <a:rPr dirty="0" err="1"/>
              <a:t>tích</a:t>
            </a:r>
            <a:r>
              <a:rPr dirty="0"/>
              <a:t> </a:t>
            </a:r>
            <a:r>
              <a:rPr dirty="0" err="1"/>
              <a:t>đột</a:t>
            </a:r>
            <a:r>
              <a:rPr dirty="0"/>
              <a:t> </a:t>
            </a:r>
            <a:r>
              <a:rPr dirty="0" err="1"/>
              <a:t>biến</a:t>
            </a:r>
            <a:r>
              <a:rPr dirty="0"/>
              <a:t> sang </a:t>
            </a:r>
            <a:r>
              <a:rPr dirty="0" err="1"/>
              <a:t>các</a:t>
            </a:r>
            <a:r>
              <a:rPr dirty="0"/>
              <a:t> gene </a:t>
            </a:r>
            <a:r>
              <a:rPr dirty="0" err="1"/>
              <a:t>khác</a:t>
            </a:r>
            <a:r>
              <a:rPr dirty="0"/>
              <a:t> </a:t>
            </a:r>
            <a:r>
              <a:rPr dirty="0" err="1"/>
              <a:t>như</a:t>
            </a:r>
            <a:r>
              <a:rPr dirty="0"/>
              <a:t> </a:t>
            </a:r>
            <a:r>
              <a:rPr dirty="0" err="1"/>
              <a:t>gyrB</a:t>
            </a:r>
            <a:r>
              <a:rPr dirty="0"/>
              <a:t>, </a:t>
            </a:r>
            <a:r>
              <a:rPr dirty="0" err="1"/>
              <a:t>parE</a:t>
            </a:r>
            <a:r>
              <a:rPr dirty="0"/>
              <a:t>, </a:t>
            </a:r>
            <a:r>
              <a:rPr dirty="0" err="1"/>
              <a:t>qnr</a:t>
            </a:r>
            <a:r>
              <a:rPr dirty="0"/>
              <a:t> </a:t>
            </a:r>
            <a:r>
              <a:rPr dirty="0" err="1"/>
              <a:t>và</a:t>
            </a:r>
            <a:r>
              <a:rPr dirty="0"/>
              <a:t> </a:t>
            </a:r>
            <a:r>
              <a:rPr dirty="0" err="1"/>
              <a:t>các</a:t>
            </a:r>
            <a:r>
              <a:rPr dirty="0"/>
              <a:t> gene </a:t>
            </a:r>
            <a:r>
              <a:rPr dirty="0" err="1"/>
              <a:t>bơm</a:t>
            </a:r>
            <a:r>
              <a:rPr dirty="0"/>
              <a:t> </a:t>
            </a:r>
            <a:r>
              <a:rPr dirty="0" err="1"/>
              <a:t>đẩy</a:t>
            </a:r>
            <a:r>
              <a:rPr dirty="0"/>
              <a:t> </a:t>
            </a:r>
            <a:r>
              <a:rPr dirty="0" err="1"/>
              <a:t>thuốc</a:t>
            </a:r>
            <a:r>
              <a:rPr dirty="0"/>
              <a:t>; </a:t>
            </a:r>
            <a:r>
              <a:rPr dirty="0" err="1"/>
              <a:t>dùng</a:t>
            </a:r>
            <a:r>
              <a:rPr dirty="0"/>
              <a:t> </a:t>
            </a:r>
            <a:r>
              <a:rPr dirty="0" err="1"/>
              <a:t>công</a:t>
            </a:r>
            <a:r>
              <a:rPr dirty="0"/>
              <a:t> </a:t>
            </a:r>
            <a:r>
              <a:rPr dirty="0" err="1"/>
              <a:t>cụ</a:t>
            </a:r>
            <a:r>
              <a:rPr dirty="0"/>
              <a:t> </a:t>
            </a:r>
            <a:r>
              <a:rPr dirty="0" err="1"/>
              <a:t>chú</a:t>
            </a:r>
            <a:r>
              <a:rPr dirty="0"/>
              <a:t> </a:t>
            </a:r>
            <a:r>
              <a:rPr dirty="0" err="1"/>
              <a:t>giải</a:t>
            </a:r>
            <a:r>
              <a:rPr dirty="0"/>
              <a:t> </a:t>
            </a:r>
            <a:r>
              <a:rPr dirty="0" err="1"/>
              <a:t>từ</a:t>
            </a:r>
            <a:r>
              <a:rPr dirty="0"/>
              <a:t> </a:t>
            </a:r>
            <a:r>
              <a:rPr dirty="0" err="1"/>
              <a:t>trình</a:t>
            </a:r>
            <a:r>
              <a:rPr dirty="0"/>
              <a:t> </a:t>
            </a:r>
            <a:r>
              <a:rPr dirty="0" err="1"/>
              <a:t>tự</a:t>
            </a:r>
            <a:r>
              <a:rPr dirty="0"/>
              <a:t>; </a:t>
            </a:r>
            <a:r>
              <a:rPr dirty="0" err="1"/>
              <a:t>và</a:t>
            </a:r>
            <a:r>
              <a:rPr dirty="0"/>
              <a:t> </a:t>
            </a:r>
            <a:r>
              <a:rPr dirty="0" err="1"/>
              <a:t>thu</a:t>
            </a:r>
            <a:r>
              <a:rPr dirty="0"/>
              <a:t> </a:t>
            </a:r>
            <a:r>
              <a:rPr dirty="0" err="1"/>
              <a:t>thập</a:t>
            </a:r>
            <a:r>
              <a:rPr dirty="0"/>
              <a:t> </a:t>
            </a:r>
            <a:r>
              <a:rPr dirty="0" err="1"/>
              <a:t>thêm</a:t>
            </a:r>
            <a:r>
              <a:rPr dirty="0"/>
              <a:t> </a:t>
            </a:r>
            <a:r>
              <a:rPr dirty="0" err="1"/>
              <a:t>dữ</a:t>
            </a:r>
            <a:r>
              <a:rPr dirty="0"/>
              <a:t> </a:t>
            </a:r>
            <a:r>
              <a:rPr dirty="0" err="1"/>
              <a:t>liệu</a:t>
            </a:r>
            <a:r>
              <a:rPr dirty="0"/>
              <a:t> </a:t>
            </a:r>
            <a:r>
              <a:rPr dirty="0" err="1"/>
              <a:t>đa</a:t>
            </a:r>
            <a:r>
              <a:rPr dirty="0"/>
              <a:t> </a:t>
            </a:r>
            <a:r>
              <a:rPr dirty="0" err="1"/>
              <a:t>dạng</a:t>
            </a:r>
            <a:r>
              <a:rPr dirty="0"/>
              <a:t> </a:t>
            </a:r>
            <a:r>
              <a:rPr dirty="0" err="1"/>
              <a:t>hơn</a:t>
            </a:r>
            <a:r>
              <a:rPr dirty="0"/>
              <a:t> </a:t>
            </a:r>
            <a:r>
              <a:rPr dirty="0" err="1"/>
              <a:t>về</a:t>
            </a:r>
            <a:r>
              <a:rPr dirty="0"/>
              <a:t> </a:t>
            </a:r>
            <a:r>
              <a:rPr dirty="0" err="1"/>
              <a:t>dòng</a:t>
            </a:r>
            <a:r>
              <a:rPr dirty="0"/>
              <a:t> </a:t>
            </a:r>
            <a:r>
              <a:rPr dirty="0" err="1"/>
              <a:t>và</a:t>
            </a:r>
            <a:r>
              <a:rPr dirty="0"/>
              <a:t> </a:t>
            </a:r>
            <a:r>
              <a:rPr dirty="0" err="1"/>
              <a:t>về</a:t>
            </a:r>
            <a:r>
              <a:rPr dirty="0"/>
              <a:t> serovar.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18"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5"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3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4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5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5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6"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3"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8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2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3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6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14" name="PlaceHolder 1"/>
          <p:cNvSpPr>
            <a:spLocks noGrp="1"/>
          </p:cNvSpPr>
          <p:nvPr>
            <p:ph type="body"/>
          </p:nvPr>
        </p:nvSpPr>
        <p:spPr>
          <a:xfrm>
            <a:off x="330120" y="1406880"/>
            <a:ext cx="5765400" cy="46555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115" name="PlaceHolder 2"/>
          <p:cNvSpPr>
            <a:spLocks noGrp="1"/>
          </p:cNvSpPr>
          <p:nvPr>
            <p:ph type="body"/>
          </p:nvPr>
        </p:nvSpPr>
        <p:spPr>
          <a:xfrm>
            <a:off x="6238800" y="1414440"/>
            <a:ext cx="5444640" cy="465588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Picture</a:t>
            </a:r>
            <a:endParaRPr lang="en-US" sz="1800" b="0" strike="noStrike" spc="-1">
              <a:solidFill>
                <a:srgbClr val="000000"/>
              </a:solidFill>
              <a:latin typeface="Calibri"/>
            </a:endParaRPr>
          </a:p>
        </p:txBody>
      </p:sp>
      <p:sp>
        <p:nvSpPr>
          <p:cNvPr id="116" name="PlaceHolder 3"/>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2:……………………………………..</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53"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3:……………………………………..</a:t>
            </a:r>
            <a:endParaRPr lang="en-US" sz="2800" b="0" strike="noStrike" spc="-1">
              <a:solidFill>
                <a:srgbClr val="000000"/>
              </a:solidFill>
              <a:latin typeface="Calibri"/>
            </a:endParaRPr>
          </a:p>
        </p:txBody>
      </p:sp>
      <p:sp>
        <p:nvSpPr>
          <p:cNvPr id="154" name="PlaceHolder 2"/>
          <p:cNvSpPr>
            <a:spLocks noGrp="1"/>
          </p:cNvSpPr>
          <p:nvPr>
            <p:ph type="body"/>
          </p:nvPr>
        </p:nvSpPr>
        <p:spPr>
          <a:xfrm>
            <a:off x="337680" y="1032480"/>
            <a:ext cx="11515320" cy="49384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192" name="PlaceHolder 2"/>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pPr>
            <a:r>
              <a:rPr lang="en-US" sz="2800" b="1" strike="noStrike" spc="-1">
                <a:solidFill>
                  <a:srgbClr val="000000"/>
                </a:solidFill>
                <a:latin typeface="Lato"/>
                <a:ea typeface="Lato"/>
              </a:rPr>
              <a:t>Title 4:……………………………………..</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5:……………………………………..</a:t>
            </a:r>
            <a:endParaRPr lang="en-US" sz="2800" b="0" strike="noStrike" spc="-1">
              <a:solidFill>
                <a:srgbClr val="000000"/>
              </a:solidFill>
              <a:latin typeface="Calibri"/>
            </a:endParaRPr>
          </a:p>
        </p:txBody>
      </p:sp>
      <p:sp>
        <p:nvSpPr>
          <p:cNvPr id="230" name="PlaceHolder 2"/>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231" name="PlaceHolder 3"/>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Table</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3"/>
          <a:stretch/>
        </p:blipFill>
        <p:spPr>
          <a:xfrm>
            <a:off x="392040" y="271440"/>
            <a:ext cx="3174120" cy="1153080"/>
          </a:xfrm>
          <a:prstGeom prst="rect">
            <a:avLst/>
          </a:prstGeom>
          <a:ln>
            <a:noFill/>
          </a:ln>
        </p:spPr>
      </p:pic>
      <p:sp>
        <p:nvSpPr>
          <p:cNvPr id="307" name="CustomShape 1"/>
          <p:cNvSpPr/>
          <p:nvPr/>
        </p:nvSpPr>
        <p:spPr>
          <a:xfrm>
            <a:off x="695520" y="2670778"/>
            <a:ext cx="8969475" cy="1058073"/>
          </a:xfrm>
          <a:prstGeom prst="rect">
            <a:avLst/>
          </a:prstGeom>
          <a:noFill/>
          <a:ln>
            <a:noFill/>
          </a:ln>
        </p:spPr>
        <p:style>
          <a:lnRef idx="0">
            <a:scrgbClr r="0" g="0" b="0"/>
          </a:lnRef>
          <a:fillRef idx="0">
            <a:scrgbClr r="0" g="0" b="0"/>
          </a:fillRef>
          <a:effectRef idx="0">
            <a:scrgbClr r="0" g="0" b="0"/>
          </a:effectRef>
          <a:fontRef idx="minor"/>
        </p:style>
        <p:txBody>
          <a:bodyPr wrap="square"/>
          <a:lstStyle/>
          <a:p>
            <a:pPr>
              <a:spcAft>
                <a:spcPts val="400"/>
              </a:spcAft>
            </a:pPr>
            <a:r>
              <a:rPr sz="2800" dirty="0">
                <a:latin typeface="Arial"/>
              </a:rPr>
              <a:t>Antibiotic-aware Adaptive Feature Fusion</a:t>
            </a:r>
          </a:p>
          <a:p>
            <a:pPr>
              <a:spcAft>
                <a:spcPts val="400"/>
              </a:spcAft>
            </a:pPr>
            <a:r>
              <a:rPr sz="2800" dirty="0">
                <a:latin typeface="Arial"/>
              </a:rPr>
              <a:t>for Salmonella Antimicrobial Resistance Prediction</a:t>
            </a:r>
          </a:p>
        </p:txBody>
      </p:sp>
      <p:sp>
        <p:nvSpPr>
          <p:cNvPr id="308" name="CustomShape 2"/>
          <p:cNvSpPr/>
          <p:nvPr/>
        </p:nvSpPr>
        <p:spPr>
          <a:xfrm>
            <a:off x="695520" y="3822036"/>
            <a:ext cx="6095520" cy="4222435"/>
          </a:xfrm>
          <a:prstGeom prst="rect">
            <a:avLst/>
          </a:prstGeom>
          <a:noFill/>
          <a:ln>
            <a:noFill/>
          </a:ln>
        </p:spPr>
        <p:style>
          <a:lnRef idx="0">
            <a:scrgbClr r="0" g="0" b="0"/>
          </a:lnRef>
          <a:fillRef idx="0">
            <a:scrgbClr r="0" g="0" b="0"/>
          </a:fillRef>
          <a:effectRef idx="0">
            <a:scrgbClr r="0" g="0" b="0"/>
          </a:effectRef>
          <a:fontRef idx="minor"/>
        </p:style>
        <p:txBody>
          <a:bodyPr wrap="square"/>
          <a:lstStyle/>
          <a:p>
            <a:pPr>
              <a:spcAft>
                <a:spcPts val="400"/>
              </a:spcAft>
            </a:pPr>
            <a:r>
              <a:rPr sz="1800" b="0" dirty="0">
                <a:latin typeface="Arial"/>
              </a:rPr>
              <a:t>Student: Nguyen Bich Loan</a:t>
            </a:r>
          </a:p>
          <a:p>
            <a:pPr>
              <a:spcAft>
                <a:spcPts val="400"/>
              </a:spcAft>
            </a:pPr>
            <a:r>
              <a:rPr lang="en-VN" sz="1800" b="0" dirty="0">
                <a:latin typeface="Arial"/>
              </a:rPr>
              <a:t>Student </a:t>
            </a:r>
            <a:r>
              <a:rPr sz="1800" b="0" dirty="0">
                <a:latin typeface="Arial"/>
              </a:rPr>
              <a:t>ID: 20235966</a:t>
            </a:r>
          </a:p>
          <a:p>
            <a:pPr>
              <a:spcAft>
                <a:spcPts val="400"/>
              </a:spcAft>
            </a:pPr>
            <a:r>
              <a:rPr lang="en-VN" sz="1800" b="0" dirty="0">
                <a:latin typeface="Arial"/>
              </a:rPr>
              <a:t>Supervisor: Nguyen Hong Quang</a:t>
            </a:r>
            <a:endParaRPr sz="1800" b="0" dirty="0">
              <a:latin typeface="Arial"/>
            </a:endParaRPr>
          </a:p>
        </p:txBody>
      </p:sp>
      <p:sp>
        <p:nvSpPr>
          <p:cNvPr id="2" name="CustomShape 1">
            <a:extLst>
              <a:ext uri="{FF2B5EF4-FFF2-40B4-BE49-F238E27FC236}">
                <a16:creationId xmlns:a16="http://schemas.microsoft.com/office/drawing/2014/main" id="{E15E1814-685B-8C92-E372-56E87B742EA5}"/>
              </a:ext>
            </a:extLst>
          </p:cNvPr>
          <p:cNvSpPr/>
          <p:nvPr/>
        </p:nvSpPr>
        <p:spPr>
          <a:xfrm>
            <a:off x="695519" y="2015657"/>
            <a:ext cx="8969475" cy="607621"/>
          </a:xfrm>
          <a:prstGeom prst="rect">
            <a:avLst/>
          </a:prstGeom>
          <a:noFill/>
          <a:ln>
            <a:noFill/>
          </a:ln>
        </p:spPr>
        <p:style>
          <a:lnRef idx="0">
            <a:scrgbClr r="0" g="0" b="0"/>
          </a:lnRef>
          <a:fillRef idx="0">
            <a:scrgbClr r="0" g="0" b="0"/>
          </a:fillRef>
          <a:effectRef idx="0">
            <a:scrgbClr r="0" g="0" b="0"/>
          </a:effectRef>
          <a:fontRef idx="minor"/>
        </p:style>
        <p:txBody>
          <a:bodyPr wrap="square"/>
          <a:lstStyle/>
          <a:p>
            <a:pPr>
              <a:spcAft>
                <a:spcPts val="400"/>
              </a:spcAft>
            </a:pPr>
            <a:r>
              <a:rPr lang="en-VN" sz="3600" b="1" dirty="0">
                <a:latin typeface="Arial"/>
              </a:rPr>
              <a:t>GRADUATION RESEARCH I REPORT</a:t>
            </a:r>
            <a:endParaRPr sz="3600" b="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0307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Outline</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000" b="0">
                <a:solidFill>
                  <a:srgbClr val="141C2A"/>
                </a:solidFill>
                <a:latin typeface="Arial"/>
              </a:rPr>
              <a:t>•  Problem and motivation</a:t>
            </a:r>
          </a:p>
          <a:p>
            <a:pPr>
              <a:spcAft>
                <a:spcPts val="900"/>
              </a:spcAft>
            </a:pPr>
            <a:r>
              <a:rPr sz="2000" b="0">
                <a:solidFill>
                  <a:srgbClr val="141C2A"/>
                </a:solidFill>
                <a:latin typeface="Arial"/>
              </a:rPr>
              <a:t>•  Data and data formats</a:t>
            </a:r>
          </a:p>
          <a:p>
            <a:pPr>
              <a:spcAft>
                <a:spcPts val="900"/>
              </a:spcAft>
            </a:pPr>
            <a:r>
              <a:rPr sz="2000" b="0">
                <a:solidFill>
                  <a:srgbClr val="141C2A"/>
                </a:solidFill>
                <a:latin typeface="Arial"/>
              </a:rPr>
              <a:t>•  Architecture and pipeline (5 slides)</a:t>
            </a:r>
          </a:p>
          <a:p>
            <a:pPr>
              <a:spcAft>
                <a:spcPts val="900"/>
              </a:spcAft>
            </a:pPr>
            <a:r>
              <a:rPr sz="2000" b="0">
                <a:solidFill>
                  <a:srgbClr val="141C2A"/>
                </a:solidFill>
                <a:latin typeface="Arial"/>
              </a:rPr>
              <a:t>•  Method: adaptive feature fusion + results</a:t>
            </a:r>
          </a:p>
          <a:p>
            <a:pPr>
              <a:spcAft>
                <a:spcPts val="900"/>
              </a:spcAft>
            </a:pPr>
            <a:r>
              <a:rPr sz="2000" b="0">
                <a:solidFill>
                  <a:srgbClr val="141C2A"/>
                </a:solidFill>
                <a:latin typeface="Arial"/>
              </a:rPr>
              <a:t>•  Additional validation and comparison with the original paper</a:t>
            </a:r>
          </a:p>
          <a:p>
            <a:pPr>
              <a:spcAft>
                <a:spcPts val="900"/>
              </a:spcAft>
            </a:pPr>
            <a:r>
              <a:rPr sz="2000" b="0">
                <a:solidFill>
                  <a:srgbClr val="141C2A"/>
                </a:solidFill>
                <a:latin typeface="Arial"/>
              </a:rPr>
              <a:t>•  Conclusion and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1201"/>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Problem and Motivation</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Antimicrobial resistance (AMR) is a major global health threat</a:t>
            </a:r>
          </a:p>
          <a:p>
            <a:pPr>
              <a:spcAft>
                <a:spcPts val="900"/>
              </a:spcAft>
            </a:pPr>
            <a:r>
              <a:rPr sz="2300" b="0">
                <a:solidFill>
                  <a:srgbClr val="141C2A"/>
                </a:solidFill>
                <a:latin typeface="Arial"/>
              </a:rPr>
              <a:t>•  Salmonella has abundant genome + phenotype data</a:t>
            </a:r>
          </a:p>
          <a:p>
            <a:pPr>
              <a:spcAft>
                <a:spcPts val="900"/>
              </a:spcAft>
            </a:pPr>
            <a:r>
              <a:rPr sz="2300" b="0">
                <a:solidFill>
                  <a:srgbClr val="141C2A"/>
                </a:solidFill>
                <a:latin typeface="Arial"/>
              </a:rPr>
              <a:t>•  Task: predict resistant (R=1) vs susceptible (S=0) for one antibiotic</a:t>
            </a:r>
          </a:p>
          <a:p>
            <a:pPr>
              <a:spcAft>
                <a:spcPts val="900"/>
              </a:spcAft>
            </a:pPr>
            <a:r>
              <a:rPr sz="2300" b="0">
                <a:solidFill>
                  <a:srgbClr val="141C2A"/>
                </a:solidFill>
                <a:latin typeface="Arial"/>
              </a:rPr>
              <a:t>•  Goal: an accurate and well-checked predictor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1200"/>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Challenges</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Class imbalance: some drugs only ~6% resistant -&gt; use F1 and AUPRC</a:t>
            </a:r>
          </a:p>
          <a:p>
            <a:pPr>
              <a:spcAft>
                <a:spcPts val="900"/>
              </a:spcAft>
            </a:pPr>
            <a:r>
              <a:rPr sz="2300" b="0">
                <a:solidFill>
                  <a:srgbClr val="141C2A"/>
                </a:solidFill>
                <a:latin typeface="Arial"/>
              </a:rPr>
              <a:t>•  Very large feature space (tens of thousands of genes)</a:t>
            </a:r>
          </a:p>
          <a:p>
            <a:pPr>
              <a:spcAft>
                <a:spcPts val="900"/>
              </a:spcAft>
            </a:pPr>
            <a:r>
              <a:rPr sz="2300" b="0">
                <a:solidFill>
                  <a:srgbClr val="141C2A"/>
                </a:solidFill>
                <a:latin typeface="Arial"/>
              </a:rPr>
              <a:t>•  Resistance mechanisms differ from drug to drug</a:t>
            </a:r>
          </a:p>
          <a:p>
            <a:pPr>
              <a:spcAft>
                <a:spcPts val="900"/>
              </a:spcAft>
            </a:pPr>
            <a:r>
              <a:rPr sz="2300" b="0">
                <a:solidFill>
                  <a:srgbClr val="141C2A"/>
                </a:solidFill>
                <a:latin typeface="Arial"/>
              </a:rPr>
              <a:t>•  Results must hold on new, unseen samples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326"/>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Data: Overview</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1167 genomes, 5 original antibiotics: AMP, AUG, AXO, CHL, FOX</a:t>
            </a:r>
          </a:p>
          <a:p>
            <a:pPr>
              <a:spcAft>
                <a:spcPts val="900"/>
              </a:spcAft>
            </a:pPr>
            <a:r>
              <a:rPr sz="2300" b="0">
                <a:solidFill>
                  <a:srgbClr val="141C2A"/>
                </a:solidFill>
                <a:latin typeface="Arial"/>
              </a:rPr>
              <a:t>•  Features: accessory genes, core SNP, and 50 expert markers</a:t>
            </a:r>
          </a:p>
          <a:p>
            <a:pPr>
              <a:spcAft>
                <a:spcPts val="900"/>
              </a:spcAft>
            </a:pPr>
            <a:r>
              <a:rPr sz="2300" b="0">
                <a:solidFill>
                  <a:srgbClr val="141C2A"/>
                </a:solidFill>
                <a:latin typeface="Arial"/>
              </a:rPr>
              <a:t>•  External BV-BRC: 5 more drugs (TET, CIP, STR, GEN, NAL)</a:t>
            </a:r>
          </a:p>
          <a:p>
            <a:pPr>
              <a:spcAft>
                <a:spcPts val="900"/>
              </a:spcAft>
            </a:pPr>
            <a:r>
              <a:rPr sz="2300" b="0">
                <a:solidFill>
                  <a:srgbClr val="141C2A"/>
                </a:solidFill>
                <a:latin typeface="Arial"/>
              </a:rPr>
              <a:t>•  Labels R/S = 1/0; strongly imbalanced (~6-17% resistant)</a:t>
            </a:r>
          </a:p>
        </p:txBody>
      </p:sp>
      <p:pic>
        <p:nvPicPr>
          <p:cNvPr id="4" name="Picture 3">
            <a:extLst>
              <a:ext uri="{FF2B5EF4-FFF2-40B4-BE49-F238E27FC236}">
                <a16:creationId xmlns:a16="http://schemas.microsoft.com/office/drawing/2014/main" id="{B0783A6E-052A-3BF3-5208-884CE3876A80}"/>
              </a:ext>
            </a:extLst>
          </p:cNvPr>
          <p:cNvPicPr>
            <a:picLocks noChangeAspect="1"/>
          </p:cNvPicPr>
          <p:nvPr/>
        </p:nvPicPr>
        <p:blipFill>
          <a:blip r:embed="rId3"/>
          <a:stretch>
            <a:fillRect/>
          </a:stretch>
        </p:blipFill>
        <p:spPr>
          <a:xfrm>
            <a:off x="1100287" y="3331522"/>
            <a:ext cx="9960946" cy="1479493"/>
          </a:xfrm>
          <a:prstGeom prst="rect">
            <a:avLst/>
          </a:prstGeom>
        </p:spPr>
      </p:pic>
      <p:pic>
        <p:nvPicPr>
          <p:cNvPr id="5" name="Picture 4">
            <a:extLst>
              <a:ext uri="{FF2B5EF4-FFF2-40B4-BE49-F238E27FC236}">
                <a16:creationId xmlns:a16="http://schemas.microsoft.com/office/drawing/2014/main" id="{E9CC766D-7FFC-A8EA-AC26-3381DE3F523A}"/>
              </a:ext>
            </a:extLst>
          </p:cNvPr>
          <p:cNvPicPr>
            <a:picLocks noChangeAspect="1"/>
          </p:cNvPicPr>
          <p:nvPr/>
        </p:nvPicPr>
        <p:blipFill>
          <a:blip r:embed="rId4"/>
          <a:stretch>
            <a:fillRect/>
          </a:stretch>
        </p:blipFill>
        <p:spPr>
          <a:xfrm>
            <a:off x="2901950" y="4709416"/>
            <a:ext cx="6388100" cy="1257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1203"/>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Data: Formats and Matrix Sizes</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000" b="0">
                <a:solidFill>
                  <a:srgbClr val="141C2A"/>
                </a:solidFill>
                <a:latin typeface="Arial"/>
              </a:rPr>
              <a:t>•  Accessory X_acc: 1167 × 18125 (binary presence/absence, 0/1)</a:t>
            </a:r>
          </a:p>
          <a:p>
            <a:pPr>
              <a:spcAft>
                <a:spcPts val="900"/>
              </a:spcAft>
            </a:pPr>
            <a:r>
              <a:rPr sz="2000" b="0">
                <a:solidFill>
                  <a:srgbClr val="141C2A"/>
                </a:solidFill>
                <a:latin typeface="Arial"/>
              </a:rPr>
              <a:t>•  Expert markers X50: 1167 × 50</a:t>
            </a:r>
          </a:p>
          <a:p>
            <a:pPr>
              <a:spcAft>
                <a:spcPts val="900"/>
              </a:spcAft>
            </a:pPr>
            <a:r>
              <a:rPr sz="2000" b="0">
                <a:solidFill>
                  <a:srgbClr val="141C2A"/>
                </a:solidFill>
                <a:latin typeface="Arial"/>
              </a:rPr>
              <a:t>•  Core SNP S: 1167 × 126087 (values 0-4 = A/C/G/T/gap)</a:t>
            </a:r>
          </a:p>
          <a:p>
            <a:pPr>
              <a:spcAft>
                <a:spcPts val="900"/>
              </a:spcAft>
            </a:pPr>
            <a:r>
              <a:rPr sz="2000" b="0">
                <a:solidFill>
                  <a:srgbClr val="141C2A"/>
                </a:solidFill>
                <a:latin typeface="Arial"/>
              </a:rPr>
              <a:t>•  Labels y: 1167 × 1 (0/1)</a:t>
            </a:r>
          </a:p>
          <a:p>
            <a:pPr>
              <a:spcAft>
                <a:spcPts val="900"/>
              </a:spcAft>
            </a:pPr>
            <a:r>
              <a:rPr sz="2000" b="0">
                <a:solidFill>
                  <a:srgbClr val="141C2A"/>
                </a:solidFill>
                <a:latin typeface="Arial"/>
              </a:rPr>
              <a:t>•  All rows aligned by genome accession (GCA_...)</a:t>
            </a:r>
          </a:p>
        </p:txBody>
      </p:sp>
      <p:pic>
        <p:nvPicPr>
          <p:cNvPr id="4" name="Picture 3">
            <a:extLst>
              <a:ext uri="{FF2B5EF4-FFF2-40B4-BE49-F238E27FC236}">
                <a16:creationId xmlns:a16="http://schemas.microsoft.com/office/drawing/2014/main" id="{A6615A9F-6965-8943-62BE-766D1F973EA8}"/>
              </a:ext>
            </a:extLst>
          </p:cNvPr>
          <p:cNvPicPr>
            <a:picLocks noChangeAspect="1"/>
          </p:cNvPicPr>
          <p:nvPr/>
        </p:nvPicPr>
        <p:blipFill>
          <a:blip r:embed="rId3"/>
          <a:stretch>
            <a:fillRect/>
          </a:stretch>
        </p:blipFill>
        <p:spPr>
          <a:xfrm>
            <a:off x="2209800" y="3374570"/>
            <a:ext cx="7772400" cy="1413163"/>
          </a:xfrm>
          <a:prstGeom prst="rect">
            <a:avLst/>
          </a:prstGeom>
        </p:spPr>
      </p:pic>
      <p:pic>
        <p:nvPicPr>
          <p:cNvPr id="5" name="Picture 4">
            <a:extLst>
              <a:ext uri="{FF2B5EF4-FFF2-40B4-BE49-F238E27FC236}">
                <a16:creationId xmlns:a16="http://schemas.microsoft.com/office/drawing/2014/main" id="{5423ABDF-BFF5-6367-04BE-95BC44D665D5}"/>
              </a:ext>
            </a:extLst>
          </p:cNvPr>
          <p:cNvPicPr>
            <a:picLocks noChangeAspect="1"/>
          </p:cNvPicPr>
          <p:nvPr/>
        </p:nvPicPr>
        <p:blipFill>
          <a:blip r:embed="rId4"/>
          <a:stretch>
            <a:fillRect/>
          </a:stretch>
        </p:blipFill>
        <p:spPr>
          <a:xfrm>
            <a:off x="2209800" y="4670159"/>
            <a:ext cx="7772400" cy="13997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1201"/>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Architecture: Overall Pipeline</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Two cooperating layers: prediction + reliability</a:t>
            </a:r>
          </a:p>
          <a:p>
            <a:pPr>
              <a:spcAft>
                <a:spcPts val="900"/>
              </a:spcAft>
            </a:pPr>
            <a:r>
              <a:rPr sz="1600" b="0">
                <a:solidFill>
                  <a:srgbClr val="141C2A"/>
                </a:solidFill>
                <a:latin typeface="Arial"/>
              </a:rPr>
              <a:t>•  Prediction: genomes -&gt; feature construction -&gt; adaptive selection + classifier -&gt; decision</a:t>
            </a:r>
          </a:p>
          <a:p>
            <a:pPr>
              <a:spcAft>
                <a:spcPts val="900"/>
              </a:spcAft>
            </a:pPr>
            <a:r>
              <a:rPr sz="1600" b="0">
                <a:solidFill>
                  <a:srgbClr val="141C2A"/>
                </a:solidFill>
                <a:latin typeface="Arial"/>
              </a:rPr>
              <a:t>•  Reliability layer audits every configuration</a:t>
            </a:r>
          </a:p>
          <a:p>
            <a:pPr>
              <a:spcAft>
                <a:spcPts val="900"/>
              </a:spcAft>
            </a:pPr>
            <a:r>
              <a:rPr sz="1600" b="0">
                <a:solidFill>
                  <a:srgbClr val="141C2A"/>
                </a:solidFill>
                <a:latin typeface="Arial"/>
              </a:rPr>
              <a:t>•  All learning on the training partition only (no leakage)</a:t>
            </a:r>
          </a:p>
        </p:txBody>
      </p:sp>
      <p:pic>
        <p:nvPicPr>
          <p:cNvPr id="4" name="Picture 3" descr="arch_overview.png"/>
          <p:cNvPicPr>
            <a:picLocks noChangeAspect="1"/>
          </p:cNvPicPr>
          <p:nvPr/>
        </p:nvPicPr>
        <p:blipFill>
          <a:blip r:embed="rId3"/>
          <a:stretch>
            <a:fillRect/>
          </a:stretch>
        </p:blipFill>
        <p:spPr>
          <a:xfrm>
            <a:off x="3372584" y="2599032"/>
            <a:ext cx="5949546" cy="36257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60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Architecture: Inputs and Partitioning</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Inputs: X_acc (1167×18125), X50 (1167×50), core SNP S, labels y (1167×1)</a:t>
            </a:r>
          </a:p>
          <a:p>
            <a:pPr>
              <a:spcAft>
                <a:spcPts val="900"/>
              </a:spcAft>
            </a:pPr>
            <a:r>
              <a:rPr sz="2300" b="0">
                <a:solidFill>
                  <a:srgbClr val="141C2A"/>
                </a:solidFill>
                <a:latin typeface="Arial"/>
              </a:rPr>
              <a:t>•  Repeated stratified K-fold: K=5, R=5 repeats (25 folds)</a:t>
            </a:r>
          </a:p>
          <a:p>
            <a:pPr>
              <a:spcAft>
                <a:spcPts val="900"/>
              </a:spcAft>
            </a:pPr>
            <a:r>
              <a:rPr sz="2300" b="0">
                <a:solidFill>
                  <a:srgbClr val="141C2A"/>
                </a:solidFill>
                <a:latin typeface="Arial"/>
              </a:rPr>
              <a:t>•  Per fold: train ≈ 933 × 18125, test ≈ 234 × 18125</a:t>
            </a:r>
          </a:p>
          <a:p>
            <a:pPr>
              <a:spcAft>
                <a:spcPts val="900"/>
              </a:spcAft>
            </a:pPr>
            <a:r>
              <a:rPr sz="2300" b="0">
                <a:solidFill>
                  <a:srgbClr val="141C2A"/>
                </a:solidFill>
                <a:latin typeface="Arial"/>
              </a:rPr>
              <a:t>•  Lineage-aware evaluation replaces this with a grouped split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4"/>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Architecture: Feature Modules</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chi-squared top-k: keep 200 columns -&gt; n_tr × 200</a:t>
            </a:r>
          </a:p>
          <a:p>
            <a:pPr>
              <a:spcAft>
                <a:spcPts val="900"/>
              </a:spcAft>
            </a:pPr>
            <a:r>
              <a:rPr sz="1600" b="0">
                <a:solidFill>
                  <a:srgbClr val="141C2A"/>
                </a:solidFill>
                <a:latin typeface="Arial"/>
              </a:rPr>
              <a:t>•  Ensemble: average chi2 + L1-logistic + RF-importance rankings</a:t>
            </a:r>
          </a:p>
          <a:p>
            <a:pPr>
              <a:spcAft>
                <a:spcPts val="900"/>
              </a:spcAft>
            </a:pPr>
            <a:r>
              <a:rPr sz="1600" b="0">
                <a:solidFill>
                  <a:srgbClr val="141C2A"/>
                </a:solidFill>
                <a:latin typeface="Arial"/>
              </a:rPr>
              <a:t>•  Sample-similarity graph: 15-NN Jaccard -&gt; n_tr × 7</a:t>
            </a:r>
          </a:p>
          <a:p>
            <a:pPr>
              <a:spcAft>
                <a:spcPts val="900"/>
              </a:spcAft>
            </a:pPr>
            <a:r>
              <a:rPr sz="1600" b="0">
                <a:solidFill>
                  <a:srgbClr val="141C2A"/>
                </a:solidFill>
                <a:latin typeface="Arial"/>
              </a:rPr>
              <a:t>•  Gene-graph embedding: SVD of a 200×200 matrix, 16 comps -&gt; n_tr × 17</a:t>
            </a:r>
          </a:p>
        </p:txBody>
      </p:sp>
      <p:pic>
        <p:nvPicPr>
          <p:cNvPr id="4" name="Picture 3" descr="arch_feature_modules.png"/>
          <p:cNvPicPr>
            <a:picLocks noChangeAspect="1"/>
          </p:cNvPicPr>
          <p:nvPr/>
        </p:nvPicPr>
        <p:blipFill>
          <a:blip r:embed="rId3"/>
          <a:stretch>
            <a:fillRect/>
          </a:stretch>
        </p:blipFill>
        <p:spPr>
          <a:xfrm>
            <a:off x="3373910" y="2907792"/>
            <a:ext cx="5444178" cy="2761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60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Architecture: Classifier, Threshold and Metrics</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Models: Logistic Regression, Random Forest, XGBoost (class-weight balanced)</a:t>
            </a:r>
          </a:p>
          <a:p>
            <a:pPr>
              <a:spcAft>
                <a:spcPts val="900"/>
              </a:spcAft>
            </a:pPr>
            <a:r>
              <a:rPr sz="2300" b="0">
                <a:solidFill>
                  <a:srgbClr val="141C2A"/>
                </a:solidFill>
                <a:latin typeface="Arial"/>
              </a:rPr>
              <a:t>•  Probabilities p in [0,1]; for LR: p = σ(w·x + b)</a:t>
            </a:r>
          </a:p>
          <a:p>
            <a:pPr>
              <a:spcAft>
                <a:spcPts val="900"/>
              </a:spcAft>
            </a:pPr>
            <a:r>
              <a:rPr sz="2300" b="0">
                <a:solidFill>
                  <a:srgbClr val="141C2A"/>
                </a:solidFill>
                <a:latin typeface="Arial"/>
              </a:rPr>
              <a:t>•  Threshold τ tuned on validation to maximize F1; ŷ = 1[p ≥ τ]</a:t>
            </a:r>
          </a:p>
          <a:p>
            <a:pPr>
              <a:spcAft>
                <a:spcPts val="900"/>
              </a:spcAft>
            </a:pPr>
            <a:r>
              <a:rPr sz="2300" b="0">
                <a:solidFill>
                  <a:srgbClr val="141C2A"/>
                </a:solidFill>
                <a:latin typeface="Arial"/>
              </a:rPr>
              <a:t>•  Metrics: F1, balanced accuracy, AUPRC (for imbalance)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01123"/>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Architecture: Adaptive Selection and Reliability</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dirty="0">
                <a:solidFill>
                  <a:srgbClr val="141C2A"/>
                </a:solidFill>
                <a:latin typeface="Arial"/>
              </a:rPr>
              <a:t>•  Adaptive: pick argmax over (module × model) grid by mean CV F1, per drug</a:t>
            </a:r>
          </a:p>
          <a:p>
            <a:pPr>
              <a:spcAft>
                <a:spcPts val="900"/>
              </a:spcAft>
            </a:pPr>
            <a:r>
              <a:rPr sz="1600" b="0" dirty="0">
                <a:solidFill>
                  <a:srgbClr val="141C2A"/>
                </a:solidFill>
                <a:latin typeface="Arial"/>
              </a:rPr>
              <a:t>•  Statistical test: Nadeau-Bengio corrected t-test (n=25) + Holm</a:t>
            </a:r>
          </a:p>
          <a:p>
            <a:pPr>
              <a:spcAft>
                <a:spcPts val="900"/>
              </a:spcAft>
            </a:pPr>
            <a:r>
              <a:rPr sz="1600" b="0" dirty="0">
                <a:solidFill>
                  <a:srgbClr val="141C2A"/>
                </a:solidFill>
                <a:latin typeface="Arial"/>
              </a:rPr>
              <a:t>•  Lineage-aware: SNP Hamming distance 1167×1167 -&gt; Ward clusters -&gt; </a:t>
            </a:r>
            <a:r>
              <a:rPr sz="1600" b="0" dirty="0" err="1">
                <a:solidFill>
                  <a:srgbClr val="141C2A"/>
                </a:solidFill>
                <a:latin typeface="Arial"/>
              </a:rPr>
              <a:t>GroupKFold</a:t>
            </a:r>
            <a:endParaRPr sz="1600" b="0" dirty="0">
              <a:solidFill>
                <a:srgbClr val="141C2A"/>
              </a:solidFill>
              <a:latin typeface="Arial"/>
            </a:endParaRPr>
          </a:p>
          <a:p>
            <a:pPr>
              <a:spcAft>
                <a:spcPts val="900"/>
              </a:spcAft>
            </a:pPr>
            <a:r>
              <a:rPr sz="1600" b="0" dirty="0">
                <a:solidFill>
                  <a:srgbClr val="141C2A"/>
                </a:solidFill>
                <a:latin typeface="Arial"/>
              </a:rPr>
              <a:t>•  Mutation features: QRDR </a:t>
            </a:r>
            <a:r>
              <a:rPr sz="1600" b="0" dirty="0" err="1">
                <a:solidFill>
                  <a:srgbClr val="141C2A"/>
                </a:solidFill>
                <a:latin typeface="Arial"/>
              </a:rPr>
              <a:t>gyrA</a:t>
            </a:r>
            <a:r>
              <a:rPr sz="1600" b="0" dirty="0">
                <a:solidFill>
                  <a:srgbClr val="141C2A"/>
                </a:solidFill>
                <a:latin typeface="Arial"/>
              </a:rPr>
              <a:t>/</a:t>
            </a:r>
            <a:r>
              <a:rPr sz="1600" b="0" dirty="0" err="1">
                <a:solidFill>
                  <a:srgbClr val="141C2A"/>
                </a:solidFill>
                <a:latin typeface="Arial"/>
              </a:rPr>
              <a:t>parC</a:t>
            </a:r>
            <a:r>
              <a:rPr sz="1600" b="0" dirty="0">
                <a:solidFill>
                  <a:srgbClr val="141C2A"/>
                </a:solidFill>
                <a:latin typeface="Arial"/>
              </a:rPr>
              <a:t> -&gt; M of size n × 4</a:t>
            </a:r>
          </a:p>
        </p:txBody>
      </p:sp>
      <p:pic>
        <p:nvPicPr>
          <p:cNvPr id="4" name="Picture 3" descr="arch_reliability.png"/>
          <p:cNvPicPr>
            <a:picLocks noChangeAspect="1"/>
          </p:cNvPicPr>
          <p:nvPr/>
        </p:nvPicPr>
        <p:blipFill>
          <a:blip r:embed="rId3"/>
          <a:stretch>
            <a:fillRect/>
          </a:stretch>
        </p:blipFill>
        <p:spPr>
          <a:xfrm>
            <a:off x="2571178" y="2539345"/>
            <a:ext cx="7049644" cy="3575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60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RQ1: Accessory vs Core SNP</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Accessory beats core SNP on all 5 drugs (F1 +0.08 to +0.32)</a:t>
            </a:r>
          </a:p>
          <a:p>
            <a:pPr>
              <a:spcAft>
                <a:spcPts val="900"/>
              </a:spcAft>
            </a:pPr>
            <a:r>
              <a:rPr sz="1600" b="0">
                <a:solidFill>
                  <a:srgbClr val="141C2A"/>
                </a:solidFill>
                <a:latin typeface="Arial"/>
              </a:rPr>
              <a:t>•  Combining both ~ accessory alone; core SNP adds little</a:t>
            </a:r>
          </a:p>
          <a:p>
            <a:pPr>
              <a:spcAft>
                <a:spcPts val="900"/>
              </a:spcAft>
            </a:pPr>
            <a:r>
              <a:rPr sz="1600" b="0">
                <a:solidFill>
                  <a:srgbClr val="141C2A"/>
                </a:solidFill>
                <a:latin typeface="Arial"/>
              </a:rPr>
              <a:t>•  Accessory genome (mobile genes, plasmids) is the main signal</a:t>
            </a:r>
          </a:p>
        </p:txBody>
      </p:sp>
      <p:pic>
        <p:nvPicPr>
          <p:cNvPr id="4" name="Picture 3" descr="fig1_accessory_vs_snp.png"/>
          <p:cNvPicPr>
            <a:picLocks noChangeAspect="1"/>
          </p:cNvPicPr>
          <p:nvPr/>
        </p:nvPicPr>
        <p:blipFill>
          <a:blip r:embed="rId3"/>
          <a:stretch>
            <a:fillRect/>
          </a:stretch>
        </p:blipFill>
        <p:spPr>
          <a:xfrm>
            <a:off x="3679698" y="2907792"/>
            <a:ext cx="4832604" cy="27614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Adaptive Feature Fusion (Idea)</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Several feature modules, one classifier from three</a:t>
            </a:r>
          </a:p>
          <a:p>
            <a:pPr>
              <a:spcAft>
                <a:spcPts val="900"/>
              </a:spcAft>
            </a:pPr>
            <a:r>
              <a:rPr sz="2300" b="0">
                <a:solidFill>
                  <a:srgbClr val="141C2A"/>
                </a:solidFill>
                <a:latin typeface="Arial"/>
              </a:rPr>
              <a:t>•  For each drug, pick the best module × classifier</a:t>
            </a:r>
          </a:p>
          <a:p>
            <a:pPr>
              <a:spcAft>
                <a:spcPts val="900"/>
              </a:spcAft>
            </a:pPr>
            <a:r>
              <a:rPr sz="2300" b="0">
                <a:solidFill>
                  <a:srgbClr val="141C2A"/>
                </a:solidFill>
                <a:latin typeface="Arial"/>
              </a:rPr>
              <a:t>•  No single fixed pipeline is best for every drug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6"/>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Results: Adaptive Fusion (Direction O)</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High performance: F1 0.89 - 0.97, balanced accuracy up to 0.985</a:t>
            </a:r>
          </a:p>
          <a:p>
            <a:pPr>
              <a:spcAft>
                <a:spcPts val="900"/>
              </a:spcAft>
            </a:pPr>
            <a:r>
              <a:rPr sz="1600" b="0">
                <a:solidFill>
                  <a:srgbClr val="141C2A"/>
                </a:solidFill>
                <a:latin typeface="Arial"/>
              </a:rPr>
              <a:t>•  Improves F1 on 4/5 drugs vs the 50 expert markers</a:t>
            </a:r>
          </a:p>
          <a:p>
            <a:pPr>
              <a:spcAft>
                <a:spcPts val="900"/>
              </a:spcAft>
            </a:pPr>
            <a:r>
              <a:rPr sz="1600" b="0">
                <a:solidFill>
                  <a:srgbClr val="141C2A"/>
                </a:solidFill>
                <a:latin typeface="Arial"/>
              </a:rPr>
              <a:t>•  Each drug picks a different best module</a:t>
            </a:r>
          </a:p>
        </p:txBody>
      </p:sp>
      <p:pic>
        <p:nvPicPr>
          <p:cNvPr id="4" name="Picture 3" descr="fig_directionO.png"/>
          <p:cNvPicPr>
            <a:picLocks noChangeAspect="1"/>
          </p:cNvPicPr>
          <p:nvPr/>
        </p:nvPicPr>
        <p:blipFill>
          <a:blip r:embed="rId3"/>
          <a:stretch>
            <a:fillRect/>
          </a:stretch>
        </p:blipFill>
        <p:spPr>
          <a:xfrm>
            <a:off x="3365240" y="2907792"/>
            <a:ext cx="5461518" cy="27614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EAE53-4241-8F3D-F03F-F833E01F66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12930F-3882-3321-01E3-DE7BA322504D}"/>
              </a:ext>
            </a:extLst>
          </p:cNvPr>
          <p:cNvSpPr txBox="1"/>
          <p:nvPr/>
        </p:nvSpPr>
        <p:spPr>
          <a:xfrm>
            <a:off x="548640" y="-90366"/>
            <a:ext cx="11064240" cy="868680"/>
          </a:xfrm>
          <a:prstGeom prst="rect">
            <a:avLst/>
          </a:prstGeom>
          <a:noFill/>
        </p:spPr>
        <p:txBody>
          <a:bodyPr wrap="square" anchor="ctr">
            <a:spAutoFit/>
          </a:bodyPr>
          <a:lstStyle/>
          <a:p>
            <a:pPr>
              <a:spcAft>
                <a:spcPts val="400"/>
              </a:spcAft>
            </a:pPr>
            <a:r>
              <a:rPr sz="2600" b="1" dirty="0">
                <a:solidFill>
                  <a:srgbClr val="FFFFFF"/>
                </a:solidFill>
                <a:latin typeface="Arial"/>
              </a:rPr>
              <a:t>Comparison with the Original Paper</a:t>
            </a:r>
          </a:p>
        </p:txBody>
      </p:sp>
      <p:pic>
        <p:nvPicPr>
          <p:cNvPr id="4" name="Picture 3">
            <a:extLst>
              <a:ext uri="{FF2B5EF4-FFF2-40B4-BE49-F238E27FC236}">
                <a16:creationId xmlns:a16="http://schemas.microsoft.com/office/drawing/2014/main" id="{945CF2D1-1038-34E2-37F3-AD366142B281}"/>
              </a:ext>
            </a:extLst>
          </p:cNvPr>
          <p:cNvPicPr>
            <a:picLocks noChangeAspect="1"/>
          </p:cNvPicPr>
          <p:nvPr/>
        </p:nvPicPr>
        <p:blipFill>
          <a:blip r:embed="rId3"/>
          <a:stretch>
            <a:fillRect/>
          </a:stretch>
        </p:blipFill>
        <p:spPr>
          <a:xfrm>
            <a:off x="298329" y="1565180"/>
            <a:ext cx="11595341" cy="3727640"/>
          </a:xfrm>
          <a:prstGeom prst="rect">
            <a:avLst/>
          </a:prstGeom>
        </p:spPr>
      </p:pic>
    </p:spTree>
    <p:extLst>
      <p:ext uri="{BB962C8B-B14F-4D97-AF65-F5344CB8AC3E}">
        <p14:creationId xmlns:p14="http://schemas.microsoft.com/office/powerpoint/2010/main" val="2606675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607"/>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Additional Validation</a:t>
            </a:r>
          </a:p>
        </p:txBody>
      </p:sp>
      <p:sp>
        <p:nvSpPr>
          <p:cNvPr id="3" name="TextBox 2"/>
          <p:cNvSpPr txBox="1"/>
          <p:nvPr/>
        </p:nvSpPr>
        <p:spPr>
          <a:xfrm>
            <a:off x="640080" y="1234440"/>
            <a:ext cx="10881360" cy="1854354"/>
          </a:xfrm>
          <a:prstGeom prst="rect">
            <a:avLst/>
          </a:prstGeom>
          <a:noFill/>
        </p:spPr>
        <p:txBody>
          <a:bodyPr wrap="square">
            <a:spAutoFit/>
          </a:bodyPr>
          <a:lstStyle/>
          <a:p>
            <a:pPr>
              <a:spcAft>
                <a:spcPts val="900"/>
              </a:spcAft>
            </a:pPr>
            <a:r>
              <a:rPr lang="en-VN" sz="2300" dirty="0">
                <a:solidFill>
                  <a:srgbClr val="141C2A"/>
                </a:solidFill>
                <a:latin typeface="Arial"/>
              </a:rPr>
              <a:t>C</a:t>
            </a:r>
            <a:r>
              <a:rPr sz="2300" b="0" dirty="0">
                <a:solidFill>
                  <a:srgbClr val="141C2A"/>
                </a:solidFill>
                <a:latin typeface="Arial"/>
              </a:rPr>
              <a:t>heck the results more thoroughly than the original paper:</a:t>
            </a:r>
          </a:p>
          <a:p>
            <a:pPr>
              <a:spcAft>
                <a:spcPts val="900"/>
              </a:spcAft>
            </a:pPr>
            <a:r>
              <a:rPr sz="2300" b="0" dirty="0">
                <a:solidFill>
                  <a:srgbClr val="141C2A"/>
                </a:solidFill>
                <a:latin typeface="Arial"/>
              </a:rPr>
              <a:t>•  Repeated cross-validation and a corrected significance test</a:t>
            </a:r>
          </a:p>
          <a:p>
            <a:pPr>
              <a:spcAft>
                <a:spcPts val="900"/>
              </a:spcAft>
            </a:pPr>
            <a:r>
              <a:rPr sz="2300" b="0" dirty="0">
                <a:solidFill>
                  <a:srgbClr val="141C2A"/>
                </a:solidFill>
                <a:latin typeface="Arial"/>
              </a:rPr>
              <a:t>•  Lineage-aware split and external multi-drug test</a:t>
            </a:r>
          </a:p>
          <a:p>
            <a:pPr>
              <a:spcAft>
                <a:spcPts val="900"/>
              </a:spcAft>
            </a:pPr>
            <a:r>
              <a:rPr sz="2300" b="0" dirty="0">
                <a:solidFill>
                  <a:srgbClr val="141C2A"/>
                </a:solidFill>
                <a:latin typeface="Arial"/>
              </a:rPr>
              <a:t>•  Calibration and real mutation analysis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7"/>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Statistical Robustness</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Repeated cross-validation (5 × 5 folds) for stable scores</a:t>
            </a:r>
          </a:p>
          <a:p>
            <a:pPr>
              <a:spcAft>
                <a:spcPts val="900"/>
              </a:spcAft>
            </a:pPr>
            <a:r>
              <a:rPr sz="2300" b="0">
                <a:solidFill>
                  <a:srgbClr val="141C2A"/>
                </a:solidFill>
                <a:latin typeface="Arial"/>
              </a:rPr>
              <a:t>•  Corrected t-test (Nadeau-Bengio) for a fair comparison</a:t>
            </a:r>
          </a:p>
          <a:p>
            <a:pPr>
              <a:spcAft>
                <a:spcPts val="900"/>
              </a:spcAft>
            </a:pPr>
            <a:r>
              <a:rPr sz="2300" b="0">
                <a:solidFill>
                  <a:srgbClr val="141C2A"/>
                </a:solidFill>
                <a:latin typeface="Arial"/>
              </a:rPr>
              <a:t>•  Shuffled-label control gives ~0.5 -&gt; no data leakage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01124"/>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Lineage-aware Evaluation</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Split so the same lineage is not in both train and test</a:t>
            </a:r>
          </a:p>
          <a:p>
            <a:pPr>
              <a:spcAft>
                <a:spcPts val="900"/>
              </a:spcAft>
            </a:pPr>
            <a:r>
              <a:rPr sz="1600" b="0">
                <a:solidFill>
                  <a:srgbClr val="141C2A"/>
                </a:solidFill>
                <a:latin typeface="Arial"/>
              </a:rPr>
              <a:t>•  AXO, FOX (and external TET) stay strong -&gt; real mechanism</a:t>
            </a:r>
          </a:p>
          <a:p>
            <a:pPr>
              <a:spcAft>
                <a:spcPts val="900"/>
              </a:spcAft>
            </a:pPr>
            <a:r>
              <a:rPr sz="1600" b="0">
                <a:solidFill>
                  <a:srgbClr val="141C2A"/>
                </a:solidFill>
                <a:latin typeface="Arial"/>
              </a:rPr>
              <a:t>•  Some drugs depend more on lineage -&gt; noted as a limitation</a:t>
            </a:r>
          </a:p>
        </p:txBody>
      </p:sp>
      <p:pic>
        <p:nvPicPr>
          <p:cNvPr id="4" name="Picture 3" descr="fig3_lineage_original.png"/>
          <p:cNvPicPr>
            <a:picLocks noChangeAspect="1"/>
          </p:cNvPicPr>
          <p:nvPr/>
        </p:nvPicPr>
        <p:blipFill>
          <a:blip r:embed="rId3"/>
          <a:stretch>
            <a:fillRect/>
          </a:stretch>
        </p:blipFill>
        <p:spPr>
          <a:xfrm>
            <a:off x="3272117" y="2473722"/>
            <a:ext cx="5647765" cy="322729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68852"/>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External Validation</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BV-BRC: 5 more drugs (TET, CIP, STR, GEN, NAL)</a:t>
            </a:r>
          </a:p>
          <a:p>
            <a:pPr>
              <a:spcAft>
                <a:spcPts val="900"/>
              </a:spcAft>
            </a:pPr>
            <a:r>
              <a:rPr sz="1600" b="0">
                <a:solidFill>
                  <a:srgbClr val="141C2A"/>
                </a:solidFill>
                <a:latin typeface="Arial"/>
              </a:rPr>
              <a:t>•  Strong F1 on TET/CIP/GEN; NAL is the hardest case</a:t>
            </a:r>
          </a:p>
          <a:p>
            <a:pPr>
              <a:spcAft>
                <a:spcPts val="900"/>
              </a:spcAft>
            </a:pPr>
            <a:r>
              <a:rPr sz="1600" b="0">
                <a:solidFill>
                  <a:srgbClr val="141C2A"/>
                </a:solidFill>
                <a:latin typeface="Arial"/>
              </a:rPr>
              <a:t>•  Real prevalence and MLST group-aware split</a:t>
            </a:r>
          </a:p>
        </p:txBody>
      </p:sp>
      <p:pic>
        <p:nvPicPr>
          <p:cNvPr id="4" name="Picture 3" descr="fig4_external_mlst.png"/>
          <p:cNvPicPr>
            <a:picLocks noChangeAspect="1"/>
          </p:cNvPicPr>
          <p:nvPr/>
        </p:nvPicPr>
        <p:blipFill>
          <a:blip r:embed="rId3"/>
          <a:stretch>
            <a:fillRect/>
          </a:stretch>
        </p:blipFill>
        <p:spPr>
          <a:xfrm>
            <a:off x="3679698" y="2907792"/>
            <a:ext cx="4832604" cy="27614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79608"/>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Calibration and Screening</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Isotonic calibration: ECE ~ 0.005 - 0.01 (trustworthy probabilities)</a:t>
            </a:r>
          </a:p>
          <a:p>
            <a:pPr>
              <a:spcAft>
                <a:spcPts val="900"/>
              </a:spcAft>
            </a:pPr>
            <a:r>
              <a:rPr sz="1600" b="0">
                <a:solidFill>
                  <a:srgbClr val="141C2A"/>
                </a:solidFill>
                <a:latin typeface="Arial"/>
              </a:rPr>
              <a:t>•  NPV 0.98 - 0.998 -&gt; good rule-out screening tool</a:t>
            </a:r>
          </a:p>
          <a:p>
            <a:pPr>
              <a:spcAft>
                <a:spcPts val="900"/>
              </a:spcAft>
            </a:pPr>
            <a:r>
              <a:rPr sz="1600" b="0">
                <a:solidFill>
                  <a:srgbClr val="141C2A"/>
                </a:solidFill>
                <a:latin typeface="Arial"/>
              </a:rPr>
              <a:t>•  Positive net benefit across thresholds (decision curve)</a:t>
            </a:r>
          </a:p>
        </p:txBody>
      </p:sp>
      <p:pic>
        <p:nvPicPr>
          <p:cNvPr id="4" name="Picture 3" descr="fig6_calibration.png"/>
          <p:cNvPicPr>
            <a:picLocks noChangeAspect="1"/>
          </p:cNvPicPr>
          <p:nvPr/>
        </p:nvPicPr>
        <p:blipFill>
          <a:blip r:embed="rId3"/>
          <a:stretch>
            <a:fillRect/>
          </a:stretch>
        </p:blipFill>
        <p:spPr>
          <a:xfrm>
            <a:off x="3679698" y="2907792"/>
            <a:ext cx="4832604" cy="27614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01124"/>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QRDR Mutation Analysis</a:t>
            </a:r>
          </a:p>
        </p:txBody>
      </p:sp>
      <p:sp>
        <p:nvSpPr>
          <p:cNvPr id="3" name="TextBox 2"/>
          <p:cNvSpPr txBox="1"/>
          <p:nvPr/>
        </p:nvSpPr>
        <p:spPr>
          <a:xfrm>
            <a:off x="548640" y="1078992"/>
            <a:ext cx="11064240" cy="1691640"/>
          </a:xfrm>
          <a:prstGeom prst="rect">
            <a:avLst/>
          </a:prstGeom>
          <a:noFill/>
        </p:spPr>
        <p:txBody>
          <a:bodyPr wrap="square">
            <a:spAutoFit/>
          </a:bodyPr>
          <a:lstStyle/>
          <a:p>
            <a:pPr>
              <a:spcAft>
                <a:spcPts val="900"/>
              </a:spcAft>
            </a:pPr>
            <a:r>
              <a:rPr sz="1600" b="0">
                <a:solidFill>
                  <a:srgbClr val="141C2A"/>
                </a:solidFill>
                <a:latin typeface="Arial"/>
              </a:rPr>
              <a:t>•  Real gyrA (S83/D87) and parC (S80) mutation calling</a:t>
            </a:r>
          </a:p>
          <a:p>
            <a:pPr>
              <a:spcAft>
                <a:spcPts val="900"/>
              </a:spcAft>
            </a:pPr>
            <a:r>
              <a:rPr sz="1600" b="0">
                <a:solidFill>
                  <a:srgbClr val="141C2A"/>
                </a:solidFill>
                <a:latin typeface="Arial"/>
              </a:rPr>
              <a:t>•  Mutation vs resistance: 0.75 - 0.88 vs 0.04 - 0.15</a:t>
            </a:r>
          </a:p>
          <a:p>
            <a:pPr>
              <a:spcAft>
                <a:spcPts val="900"/>
              </a:spcAft>
            </a:pPr>
            <a:r>
              <a:rPr sz="1600" b="0">
                <a:solidFill>
                  <a:srgbClr val="141C2A"/>
                </a:solidFill>
                <a:latin typeface="Arial"/>
              </a:rPr>
              <a:t>•  Mechanism features are useful for quinolones</a:t>
            </a:r>
          </a:p>
        </p:txBody>
      </p:sp>
      <p:pic>
        <p:nvPicPr>
          <p:cNvPr id="4" name="Picture 3" descr="fig5_mutation_qrdr.png"/>
          <p:cNvPicPr>
            <a:picLocks noChangeAspect="1"/>
          </p:cNvPicPr>
          <p:nvPr/>
        </p:nvPicPr>
        <p:blipFill>
          <a:blip r:embed="rId3"/>
          <a:stretch>
            <a:fillRect/>
          </a:stretch>
        </p:blipFill>
        <p:spPr>
          <a:xfrm>
            <a:off x="1953768" y="2907792"/>
            <a:ext cx="8284464" cy="27614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6"/>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Summary</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Accessory genome is the main predictive signal</a:t>
            </a:r>
          </a:p>
          <a:p>
            <a:pPr>
              <a:spcAft>
                <a:spcPts val="900"/>
              </a:spcAft>
            </a:pPr>
            <a:r>
              <a:rPr sz="2300" b="0">
                <a:solidFill>
                  <a:srgbClr val="141C2A"/>
                </a:solidFill>
                <a:latin typeface="Arial"/>
              </a:rPr>
              <a:t>•  Adaptive fusion improves F1 on 4/5 drugs; each drug its own module</a:t>
            </a:r>
          </a:p>
          <a:p>
            <a:pPr>
              <a:spcAft>
                <a:spcPts val="900"/>
              </a:spcAft>
            </a:pPr>
            <a:r>
              <a:rPr sz="2300" b="0">
                <a:solidFill>
                  <a:srgbClr val="141C2A"/>
                </a:solidFill>
                <a:latin typeface="Arial"/>
              </a:rPr>
              <a:t>•  Thorough extra validation: statistical, lineage, external, calibration, mutation</a:t>
            </a:r>
          </a:p>
          <a:p>
            <a:pPr>
              <a:spcAft>
                <a:spcPts val="900"/>
              </a:spcAft>
            </a:pPr>
            <a:r>
              <a:rPr sz="2300" b="0">
                <a:solidFill>
                  <a:srgbClr val="141C2A"/>
                </a:solidFill>
                <a:latin typeface="Arial"/>
              </a:rPr>
              <a:t>•  A more complete study than the original paper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6"/>
            <a:ext cx="11064240" cy="868680"/>
          </a:xfrm>
          <a:prstGeom prst="rect">
            <a:avLst/>
          </a:prstGeom>
          <a:noFill/>
        </p:spPr>
        <p:txBody>
          <a:bodyPr wrap="square" anchor="ctr">
            <a:spAutoFit/>
          </a:bodyPr>
          <a:lstStyle/>
          <a:p>
            <a:pPr>
              <a:spcAft>
                <a:spcPts val="400"/>
              </a:spcAft>
            </a:pPr>
            <a:r>
              <a:rPr sz="2600" b="1" dirty="0">
                <a:solidFill>
                  <a:srgbClr val="FFFFFF"/>
                </a:solidFill>
                <a:latin typeface="Arial"/>
              </a:rPr>
              <a:t>Comparison with the Original Paper</a:t>
            </a:r>
          </a:p>
        </p:txBody>
      </p:sp>
      <p:graphicFrame>
        <p:nvGraphicFramePr>
          <p:cNvPr id="3" name="Table 2"/>
          <p:cNvGraphicFramePr>
            <a:graphicFrameLocks noGrp="1"/>
          </p:cNvGraphicFramePr>
          <p:nvPr/>
        </p:nvGraphicFramePr>
        <p:xfrm>
          <a:off x="457200" y="1417320"/>
          <a:ext cx="11247120" cy="402336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74765">
                <a:tc>
                  <a:txBody>
                    <a:bodyPr/>
                    <a:lstStyle/>
                    <a:p>
                      <a:r>
                        <a:rPr sz="1400" b="1">
                          <a:solidFill>
                            <a:srgbClr val="FFFFFF"/>
                          </a:solidFill>
                          <a:latin typeface="Arial"/>
                        </a:rPr>
                        <a:t>Aspect</a:t>
                      </a:r>
                    </a:p>
                  </a:txBody>
                  <a:tcPr>
                    <a:solidFill>
                      <a:srgbClr val="14304A"/>
                    </a:solidFill>
                  </a:tcPr>
                </a:tc>
                <a:tc>
                  <a:txBody>
                    <a:bodyPr/>
                    <a:lstStyle/>
                    <a:p>
                      <a:r>
                        <a:rPr sz="1400" b="1">
                          <a:solidFill>
                            <a:srgbClr val="FFFFFF"/>
                          </a:solidFill>
                          <a:latin typeface="Arial"/>
                        </a:rPr>
                        <a:t>Original paper</a:t>
                      </a:r>
                    </a:p>
                  </a:txBody>
                  <a:tcPr>
                    <a:solidFill>
                      <a:srgbClr val="14304A"/>
                    </a:solidFill>
                  </a:tcPr>
                </a:tc>
                <a:tc>
                  <a:txBody>
                    <a:bodyPr/>
                    <a:lstStyle/>
                    <a:p>
                      <a:r>
                        <a:rPr sz="1400" b="1">
                          <a:solidFill>
                            <a:srgbClr val="FFFFFF"/>
                          </a:solidFill>
                          <a:latin typeface="Arial"/>
                        </a:rPr>
                        <a:t>This project</a:t>
                      </a:r>
                    </a:p>
                  </a:txBody>
                  <a:tcPr>
                    <a:solidFill>
                      <a:srgbClr val="14304A"/>
                    </a:solidFill>
                  </a:tcPr>
                </a:tc>
                <a:extLst>
                  <a:ext uri="{0D108BD9-81ED-4DB2-BD59-A6C34878D82A}">
                    <a16:rowId xmlns:a16="http://schemas.microsoft.com/office/drawing/2014/main" val="10000"/>
                  </a:ext>
                </a:extLst>
              </a:tr>
              <a:tr h="574765">
                <a:tc>
                  <a:txBody>
                    <a:bodyPr/>
                    <a:lstStyle/>
                    <a:p>
                      <a:r>
                        <a:rPr sz="1400" b="0">
                          <a:solidFill>
                            <a:srgbClr val="141C2A"/>
                          </a:solidFill>
                          <a:latin typeface="Arial"/>
                        </a:rPr>
                        <a:t>Feature approach</a:t>
                      </a:r>
                    </a:p>
                  </a:txBody>
                  <a:tcPr>
                    <a:solidFill>
                      <a:srgbClr val="FFFFFF"/>
                    </a:solidFill>
                  </a:tcPr>
                </a:tc>
                <a:tc>
                  <a:txBody>
                    <a:bodyPr/>
                    <a:lstStyle/>
                    <a:p>
                      <a:r>
                        <a:rPr sz="1400" b="0">
                          <a:solidFill>
                            <a:srgbClr val="141C2A"/>
                          </a:solidFill>
                          <a:latin typeface="Arial"/>
                        </a:rPr>
                        <a:t>Fixed 50 expert markers</a:t>
                      </a:r>
                    </a:p>
                  </a:txBody>
                  <a:tcPr>
                    <a:solidFill>
                      <a:srgbClr val="FFFFFF"/>
                    </a:solidFill>
                  </a:tcPr>
                </a:tc>
                <a:tc>
                  <a:txBody>
                    <a:bodyPr/>
                    <a:lstStyle/>
                    <a:p>
                      <a:r>
                        <a:rPr sz="1400" b="1">
                          <a:solidFill>
                            <a:srgbClr val="141C2A"/>
                          </a:solidFill>
                          <a:latin typeface="Arial"/>
                        </a:rPr>
                        <a:t>Adaptive per-drug fusion (many modules)</a:t>
                      </a:r>
                    </a:p>
                  </a:txBody>
                  <a:tcPr>
                    <a:solidFill>
                      <a:srgbClr val="E3F0E3"/>
                    </a:solidFill>
                  </a:tcPr>
                </a:tc>
                <a:extLst>
                  <a:ext uri="{0D108BD9-81ED-4DB2-BD59-A6C34878D82A}">
                    <a16:rowId xmlns:a16="http://schemas.microsoft.com/office/drawing/2014/main" val="10001"/>
                  </a:ext>
                </a:extLst>
              </a:tr>
              <a:tr h="574765">
                <a:tc>
                  <a:txBody>
                    <a:bodyPr/>
                    <a:lstStyle/>
                    <a:p>
                      <a:r>
                        <a:rPr sz="1400" b="0">
                          <a:solidFill>
                            <a:srgbClr val="141C2A"/>
                          </a:solidFill>
                          <a:latin typeface="Arial"/>
                        </a:rPr>
                        <a:t>Antibiotics</a:t>
                      </a:r>
                    </a:p>
                  </a:txBody>
                  <a:tcPr>
                    <a:solidFill>
                      <a:srgbClr val="FFFFFF"/>
                    </a:solidFill>
                  </a:tcPr>
                </a:tc>
                <a:tc>
                  <a:txBody>
                    <a:bodyPr/>
                    <a:lstStyle/>
                    <a:p>
                      <a:r>
                        <a:rPr sz="1400" b="0">
                          <a:solidFill>
                            <a:srgbClr val="141C2A"/>
                          </a:solidFill>
                          <a:latin typeface="Arial"/>
                        </a:rPr>
                        <a:t>5-drug dataset</a:t>
                      </a:r>
                    </a:p>
                  </a:txBody>
                  <a:tcPr>
                    <a:solidFill>
                      <a:srgbClr val="FFFFFF"/>
                    </a:solidFill>
                  </a:tcPr>
                </a:tc>
                <a:tc>
                  <a:txBody>
                    <a:bodyPr/>
                    <a:lstStyle/>
                    <a:p>
                      <a:r>
                        <a:rPr sz="1400" b="1">
                          <a:solidFill>
                            <a:srgbClr val="141C2A"/>
                          </a:solidFill>
                          <a:latin typeface="Arial"/>
                        </a:rPr>
                        <a:t>5 original + 5 external (BV-BRC)</a:t>
                      </a:r>
                    </a:p>
                  </a:txBody>
                  <a:tcPr>
                    <a:solidFill>
                      <a:srgbClr val="E3F0E3"/>
                    </a:solidFill>
                  </a:tcPr>
                </a:tc>
                <a:extLst>
                  <a:ext uri="{0D108BD9-81ED-4DB2-BD59-A6C34878D82A}">
                    <a16:rowId xmlns:a16="http://schemas.microsoft.com/office/drawing/2014/main" val="10002"/>
                  </a:ext>
                </a:extLst>
              </a:tr>
              <a:tr h="574765">
                <a:tc>
                  <a:txBody>
                    <a:bodyPr/>
                    <a:lstStyle/>
                    <a:p>
                      <a:r>
                        <a:rPr sz="1400" b="0">
                          <a:solidFill>
                            <a:srgbClr val="141C2A"/>
                          </a:solidFill>
                          <a:latin typeface="Arial"/>
                        </a:rPr>
                        <a:t>Evaluation</a:t>
                      </a:r>
                    </a:p>
                  </a:txBody>
                  <a:tcPr>
                    <a:solidFill>
                      <a:srgbClr val="FFFFFF"/>
                    </a:solidFill>
                  </a:tcPr>
                </a:tc>
                <a:tc>
                  <a:txBody>
                    <a:bodyPr/>
                    <a:lstStyle/>
                    <a:p>
                      <a:r>
                        <a:rPr sz="1400" b="0">
                          <a:solidFill>
                            <a:srgbClr val="141C2A"/>
                          </a:solidFill>
                          <a:latin typeface="Arial"/>
                        </a:rPr>
                        <a:t>Single split</a:t>
                      </a:r>
                    </a:p>
                  </a:txBody>
                  <a:tcPr>
                    <a:solidFill>
                      <a:srgbClr val="FFFFFF"/>
                    </a:solidFill>
                  </a:tcPr>
                </a:tc>
                <a:tc>
                  <a:txBody>
                    <a:bodyPr/>
                    <a:lstStyle/>
                    <a:p>
                      <a:r>
                        <a:rPr sz="1400" b="1">
                          <a:solidFill>
                            <a:srgbClr val="141C2A"/>
                          </a:solidFill>
                          <a:latin typeface="Arial"/>
                        </a:rPr>
                        <a:t>Repeated CV + significance test</a:t>
                      </a:r>
                    </a:p>
                  </a:txBody>
                  <a:tcPr>
                    <a:solidFill>
                      <a:srgbClr val="E3F0E3"/>
                    </a:solidFill>
                  </a:tcPr>
                </a:tc>
                <a:extLst>
                  <a:ext uri="{0D108BD9-81ED-4DB2-BD59-A6C34878D82A}">
                    <a16:rowId xmlns:a16="http://schemas.microsoft.com/office/drawing/2014/main" val="10003"/>
                  </a:ext>
                </a:extLst>
              </a:tr>
              <a:tr h="574765">
                <a:tc>
                  <a:txBody>
                    <a:bodyPr/>
                    <a:lstStyle/>
                    <a:p>
                      <a:r>
                        <a:rPr sz="1400" b="0">
                          <a:solidFill>
                            <a:srgbClr val="141C2A"/>
                          </a:solidFill>
                          <a:latin typeface="Arial"/>
                        </a:rPr>
                        <a:t>Lineage check</a:t>
                      </a:r>
                    </a:p>
                  </a:txBody>
                  <a:tcPr>
                    <a:solidFill>
                      <a:srgbClr val="FFFFFF"/>
                    </a:solidFill>
                  </a:tcPr>
                </a:tc>
                <a:tc>
                  <a:txBody>
                    <a:bodyPr/>
                    <a:lstStyle/>
                    <a:p>
                      <a:r>
                        <a:rPr sz="1400" b="0">
                          <a:solidFill>
                            <a:srgbClr val="141C2A"/>
                          </a:solidFill>
                          <a:latin typeface="Arial"/>
                        </a:rPr>
                        <a:t>Not reported</a:t>
                      </a:r>
                    </a:p>
                  </a:txBody>
                  <a:tcPr>
                    <a:solidFill>
                      <a:srgbClr val="FFFFFF"/>
                    </a:solidFill>
                  </a:tcPr>
                </a:tc>
                <a:tc>
                  <a:txBody>
                    <a:bodyPr/>
                    <a:lstStyle/>
                    <a:p>
                      <a:r>
                        <a:rPr sz="1400" b="1">
                          <a:solidFill>
                            <a:srgbClr val="141C2A"/>
                          </a:solidFill>
                          <a:latin typeface="Arial"/>
                        </a:rPr>
                        <a:t>Lineage-aware split (core SNP / MLST)</a:t>
                      </a:r>
                    </a:p>
                  </a:txBody>
                  <a:tcPr>
                    <a:solidFill>
                      <a:srgbClr val="E3F0E3"/>
                    </a:solidFill>
                  </a:tcPr>
                </a:tc>
                <a:extLst>
                  <a:ext uri="{0D108BD9-81ED-4DB2-BD59-A6C34878D82A}">
                    <a16:rowId xmlns:a16="http://schemas.microsoft.com/office/drawing/2014/main" val="10004"/>
                  </a:ext>
                </a:extLst>
              </a:tr>
              <a:tr h="574765">
                <a:tc>
                  <a:txBody>
                    <a:bodyPr/>
                    <a:lstStyle/>
                    <a:p>
                      <a:r>
                        <a:rPr sz="1400" b="0">
                          <a:solidFill>
                            <a:srgbClr val="141C2A"/>
                          </a:solidFill>
                          <a:latin typeface="Arial"/>
                        </a:rPr>
                        <a:t>Deployability</a:t>
                      </a:r>
                    </a:p>
                  </a:txBody>
                  <a:tcPr>
                    <a:solidFill>
                      <a:srgbClr val="FFFFFF"/>
                    </a:solidFill>
                  </a:tcPr>
                </a:tc>
                <a:tc>
                  <a:txBody>
                    <a:bodyPr/>
                    <a:lstStyle/>
                    <a:p>
                      <a:r>
                        <a:rPr sz="1400" b="0">
                          <a:solidFill>
                            <a:srgbClr val="141C2A"/>
                          </a:solidFill>
                          <a:latin typeface="Arial"/>
                        </a:rPr>
                        <a:t>Not assessed</a:t>
                      </a:r>
                    </a:p>
                  </a:txBody>
                  <a:tcPr>
                    <a:solidFill>
                      <a:srgbClr val="FFFFFF"/>
                    </a:solidFill>
                  </a:tcPr>
                </a:tc>
                <a:tc>
                  <a:txBody>
                    <a:bodyPr/>
                    <a:lstStyle/>
                    <a:p>
                      <a:r>
                        <a:rPr sz="1400" b="1">
                          <a:solidFill>
                            <a:srgbClr val="141C2A"/>
                          </a:solidFill>
                          <a:latin typeface="Arial"/>
                        </a:rPr>
                        <a:t>Calibration + decision curve</a:t>
                      </a:r>
                    </a:p>
                  </a:txBody>
                  <a:tcPr>
                    <a:solidFill>
                      <a:srgbClr val="E3F0E3"/>
                    </a:solidFill>
                  </a:tcPr>
                </a:tc>
                <a:extLst>
                  <a:ext uri="{0D108BD9-81ED-4DB2-BD59-A6C34878D82A}">
                    <a16:rowId xmlns:a16="http://schemas.microsoft.com/office/drawing/2014/main" val="10005"/>
                  </a:ext>
                </a:extLst>
              </a:tr>
              <a:tr h="574770">
                <a:tc>
                  <a:txBody>
                    <a:bodyPr/>
                    <a:lstStyle/>
                    <a:p>
                      <a:r>
                        <a:rPr sz="1400" b="0">
                          <a:solidFill>
                            <a:srgbClr val="141C2A"/>
                          </a:solidFill>
                          <a:latin typeface="Arial"/>
                        </a:rPr>
                        <a:t>Mechanism</a:t>
                      </a:r>
                    </a:p>
                  </a:txBody>
                  <a:tcPr>
                    <a:solidFill>
                      <a:srgbClr val="FFFFFF"/>
                    </a:solidFill>
                  </a:tcPr>
                </a:tc>
                <a:tc>
                  <a:txBody>
                    <a:bodyPr/>
                    <a:lstStyle/>
                    <a:p>
                      <a:r>
                        <a:rPr sz="1400" b="0">
                          <a:solidFill>
                            <a:srgbClr val="141C2A"/>
                          </a:solidFill>
                          <a:latin typeface="Arial"/>
                        </a:rPr>
                        <a:t>Gene presence/absence</a:t>
                      </a:r>
                    </a:p>
                  </a:txBody>
                  <a:tcPr>
                    <a:solidFill>
                      <a:srgbClr val="FFFFFF"/>
                    </a:solidFill>
                  </a:tcPr>
                </a:tc>
                <a:tc>
                  <a:txBody>
                    <a:bodyPr/>
                    <a:lstStyle/>
                    <a:p>
                      <a:r>
                        <a:rPr sz="1400" b="1">
                          <a:solidFill>
                            <a:srgbClr val="141C2A"/>
                          </a:solidFill>
                          <a:latin typeface="Arial"/>
                        </a:rPr>
                        <a:t>+ real QRDR mutation analysis</a:t>
                      </a:r>
                    </a:p>
                  </a:txBody>
                  <a:tcPr>
                    <a:solidFill>
                      <a:srgbClr val="E3F0E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90366"/>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Limitations</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Original set has 5 drugs and is mostly one lineage</a:t>
            </a:r>
          </a:p>
          <a:p>
            <a:pPr>
              <a:spcAft>
                <a:spcPts val="900"/>
              </a:spcAft>
            </a:pPr>
            <a:r>
              <a:rPr sz="2300" b="0">
                <a:solidFill>
                  <a:srgbClr val="141C2A"/>
                </a:solidFill>
                <a:latin typeface="Arial"/>
              </a:rPr>
              <a:t>•  External test uses annotation features, not a full sequence pipeline</a:t>
            </a:r>
          </a:p>
          <a:p>
            <a:pPr>
              <a:spcAft>
                <a:spcPts val="900"/>
              </a:spcAft>
            </a:pPr>
            <a:r>
              <a:rPr sz="2300" b="0">
                <a:solidFill>
                  <a:srgbClr val="141C2A"/>
                </a:solidFill>
                <a:latin typeface="Arial"/>
              </a:rPr>
              <a:t>•  Mutation analysis limited to gyrA/parC QRDR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01123"/>
            <a:ext cx="11064240" cy="868680"/>
          </a:xfrm>
          <a:prstGeom prst="rect">
            <a:avLst/>
          </a:prstGeom>
          <a:noFill/>
        </p:spPr>
        <p:txBody>
          <a:bodyPr wrap="square" anchor="ctr">
            <a:spAutoFit/>
          </a:bodyPr>
          <a:lstStyle/>
          <a:p>
            <a:pPr>
              <a:spcAft>
                <a:spcPts val="400"/>
              </a:spcAft>
            </a:pPr>
            <a:r>
              <a:rPr sz="2700" b="1" dirty="0">
                <a:solidFill>
                  <a:srgbClr val="FFFFFF"/>
                </a:solidFill>
                <a:latin typeface="Arial"/>
              </a:rPr>
              <a:t>Conclusion and Future Work</a:t>
            </a:r>
          </a:p>
        </p:txBody>
      </p:sp>
      <p:sp>
        <p:nvSpPr>
          <p:cNvPr id="3" name="TextBox 2"/>
          <p:cNvSpPr txBox="1"/>
          <p:nvPr/>
        </p:nvSpPr>
        <p:spPr>
          <a:xfrm>
            <a:off x="640080" y="1234440"/>
            <a:ext cx="10881360" cy="4617720"/>
          </a:xfrm>
          <a:prstGeom prst="rect">
            <a:avLst/>
          </a:prstGeom>
          <a:noFill/>
        </p:spPr>
        <p:txBody>
          <a:bodyPr wrap="square">
            <a:spAutoFit/>
          </a:bodyPr>
          <a:lstStyle/>
          <a:p>
            <a:pPr>
              <a:spcAft>
                <a:spcPts val="900"/>
              </a:spcAft>
            </a:pPr>
            <a:r>
              <a:rPr sz="2300" b="0">
                <a:solidFill>
                  <a:srgbClr val="141C2A"/>
                </a:solidFill>
                <a:latin typeface="Arial"/>
              </a:rPr>
              <a:t>•  Adaptive feature fusion works well and is thoroughly validated</a:t>
            </a:r>
          </a:p>
          <a:p>
            <a:pPr>
              <a:spcAft>
                <a:spcPts val="900"/>
              </a:spcAft>
            </a:pPr>
            <a:r>
              <a:rPr sz="2300" b="0">
                <a:solidFill>
                  <a:srgbClr val="141C2A"/>
                </a:solidFill>
                <a:latin typeface="Arial"/>
              </a:rPr>
              <a:t>•  Future: more mutation genes (gyrB/parE, qnr, efflux)</a:t>
            </a:r>
          </a:p>
          <a:p>
            <a:pPr>
              <a:spcAft>
                <a:spcPts val="900"/>
              </a:spcAft>
            </a:pPr>
            <a:r>
              <a:rPr sz="2300" b="0">
                <a:solidFill>
                  <a:srgbClr val="141C2A"/>
                </a:solidFill>
                <a:latin typeface="Arial"/>
              </a:rPr>
              <a:t>•  Sequence-based annotation (CARD/ResFinder)</a:t>
            </a:r>
          </a:p>
          <a:p>
            <a:pPr>
              <a:spcAft>
                <a:spcPts val="900"/>
              </a:spcAft>
            </a:pPr>
            <a:r>
              <a:rPr sz="2300" b="0">
                <a:solidFill>
                  <a:srgbClr val="141C2A"/>
                </a:solidFill>
                <a:latin typeface="Arial"/>
              </a:rPr>
              <a:t>•  Collect more lineage/serovar-diverse data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294</TotalTime>
  <Words>4332</Words>
  <Application>Microsoft Macintosh PowerPoint</Application>
  <PresentationFormat>Widescreen</PresentationFormat>
  <Paragraphs>199</Paragraphs>
  <Slides>26</Slides>
  <Notes>26</Notes>
  <HiddenSlides>0</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26</vt:i4>
      </vt:variant>
    </vt:vector>
  </HeadingPairs>
  <TitlesOfParts>
    <vt:vector size="39" baseType="lpstr">
      <vt:lpstr>Arial</vt:lpstr>
      <vt:lpstr>Calibri</vt:lpstr>
      <vt:lpstr>Lato</vt:lpstr>
      <vt:lpstr>Symbol</vt:lpstr>
      <vt:lpstr>Wingdings</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lastModifiedBy>Bich Loan Nguyen</cp:lastModifiedBy>
  <cp:revision>7</cp:revision>
  <dcterms:created xsi:type="dcterms:W3CDTF">2020-12-31T09:57:48Z</dcterms:created>
  <dcterms:modified xsi:type="dcterms:W3CDTF">2026-07-15T08:32:13Z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